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61" r:id="rId4"/>
    <p:sldId id="262" r:id="rId5"/>
    <p:sldId id="263" r:id="rId6"/>
    <p:sldId id="282" r:id="rId7"/>
    <p:sldId id="283" r:id="rId8"/>
    <p:sldId id="284" r:id="rId9"/>
    <p:sldId id="285" r:id="rId10"/>
    <p:sldId id="286"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81" r:id="rId27"/>
  </p:sldIdLst>
  <p:sldSz cx="7556500" cy="10693400"/>
  <p:notesSz cx="6858000" cy="9144000"/>
  <p:embeddedFontLst>
    <p:embeddedFont>
      <p:font typeface="GE SS Two Light" panose="020A0503020102020204" pitchFamily="18" charset="-78"/>
      <p:regular r:id="rId28"/>
    </p:embeddedFont>
    <p:embeddedFont>
      <p:font typeface="Sakkal Majalla" panose="02000000000000000000" pitchFamily="2" charset="-78"/>
      <p:regular r:id="rId29"/>
      <p:bold r:id="rId3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8D6D1"/>
    <a:srgbClr val="D4C2C6"/>
    <a:srgbClr val="D0BABF"/>
    <a:srgbClr val="855B64"/>
    <a:srgbClr val="CEBAC9"/>
    <a:srgbClr val="5B4155"/>
    <a:srgbClr val="DDDCD7"/>
    <a:srgbClr val="F0D6D5"/>
    <a:srgbClr val="D5C5D1"/>
    <a:srgbClr val="F0EFE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66" d="100"/>
          <a:sy n="66" d="100"/>
        </p:scale>
        <p:origin x="2184" y="-715"/>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3.fntdata"/><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11/26/2025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4.sv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3.svg"/><Relationship Id="rId5" Type="http://schemas.openxmlformats.org/officeDocument/2006/relationships/image" Target="../media/image12.png"/><Relationship Id="rId10" Type="http://schemas.openxmlformats.org/officeDocument/2006/relationships/image" Target="../media/image17.svg"/><Relationship Id="rId4" Type="http://schemas.openxmlformats.org/officeDocument/2006/relationships/image" Target="../media/image4.svg"/><Relationship Id="rId9"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25.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4.sv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8.png"/><Relationship Id="rId5" Type="http://schemas.openxmlformats.org/officeDocument/2006/relationships/image" Target="../media/image26.png"/><Relationship Id="rId4" Type="http://schemas.openxmlformats.org/officeDocument/2006/relationships/image" Target="../media/image4.sv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6.png"/><Relationship Id="rId4" Type="http://schemas.openxmlformats.org/officeDocument/2006/relationships/image" Target="../media/image4.sv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4.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4.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4.sv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4.png"/><Relationship Id="rId4" Type="http://schemas.openxmlformats.org/officeDocument/2006/relationships/image" Target="../media/image4.sv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4.sv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p:cNvSpPr>
            <a:spLocks noGrp="1" noRot="1" noMove="1" noResize="1" noEditPoints="1" noAdjustHandles="1" noChangeArrowheads="1" noChangeShapeType="1"/>
          </p:cNvSpPr>
          <p:nvPr/>
        </p:nvSpPr>
        <p:spPr>
          <a:xfrm>
            <a:off x="-107950" y="1"/>
            <a:ext cx="2209800" cy="10693400"/>
          </a:xfrm>
          <a:custGeom>
            <a:avLst/>
            <a:gdLst/>
            <a:ahLst/>
            <a:cxnLst/>
            <a:rect l="l" t="t" r="r" b="b"/>
            <a:pathLst>
              <a:path w="4909386" h="12027133">
                <a:moveTo>
                  <a:pt x="0" y="0"/>
                </a:moveTo>
                <a:lnTo>
                  <a:pt x="4909386" y="0"/>
                </a:lnTo>
                <a:lnTo>
                  <a:pt x="4909386" y="12027133"/>
                </a:lnTo>
                <a:lnTo>
                  <a:pt x="0" y="12027133"/>
                </a:lnTo>
                <a:lnTo>
                  <a:pt x="0" y="0"/>
                </a:lnTo>
                <a:close/>
              </a:path>
            </a:pathLst>
          </a:custGeom>
          <a:blipFill>
            <a:blip r:embed="rId3"/>
            <a:stretch>
              <a:fillRect l="-200000" t="-7720" r="-6148" b="-4752"/>
            </a:stretch>
          </a:blipFill>
          <a:ln w="9525" cap="sq">
            <a:solidFill>
              <a:srgbClr val="594053"/>
            </a:solidFill>
            <a:prstDash val="solid"/>
            <a:miter/>
          </a:ln>
        </p:spPr>
        <p:txBody>
          <a:bodyPr/>
          <a:lstStyle/>
          <a:p>
            <a:endParaRPr lang="ar-SA"/>
          </a:p>
        </p:txBody>
      </p:sp>
      <p:sp>
        <p:nvSpPr>
          <p:cNvPr id="4" name="Freeform 4"/>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4">
              <a:alphaModFix amt="83000"/>
              <a:extLst>
                <a:ext uri="{96DAC541-7B7A-43D3-8B79-37D633B846F1}">
                  <asvg:svgBlip xmlns:asvg="http://schemas.microsoft.com/office/drawing/2016/SVG/main" r:embed="rId5"/>
                </a:ext>
              </a:extLst>
            </a:blip>
            <a:stretch>
              <a:fillRect/>
            </a:stretch>
          </a:blipFill>
        </p:spPr>
        <p:txBody>
          <a:bodyPr/>
          <a:lstStyle/>
          <a:p>
            <a:endParaRPr lang="ar-SA"/>
          </a:p>
        </p:txBody>
      </p:sp>
      <p:sp>
        <p:nvSpPr>
          <p:cNvPr id="5" name="Freeform 5"/>
          <p:cNvSpPr>
            <a:spLocks noGrp="1" noRot="1" noMove="1" noResize="1" noEditPoints="1" noAdjustHandles="1" noChangeArrowheads="1" noChangeShapeType="1"/>
          </p:cNvSpPr>
          <p:nvPr/>
        </p:nvSpPr>
        <p:spPr>
          <a:xfrm>
            <a:off x="5680703" y="379634"/>
            <a:ext cx="1426712" cy="1084301"/>
          </a:xfrm>
          <a:custGeom>
            <a:avLst/>
            <a:gdLst/>
            <a:ahLst/>
            <a:cxnLst/>
            <a:rect l="l" t="t" r="r" b="b"/>
            <a:pathLst>
              <a:path w="1426712" h="1084301">
                <a:moveTo>
                  <a:pt x="0" y="0"/>
                </a:moveTo>
                <a:lnTo>
                  <a:pt x="1426712" y="0"/>
                </a:lnTo>
                <a:lnTo>
                  <a:pt x="1426712" y="1084300"/>
                </a:lnTo>
                <a:lnTo>
                  <a:pt x="0" y="1084300"/>
                </a:lnTo>
                <a:lnTo>
                  <a:pt x="0" y="0"/>
                </a:lnTo>
                <a:close/>
              </a:path>
            </a:pathLst>
          </a:custGeom>
          <a:blipFill>
            <a:blip r:embed="rId6"/>
            <a:stretch>
              <a:fillRect/>
            </a:stretch>
          </a:blipFill>
        </p:spPr>
        <p:txBody>
          <a:bodyPr/>
          <a:lstStyle/>
          <a:p>
            <a:endParaRPr lang="ar-SA"/>
          </a:p>
        </p:txBody>
      </p:sp>
      <p:pic>
        <p:nvPicPr>
          <p:cNvPr id="10" name="صورة 9">
            <a:extLst>
              <a:ext uri="{FF2B5EF4-FFF2-40B4-BE49-F238E27FC236}">
                <a16:creationId xmlns:a16="http://schemas.microsoft.com/office/drawing/2014/main" id="{55686788-9611-18D9-3EA0-401DE39455D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301186" y="8623300"/>
            <a:ext cx="1306470" cy="731389"/>
          </a:xfrm>
          <a:prstGeom prst="rect">
            <a:avLst/>
          </a:prstGeom>
        </p:spPr>
      </p:pic>
      <p:pic>
        <p:nvPicPr>
          <p:cNvPr id="11" name="صورة 10">
            <a:extLst>
              <a:ext uri="{FF2B5EF4-FFF2-40B4-BE49-F238E27FC236}">
                <a16:creationId xmlns:a16="http://schemas.microsoft.com/office/drawing/2014/main" id="{B4E9A54D-0A82-ED6B-B7AA-5E4992E6E3EE}"/>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2817159" y="2267839"/>
            <a:ext cx="3822157" cy="2139723"/>
          </a:xfrm>
          <a:prstGeom prst="rect">
            <a:avLst/>
          </a:prstGeom>
        </p:spPr>
      </p:pic>
      <p:sp>
        <p:nvSpPr>
          <p:cNvPr id="12" name="مربع نص 11">
            <a:extLst>
              <a:ext uri="{FF2B5EF4-FFF2-40B4-BE49-F238E27FC236}">
                <a16:creationId xmlns:a16="http://schemas.microsoft.com/office/drawing/2014/main" id="{697007F0-155F-623F-E02C-35CCABD0464D}"/>
              </a:ext>
            </a:extLst>
          </p:cNvPr>
          <p:cNvSpPr txBox="1"/>
          <p:nvPr/>
        </p:nvSpPr>
        <p:spPr>
          <a:xfrm>
            <a:off x="2666410" y="5104726"/>
            <a:ext cx="4329029" cy="584775"/>
          </a:xfrm>
          <a:prstGeom prst="rect">
            <a:avLst/>
          </a:prstGeom>
          <a:noFill/>
        </p:spPr>
        <p:txBody>
          <a:bodyPr wrap="square" rtlCol="0">
            <a:spAutoFit/>
          </a:bodyPr>
          <a:lstStyle>
            <a:defPPr>
              <a:defRPr lang="en-US"/>
            </a:defPPr>
            <a:lvl1pPr algn="ctr">
              <a:defRPr sz="280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defRPr>
            </a:lvl1pPr>
          </a:lstStyle>
          <a:p>
            <a:r>
              <a:rPr lang="en-US" sz="3200" dirty="0"/>
              <a:t>{{</a:t>
            </a:r>
            <a:r>
              <a:rPr lang="en-US" sz="3200" dirty="0" err="1"/>
              <a:t>teacher_name</a:t>
            </a:r>
            <a:r>
              <a:rPr lang="en-US" sz="3200" dirty="0"/>
              <a:t>}}</a:t>
            </a:r>
          </a:p>
        </p:txBody>
      </p:sp>
      <p:pic>
        <p:nvPicPr>
          <p:cNvPr id="13" name="صورة 12">
            <a:extLst>
              <a:ext uri="{FF2B5EF4-FFF2-40B4-BE49-F238E27FC236}">
                <a16:creationId xmlns:a16="http://schemas.microsoft.com/office/drawing/2014/main" id="{DE5C35E6-A5AF-010A-30B4-126DD39C950B}"/>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2817161" y="6285838"/>
            <a:ext cx="3573110" cy="200030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a:p>
        </p:txBody>
      </p:sp>
      <p:sp>
        <p:nvSpPr>
          <p:cNvPr id="3" name="Freeform 3"/>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12" name="صورة 11">
            <a:extLst>
              <a:ext uri="{FF2B5EF4-FFF2-40B4-BE49-F238E27FC236}">
                <a16:creationId xmlns:a16="http://schemas.microsoft.com/office/drawing/2014/main" id="{0145EE52-2A7F-4596-232C-CC67DE819D0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506793" y="4074391"/>
            <a:ext cx="4542913" cy="254321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4CD40-D69E-B03E-93A4-65842B6CD09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9B2140E-A4A7-3A1D-F24B-83083C0B6816}"/>
              </a:ext>
            </a:extLst>
          </p:cNvPr>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a:p>
        </p:txBody>
      </p:sp>
      <p:sp>
        <p:nvSpPr>
          <p:cNvPr id="3" name="Freeform 3">
            <a:extLst>
              <a:ext uri="{FF2B5EF4-FFF2-40B4-BE49-F238E27FC236}">
                <a16:creationId xmlns:a16="http://schemas.microsoft.com/office/drawing/2014/main" id="{7DB95E90-DCA2-3DE9-8F5E-B2C49B034791}"/>
              </a:ext>
            </a:extLst>
          </p:cNvPr>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68E1292E-5485-2B07-FE4E-F2C326E7F12F}"/>
              </a:ext>
            </a:extLst>
          </p:cNvPr>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7" name="صورة 6">
            <a:extLst>
              <a:ext uri="{FF2B5EF4-FFF2-40B4-BE49-F238E27FC236}">
                <a16:creationId xmlns:a16="http://schemas.microsoft.com/office/drawing/2014/main" id="{391F7539-EE2E-2DE9-6859-4665962E884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27604" y="3862113"/>
            <a:ext cx="5301292" cy="2967773"/>
          </a:xfrm>
          <a:prstGeom prst="rect">
            <a:avLst/>
          </a:prstGeom>
        </p:spPr>
      </p:pic>
    </p:spTree>
    <p:extLst>
      <p:ext uri="{BB962C8B-B14F-4D97-AF65-F5344CB8AC3E}">
        <p14:creationId xmlns:p14="http://schemas.microsoft.com/office/powerpoint/2010/main" val="2501791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0846E-75CB-EF35-691C-CB0465034C24}"/>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0B4443A-BCAC-2A37-9686-9EE3C1617FA7}"/>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pPr algn="ctr"/>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C7674C58-33EF-E515-2852-EC661ADA17B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pPr algn="ctr"/>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77B49215-D118-4639-4DAE-B104CEE018B6}"/>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pPr algn="ctr"/>
            <a:endParaRPr lang="ar-SA">
              <a:latin typeface="Sakkal Majalla" panose="02000000000000000000" pitchFamily="2" charset="-78"/>
              <a:cs typeface="Sakkal Majalla" panose="02000000000000000000" pitchFamily="2" charset="-78"/>
            </a:endParaRPr>
          </a:p>
        </p:txBody>
      </p:sp>
      <p:sp>
        <p:nvSpPr>
          <p:cNvPr id="38" name="مستطيل: زوايا مستديرة 37">
            <a:extLst>
              <a:ext uri="{FF2B5EF4-FFF2-40B4-BE49-F238E27FC236}">
                <a16:creationId xmlns:a16="http://schemas.microsoft.com/office/drawing/2014/main" id="{01581634-256D-63EE-C9BD-D05B894E4812}"/>
              </a:ext>
            </a:extLst>
          </p:cNvPr>
          <p:cNvSpPr/>
          <p:nvPr/>
        </p:nvSpPr>
        <p:spPr>
          <a:xfrm>
            <a:off x="3898427" y="297917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SA">
              <a:solidFill>
                <a:schemeClr val="tx1"/>
              </a:solidFill>
              <a:latin typeface="Sakkal Majalla" panose="02000000000000000000" pitchFamily="2" charset="-78"/>
              <a:cs typeface="Sakkal Majalla" panose="02000000000000000000" pitchFamily="2" charset="-78"/>
            </a:endParaRPr>
          </a:p>
        </p:txBody>
      </p:sp>
      <p:sp>
        <p:nvSpPr>
          <p:cNvPr id="39" name="مستطيل: زوايا مستديرة 38">
            <a:extLst>
              <a:ext uri="{FF2B5EF4-FFF2-40B4-BE49-F238E27FC236}">
                <a16:creationId xmlns:a16="http://schemas.microsoft.com/office/drawing/2014/main" id="{5AA2F5E8-4506-D2E9-4D38-B41F544BE23D}"/>
              </a:ext>
            </a:extLst>
          </p:cNvPr>
          <p:cNvSpPr/>
          <p:nvPr/>
        </p:nvSpPr>
        <p:spPr>
          <a:xfrm>
            <a:off x="718462" y="297917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SA">
              <a:solidFill>
                <a:schemeClr val="tx1"/>
              </a:solidFill>
              <a:latin typeface="Sakkal Majalla" panose="02000000000000000000" pitchFamily="2" charset="-78"/>
              <a:cs typeface="Sakkal Majalla" panose="02000000000000000000" pitchFamily="2" charset="-78"/>
            </a:endParaRPr>
          </a:p>
        </p:txBody>
      </p:sp>
      <p:sp>
        <p:nvSpPr>
          <p:cNvPr id="40" name="TextBox 2">
            <a:extLst>
              <a:ext uri="{FF2B5EF4-FFF2-40B4-BE49-F238E27FC236}">
                <a16:creationId xmlns:a16="http://schemas.microsoft.com/office/drawing/2014/main" id="{B73BAF3E-95DE-ABA8-3F20-59CC1BAC4A45}"/>
              </a:ext>
            </a:extLst>
          </p:cNvPr>
          <p:cNvSpPr txBox="1"/>
          <p:nvPr/>
        </p:nvSpPr>
        <p:spPr>
          <a:xfrm>
            <a:off x="2066977" y="2124384"/>
            <a:ext cx="3422545"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spcBef>
                <a:spcPct val="0"/>
              </a:spcBef>
              <a:defRPr sz="2400" b="1" u="none" strike="noStrike" spc="-27">
                <a:latin typeface="Sakkal Majalla" panose="02000000000000000000" pitchFamily="2" charset="-78"/>
                <a:ea typeface="GE SS Two Light"/>
                <a:cs typeface="Sakkal Majalla" panose="02000000000000000000" pitchFamily="2" charset="-78"/>
                <a:rtl/>
              </a:defRPr>
            </a:lvl1pPr>
          </a:lstStyle>
          <a:p>
            <a:r>
              <a:rPr lang="ar-EG" dirty="0">
                <a:sym typeface="GE SS Two Light"/>
              </a:rPr>
              <a:t>الفهرس</a:t>
            </a:r>
          </a:p>
        </p:txBody>
      </p:sp>
      <p:sp>
        <p:nvSpPr>
          <p:cNvPr id="41" name="مربع نص 40">
            <a:extLst>
              <a:ext uri="{FF2B5EF4-FFF2-40B4-BE49-F238E27FC236}">
                <a16:creationId xmlns:a16="http://schemas.microsoft.com/office/drawing/2014/main" id="{3FDEBBDB-B763-C0C3-3067-C379F6D08A38}"/>
              </a:ext>
            </a:extLst>
          </p:cNvPr>
          <p:cNvSpPr txBox="1"/>
          <p:nvPr/>
        </p:nvSpPr>
        <p:spPr>
          <a:xfrm>
            <a:off x="4469431" y="3084540"/>
            <a:ext cx="1720850" cy="388696"/>
          </a:xfrm>
          <a:prstGeom prst="rect">
            <a:avLst/>
          </a:prstGeom>
          <a:noFill/>
        </p:spPr>
        <p:txBody>
          <a:bodyPr wrap="square">
            <a:spAutoFit/>
          </a:bodyPr>
          <a:lstStyle/>
          <a:p>
            <a:pPr algn="ctr" rtl="1">
              <a:lnSpc>
                <a:spcPct val="107000"/>
              </a:lnSpc>
              <a:spcAft>
                <a:spcPts val="800"/>
              </a:spcAft>
            </a:pPr>
            <a:r>
              <a:rPr lang="ar-SA" b="0" kern="100" dirty="0">
                <a:effectLst/>
                <a:latin typeface="Sakkal Majalla" panose="02000000000000000000" pitchFamily="2" charset="-78"/>
                <a:ea typeface="GE SS Two Light" panose="020A0503020102020204" pitchFamily="18" charset="-78"/>
                <a:cs typeface="Sakkal Majalla" panose="02000000000000000000" pitchFamily="2" charset="-78"/>
              </a:rPr>
              <a:t>المقدمة</a:t>
            </a:r>
            <a:endParaRPr lang="en-US"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2" name="مربع نص 41">
            <a:extLst>
              <a:ext uri="{FF2B5EF4-FFF2-40B4-BE49-F238E27FC236}">
                <a16:creationId xmlns:a16="http://schemas.microsoft.com/office/drawing/2014/main" id="{3AA64499-50D1-2C64-35A6-3F10A8511613}"/>
              </a:ext>
            </a:extLst>
          </p:cNvPr>
          <p:cNvSpPr txBox="1"/>
          <p:nvPr/>
        </p:nvSpPr>
        <p:spPr>
          <a:xfrm>
            <a:off x="1374885" y="3072065"/>
            <a:ext cx="1720850" cy="388696"/>
          </a:xfrm>
          <a:prstGeom prst="rect">
            <a:avLst/>
          </a:prstGeom>
          <a:noFill/>
        </p:spPr>
        <p:txBody>
          <a:bodyPr wrap="square">
            <a:spAutoFit/>
          </a:bodyPr>
          <a:lstStyle/>
          <a:p>
            <a:pPr algn="ctr" rtl="1">
              <a:lnSpc>
                <a:spcPct val="107000"/>
              </a:lnSpc>
              <a:spcAft>
                <a:spcPts val="800"/>
              </a:spcAft>
            </a:pPr>
            <a:r>
              <a:rPr lang="ar-SA" b="0" kern="100" dirty="0">
                <a:effectLst/>
                <a:latin typeface="Sakkal Majalla" panose="02000000000000000000" pitchFamily="2" charset="-78"/>
                <a:ea typeface="GE SS Two Light" panose="020A0503020102020204" pitchFamily="18" charset="-78"/>
                <a:cs typeface="Sakkal Majalla" panose="02000000000000000000" pitchFamily="2" charset="-78"/>
              </a:rPr>
              <a:t>الرؤية والرسالة</a:t>
            </a:r>
            <a:endParaRPr lang="en-US"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3" name="مستطيل: زوايا مستديرة 42">
            <a:extLst>
              <a:ext uri="{FF2B5EF4-FFF2-40B4-BE49-F238E27FC236}">
                <a16:creationId xmlns:a16="http://schemas.microsoft.com/office/drawing/2014/main" id="{C82D868C-69F0-2D39-D5D0-B361013AF94D}"/>
              </a:ext>
            </a:extLst>
          </p:cNvPr>
          <p:cNvSpPr/>
          <p:nvPr/>
        </p:nvSpPr>
        <p:spPr>
          <a:xfrm>
            <a:off x="3898427" y="364859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b="0"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أهداف التعليم  في المملكة العربية السعودية</a:t>
            </a:r>
          </a:p>
        </p:txBody>
      </p:sp>
      <p:sp>
        <p:nvSpPr>
          <p:cNvPr id="44" name="مستطيل: زوايا مستديرة 43">
            <a:extLst>
              <a:ext uri="{FF2B5EF4-FFF2-40B4-BE49-F238E27FC236}">
                <a16:creationId xmlns:a16="http://schemas.microsoft.com/office/drawing/2014/main" id="{A38C2717-01BD-E97E-674A-FF883252C0E9}"/>
              </a:ext>
            </a:extLst>
          </p:cNvPr>
          <p:cNvSpPr/>
          <p:nvPr/>
        </p:nvSpPr>
        <p:spPr>
          <a:xfrm>
            <a:off x="718462" y="364859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5" name="مستطيل: زوايا مستديرة 44">
            <a:extLst>
              <a:ext uri="{FF2B5EF4-FFF2-40B4-BE49-F238E27FC236}">
                <a16:creationId xmlns:a16="http://schemas.microsoft.com/office/drawing/2014/main" id="{8DFC6CFD-C63A-44C4-4D65-1E3BCB1DA0E0}"/>
              </a:ext>
            </a:extLst>
          </p:cNvPr>
          <p:cNvSpPr/>
          <p:nvPr/>
        </p:nvSpPr>
        <p:spPr>
          <a:xfrm>
            <a:off x="3898427" y="4318014"/>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a:solidFill>
                  <a:schemeClr val="tx1"/>
                </a:solidFill>
                <a:latin typeface="Sakkal Majalla" panose="02000000000000000000" pitchFamily="2" charset="-78"/>
                <a:cs typeface="Sakkal Majalla" panose="02000000000000000000" pitchFamily="2" charset="-78"/>
              </a:rPr>
              <a:t>السيرة الذاتية</a:t>
            </a:r>
            <a:endParaRPr lang="en-US" dirty="0">
              <a:solidFill>
                <a:schemeClr val="tx1"/>
              </a:solidFill>
              <a:latin typeface="Sakkal Majalla" panose="02000000000000000000" pitchFamily="2" charset="-78"/>
              <a:cs typeface="Sakkal Majalla" panose="02000000000000000000" pitchFamily="2" charset="-78"/>
            </a:endParaRPr>
          </a:p>
        </p:txBody>
      </p:sp>
      <p:sp>
        <p:nvSpPr>
          <p:cNvPr id="46" name="مستطيل: زوايا مستديرة 45">
            <a:extLst>
              <a:ext uri="{FF2B5EF4-FFF2-40B4-BE49-F238E27FC236}">
                <a16:creationId xmlns:a16="http://schemas.microsoft.com/office/drawing/2014/main" id="{C80CE041-F797-9018-5A47-988FB88DEB2B}"/>
              </a:ext>
            </a:extLst>
          </p:cNvPr>
          <p:cNvSpPr/>
          <p:nvPr/>
        </p:nvSpPr>
        <p:spPr>
          <a:xfrm>
            <a:off x="718462" y="4318014"/>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أداء الواجبات </a:t>
            </a:r>
            <a:r>
              <a:rPr lang="ar-SA">
                <a:solidFill>
                  <a:schemeClr val="tx1"/>
                </a:solidFill>
                <a:latin typeface="Sakkal Majalla" panose="02000000000000000000" pitchFamily="2" charset="-78"/>
                <a:cs typeface="Sakkal Majalla" panose="02000000000000000000" pitchFamily="2" charset="-78"/>
              </a:rPr>
              <a:t>الوظيفية </a:t>
            </a:r>
            <a:endParaRPr lang="en-US" dirty="0">
              <a:solidFill>
                <a:schemeClr val="tx1"/>
              </a:solidFill>
              <a:latin typeface="Sakkal Majalla" panose="02000000000000000000" pitchFamily="2" charset="-78"/>
              <a:cs typeface="Sakkal Majalla" panose="02000000000000000000" pitchFamily="2" charset="-78"/>
            </a:endParaRPr>
          </a:p>
        </p:txBody>
      </p:sp>
      <p:sp>
        <p:nvSpPr>
          <p:cNvPr id="47" name="مستطيل: زوايا مستديرة 46">
            <a:extLst>
              <a:ext uri="{FF2B5EF4-FFF2-40B4-BE49-F238E27FC236}">
                <a16:creationId xmlns:a16="http://schemas.microsoft.com/office/drawing/2014/main" id="{5E5BE7ED-9B25-2CA6-7953-8B9A2004A218}"/>
              </a:ext>
            </a:extLst>
          </p:cNvPr>
          <p:cNvSpPr/>
          <p:nvPr/>
        </p:nvSpPr>
        <p:spPr>
          <a:xfrm>
            <a:off x="3898427" y="4987432"/>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أداء الواجبات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الوظيفية </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8" name="مستطيل: زوايا مستديرة 47">
            <a:extLst>
              <a:ext uri="{FF2B5EF4-FFF2-40B4-BE49-F238E27FC236}">
                <a16:creationId xmlns:a16="http://schemas.microsoft.com/office/drawing/2014/main" id="{E33A438D-7186-E1F9-8640-A85291425748}"/>
              </a:ext>
            </a:extLst>
          </p:cNvPr>
          <p:cNvSpPr/>
          <p:nvPr/>
        </p:nvSpPr>
        <p:spPr>
          <a:xfrm>
            <a:off x="718462" y="4987432"/>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التفاعل مع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المجتمع الهني</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9" name="مستطيل: زوايا مستديرة 48">
            <a:extLst>
              <a:ext uri="{FF2B5EF4-FFF2-40B4-BE49-F238E27FC236}">
                <a16:creationId xmlns:a16="http://schemas.microsoft.com/office/drawing/2014/main" id="{B18F193C-2556-EE57-465A-2F405B32A235}"/>
              </a:ext>
            </a:extLst>
          </p:cNvPr>
          <p:cNvSpPr/>
          <p:nvPr/>
        </p:nvSpPr>
        <p:spPr>
          <a:xfrm>
            <a:off x="3898427" y="5639993"/>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التفاعل مع </a:t>
            </a:r>
            <a:r>
              <a:rPr lang="ar-SA">
                <a:solidFill>
                  <a:schemeClr val="tx1"/>
                </a:solidFill>
                <a:latin typeface="Sakkal Majalla" panose="02000000000000000000" pitchFamily="2" charset="-78"/>
                <a:cs typeface="Sakkal Majalla" panose="02000000000000000000" pitchFamily="2" charset="-78"/>
              </a:rPr>
              <a:t>اولياء الأمور</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0" name="مستطيل: زوايا مستديرة 49">
            <a:extLst>
              <a:ext uri="{FF2B5EF4-FFF2-40B4-BE49-F238E27FC236}">
                <a16:creationId xmlns:a16="http://schemas.microsoft.com/office/drawing/2014/main" id="{E3C389A3-969F-8360-0861-304BC67BEF25}"/>
              </a:ext>
            </a:extLst>
          </p:cNvPr>
          <p:cNvSpPr/>
          <p:nvPr/>
        </p:nvSpPr>
        <p:spPr>
          <a:xfrm>
            <a:off x="718462" y="5639993"/>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التنويع في </a:t>
            </a:r>
            <a:r>
              <a:rPr lang="ar-SA">
                <a:solidFill>
                  <a:schemeClr val="tx1"/>
                </a:solidFill>
                <a:latin typeface="Sakkal Majalla" panose="02000000000000000000" pitchFamily="2" charset="-78"/>
                <a:cs typeface="Sakkal Majalla" panose="02000000000000000000" pitchFamily="2" charset="-78"/>
              </a:rPr>
              <a:t>استراتيجيات التدريس</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1" name="مستطيل: زوايا مستديرة 50">
            <a:extLst>
              <a:ext uri="{FF2B5EF4-FFF2-40B4-BE49-F238E27FC236}">
                <a16:creationId xmlns:a16="http://schemas.microsoft.com/office/drawing/2014/main" id="{0A466BA8-7D31-F3B3-2AE3-C1F90B4F9827}"/>
              </a:ext>
            </a:extLst>
          </p:cNvPr>
          <p:cNvSpPr/>
          <p:nvPr/>
        </p:nvSpPr>
        <p:spPr>
          <a:xfrm>
            <a:off x="3898427" y="6292554"/>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تحسين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نتائج المتعلمين</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2" name="مستطيل: زوايا مستديرة 51">
            <a:extLst>
              <a:ext uri="{FF2B5EF4-FFF2-40B4-BE49-F238E27FC236}">
                <a16:creationId xmlns:a16="http://schemas.microsoft.com/office/drawing/2014/main" id="{E60BDC43-0D26-55DF-1F1B-8BADE9C3EA66}"/>
              </a:ext>
            </a:extLst>
          </p:cNvPr>
          <p:cNvSpPr/>
          <p:nvPr/>
        </p:nvSpPr>
        <p:spPr>
          <a:xfrm>
            <a:off x="718462" y="6292554"/>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إعداد وتنفيذ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خطة التعلم</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3" name="مستطيل: زوايا مستديرة 52">
            <a:extLst>
              <a:ext uri="{FF2B5EF4-FFF2-40B4-BE49-F238E27FC236}">
                <a16:creationId xmlns:a16="http://schemas.microsoft.com/office/drawing/2014/main" id="{C5B8A7EC-D965-7505-A6E1-8EBB21413549}"/>
              </a:ext>
            </a:extLst>
          </p:cNvPr>
          <p:cNvSpPr/>
          <p:nvPr/>
        </p:nvSpPr>
        <p:spPr>
          <a:xfrm>
            <a:off x="3898427" y="6945115"/>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توظيف تقنيات ووسائل </a:t>
            </a:r>
            <a:r>
              <a:rPr lang="ar-SA">
                <a:solidFill>
                  <a:schemeClr val="tx1"/>
                </a:solidFill>
                <a:latin typeface="Sakkal Majalla" panose="02000000000000000000" pitchFamily="2" charset="-78"/>
                <a:cs typeface="Sakkal Majalla" panose="02000000000000000000" pitchFamily="2" charset="-78"/>
              </a:rPr>
              <a:t>التعلم المناسبة</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4" name="مستطيل: زوايا مستديرة 53">
            <a:extLst>
              <a:ext uri="{FF2B5EF4-FFF2-40B4-BE49-F238E27FC236}">
                <a16:creationId xmlns:a16="http://schemas.microsoft.com/office/drawing/2014/main" id="{D8326819-737F-FA41-82D9-C6E2D2D28A93}"/>
              </a:ext>
            </a:extLst>
          </p:cNvPr>
          <p:cNvSpPr/>
          <p:nvPr/>
        </p:nvSpPr>
        <p:spPr>
          <a:xfrm>
            <a:off x="718462" y="6945115"/>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تهيئة </a:t>
            </a:r>
            <a:r>
              <a:rPr lang="ar-SA">
                <a:solidFill>
                  <a:schemeClr val="tx1"/>
                </a:solidFill>
                <a:latin typeface="Sakkal Majalla" panose="02000000000000000000" pitchFamily="2" charset="-78"/>
                <a:cs typeface="Sakkal Majalla" panose="02000000000000000000" pitchFamily="2" charset="-78"/>
              </a:rPr>
              <a:t>بيئة تعليمية</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5" name="مستطيل: زوايا مستديرة 54">
            <a:extLst>
              <a:ext uri="{FF2B5EF4-FFF2-40B4-BE49-F238E27FC236}">
                <a16:creationId xmlns:a16="http://schemas.microsoft.com/office/drawing/2014/main" id="{558DB3F5-88A4-6623-A32F-F7DF1F65FABD}"/>
              </a:ext>
            </a:extLst>
          </p:cNvPr>
          <p:cNvSpPr/>
          <p:nvPr/>
        </p:nvSpPr>
        <p:spPr>
          <a:xfrm>
            <a:off x="3897157" y="759767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الإدارة الصفية</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6" name="مستطيل: زوايا مستديرة 55">
            <a:extLst>
              <a:ext uri="{FF2B5EF4-FFF2-40B4-BE49-F238E27FC236}">
                <a16:creationId xmlns:a16="http://schemas.microsoft.com/office/drawing/2014/main" id="{300A24BE-4982-508A-AFEA-27DA3AAF0A34}"/>
              </a:ext>
            </a:extLst>
          </p:cNvPr>
          <p:cNvSpPr/>
          <p:nvPr/>
        </p:nvSpPr>
        <p:spPr>
          <a:xfrm>
            <a:off x="717192" y="759767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تحليل نتائج المتعلمين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وتشخيص مستوياتهم</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7" name="مستطيل: زوايا مستديرة 56">
            <a:extLst>
              <a:ext uri="{FF2B5EF4-FFF2-40B4-BE49-F238E27FC236}">
                <a16:creationId xmlns:a16="http://schemas.microsoft.com/office/drawing/2014/main" id="{7FD3FBC6-190E-6A7E-551D-2CB3CB630CF5}"/>
              </a:ext>
            </a:extLst>
          </p:cNvPr>
          <p:cNvSpPr/>
          <p:nvPr/>
        </p:nvSpPr>
        <p:spPr>
          <a:xfrm>
            <a:off x="3898427" y="826711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تنوع </a:t>
            </a:r>
            <a:r>
              <a:rPr lang="ar-SA">
                <a:solidFill>
                  <a:schemeClr val="tx1"/>
                </a:solidFill>
                <a:latin typeface="Sakkal Majalla" panose="02000000000000000000" pitchFamily="2" charset="-78"/>
                <a:cs typeface="Sakkal Majalla" panose="02000000000000000000" pitchFamily="2" charset="-78"/>
              </a:rPr>
              <a:t>أساليب التقويم</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8" name="مستطيل: زوايا مستديرة 57">
            <a:extLst>
              <a:ext uri="{FF2B5EF4-FFF2-40B4-BE49-F238E27FC236}">
                <a16:creationId xmlns:a16="http://schemas.microsoft.com/office/drawing/2014/main" id="{60127D64-EA24-E8E1-7194-7093DDCBDF21}"/>
              </a:ext>
            </a:extLst>
          </p:cNvPr>
          <p:cNvSpPr/>
          <p:nvPr/>
        </p:nvSpPr>
        <p:spPr>
          <a:xfrm>
            <a:off x="718462" y="826711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الخاتمة</a:t>
            </a:r>
          </a:p>
        </p:txBody>
      </p:sp>
    </p:spTree>
    <p:extLst>
      <p:ext uri="{BB962C8B-B14F-4D97-AF65-F5344CB8AC3E}">
        <p14:creationId xmlns:p14="http://schemas.microsoft.com/office/powerpoint/2010/main" val="82863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DCAC2-9A79-0559-E138-4B16B9A0AA8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79C03BF-1B61-222D-235E-A92DAF92151C}"/>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B8F58E53-8CA9-0083-EF2A-19A0779CA45C}"/>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7BBAFEF8-2AC4-F4A0-C546-5FD5B26391DB}"/>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F151FFD9-1A64-EC0B-4BC8-3C810D3C7F18}"/>
              </a:ext>
            </a:extLst>
          </p:cNvPr>
          <p:cNvSpPr txBox="1"/>
          <p:nvPr/>
        </p:nvSpPr>
        <p:spPr>
          <a:xfrm>
            <a:off x="862028" y="3594100"/>
            <a:ext cx="5867400" cy="4578176"/>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dirty="0">
                <a:latin typeface="Sakkal Majalla" panose="02000000000000000000" pitchFamily="2" charset="-78"/>
                <a:cs typeface="Sakkal Majalla" panose="02000000000000000000" pitchFamily="2" charset="-78"/>
                <a:sym typeface="GE SS Two Light"/>
              </a:rPr>
              <a:t>تعمل وزارة التعليم على تحقيق أهداف عامة يمكن من خلالها تحسين البيئة ومؤسساتها التعليمية إلى جانب مخرجاتها، تحقيقاً لمبدأ التنافسية العالمية في التعليم والتطوير وذلك وفق الغايات والأهداف العامة التالية: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تعزيز مشاركة الأسرة في التحضير لمستقبل أبنائهم.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بناء رحلة تعليمية متكاملة.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تكافؤ فرص الحصول على التعليم.</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مخرجات التعليم الأساسية.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ترتيب المؤسسات التعليمية.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معارف نوعية للمتميزين في المجالات ذات الأولوية.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ضمان المواءمة بين مخرجات التعليم واحتياجات سوق العمل.</a:t>
            </a:r>
          </a:p>
        </p:txBody>
      </p:sp>
      <p:sp>
        <p:nvSpPr>
          <p:cNvPr id="6" name="TextBox 13">
            <a:extLst>
              <a:ext uri="{FF2B5EF4-FFF2-40B4-BE49-F238E27FC236}">
                <a16:creationId xmlns:a16="http://schemas.microsoft.com/office/drawing/2014/main" id="{390F29FE-547A-301F-CE8E-358D4B480909}"/>
              </a:ext>
            </a:extLst>
          </p:cNvPr>
          <p:cNvSpPr txBox="1"/>
          <p:nvPr/>
        </p:nvSpPr>
        <p:spPr>
          <a:xfrm>
            <a:off x="1495812" y="2147945"/>
            <a:ext cx="4564875"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marL="0" lvl="0" indent="0" algn="ctr" rtl="1">
              <a:spcBef>
                <a:spcPct val="0"/>
              </a:spcBef>
            </a:pPr>
            <a:r>
              <a:rPr lang="ar-EG" sz="2400" b="1" u="none" strike="noStrike" spc="-27" dirty="0">
                <a:latin typeface="Sakkal Majalla" panose="02000000000000000000" pitchFamily="2" charset="-78"/>
                <a:ea typeface="GE SS Two Light"/>
                <a:cs typeface="Sakkal Majalla" panose="02000000000000000000" pitchFamily="2" charset="-78"/>
                <a:sym typeface="GE SS Two Light"/>
                <a:rtl/>
              </a:rPr>
              <a:t>أهداف التعليم</a:t>
            </a:r>
          </a:p>
          <a:p>
            <a:pPr marL="0" lvl="0" indent="0" algn="ctr" rtl="1">
              <a:spcBef>
                <a:spcPct val="0"/>
              </a:spcBef>
            </a:pPr>
            <a:r>
              <a:rPr lang="ar-EG" sz="2400" b="1" u="none" strike="noStrike" spc="-27" dirty="0">
                <a:latin typeface="Sakkal Majalla" panose="02000000000000000000" pitchFamily="2" charset="-78"/>
                <a:ea typeface="GE SS Two Light"/>
                <a:cs typeface="Sakkal Majalla" panose="02000000000000000000" pitchFamily="2" charset="-78"/>
                <a:sym typeface="GE SS Two Light"/>
                <a:rtl/>
              </a:rPr>
              <a:t> في المملكة العربية السعودية</a:t>
            </a:r>
          </a:p>
        </p:txBody>
      </p:sp>
    </p:spTree>
    <p:extLst>
      <p:ext uri="{BB962C8B-B14F-4D97-AF65-F5344CB8AC3E}">
        <p14:creationId xmlns:p14="http://schemas.microsoft.com/office/powerpoint/2010/main" val="19375716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18EC2-0C16-9DDC-93AB-EC4802D6BE4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3D13952-4895-07A7-1A27-C4C19CA8E7EE}"/>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53AD6B9B-83C0-3B10-0B87-7D322B72DB7F}"/>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452DB28E-4330-73AE-ADAC-61745945FB40}"/>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DD4AF26D-2DF4-123F-4850-8520D9AF1E69}"/>
              </a:ext>
            </a:extLst>
          </p:cNvPr>
          <p:cNvSpPr txBox="1"/>
          <p:nvPr/>
        </p:nvSpPr>
        <p:spPr>
          <a:xfrm>
            <a:off x="844550" y="2365115"/>
            <a:ext cx="5867400" cy="5963171"/>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الأولى: يقصد بالمصطلحات الآتية المعاني الموضحة قرين كل منها. </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أخلاقيات مهنة التعليم: السجايا الحميدة والسلو كيات الفاضلة التي يتعين أن يتحلى بها العاملون في حقل التعليم العام فكراً وسلوكاً أمام الله ثم أمام ولاة الأمر وأمام أنفسهم والآخرين وترتب عليهم واجبات أخلاقية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المعلم والمعلمة والقائمون والقائمات على العملية التربوية من مشرفين ومشرفات ومديرين ومديرات ومرشدين ومرشدات ونحوهم. </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الطالب: الطالب والطالبة في مدارس التعليم العام وما في مستواها. </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الثانية: أهداف الميثاق.</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 يهدف الميثاق إلى تعزيز انتماء المعلم لرسالته ومهنته، والارتقاء بها والإسهام في تطوير المجتمع الذي يعيش فيه وتقدمه، وتحببه لطلابه وجذبهم إليه والإفادة منه وذلك من خلال الآتي</a:t>
            </a:r>
            <a:r>
              <a:rPr lang="ar-SA" sz="2000" dirty="0">
                <a:latin typeface="Sakkal Majalla" panose="02000000000000000000" pitchFamily="2" charset="-78"/>
                <a:cs typeface="Sakkal Majalla" panose="02000000000000000000" pitchFamily="2" charset="-78"/>
                <a:sym typeface="GE SS Two Light"/>
              </a:rPr>
              <a:t> </a:t>
            </a:r>
            <a:r>
              <a:rPr lang="ar-EG" sz="2000" dirty="0">
                <a:latin typeface="Sakkal Majalla" panose="02000000000000000000" pitchFamily="2" charset="-78"/>
                <a:cs typeface="Sakkal Majalla" panose="02000000000000000000" pitchFamily="2" charset="-78"/>
                <a:sym typeface="GE SS Two Light"/>
              </a:rPr>
              <a:t>توعية المعلم بأهميته المهنية ودورها في بناء مستقبل وطنه الإسهام في تعزيز مكانة المعلم العلمية والاجتماعية حفز المعلم على أن يتمثل قيم مهنته وأخلاقها سلوكاً في حياته</a:t>
            </a:r>
          </a:p>
        </p:txBody>
      </p:sp>
      <p:sp>
        <p:nvSpPr>
          <p:cNvPr id="6" name="TextBox 13">
            <a:extLst>
              <a:ext uri="{FF2B5EF4-FFF2-40B4-BE49-F238E27FC236}">
                <a16:creationId xmlns:a16="http://schemas.microsoft.com/office/drawing/2014/main" id="{172EE6AA-7AE6-7F88-51EE-691B55E2F67D}"/>
              </a:ext>
            </a:extLst>
          </p:cNvPr>
          <p:cNvSpPr txBox="1"/>
          <p:nvPr/>
        </p:nvSpPr>
        <p:spPr>
          <a:xfrm>
            <a:off x="1495812" y="1100387"/>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12737483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F1E5BC-7265-2F83-0A2A-DCA2F0C7779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D70A611-F6D9-7BBB-E950-E5FBBB43DEFB}"/>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BCDB3718-ADC3-9D9D-F5E5-54CDD67DD69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CD7A0CDC-6976-FE11-C51C-1C1102120829}"/>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BF277E19-66A5-B3EA-5C43-D8FA48F19726}"/>
              </a:ext>
            </a:extLst>
          </p:cNvPr>
          <p:cNvSpPr txBox="1"/>
          <p:nvPr/>
        </p:nvSpPr>
        <p:spPr>
          <a:xfrm>
            <a:off x="844550" y="1672618"/>
            <a:ext cx="5867400" cy="7348165"/>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الثالثة: رسالة التعليم.</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التعليم رسالة تستمد أخلاقياتها من هدي شريعتنا ومبادئ حضارتنا وتوجب على القائمين بها أداء حق الانتماء إليها إخلاصاً في العمل وصدقا مع النفس والناس، وعطاء مستمرا لنشر العلم وفضائله  المعلم صاحب رسالة يستشعر عظمتها ويؤمن بأهميتها ويؤدي حقها بمهنية عالية اعتزاز المعلم بمهنته وإدراكه المستمر لرسالته يدعوانه إلى الحرص على نقاء السيرة وطهارة السريرة، حفاظاً على شرف مهنة التعليم</a:t>
            </a:r>
            <a:r>
              <a:rPr lang="ar-SA" sz="2000" dirty="0">
                <a:latin typeface="Sakkal Majalla" panose="02000000000000000000" pitchFamily="2" charset="-78"/>
                <a:cs typeface="Sakkal Majalla" panose="02000000000000000000" pitchFamily="2" charset="-78"/>
                <a:sym typeface="GE SS Two Light"/>
              </a:rPr>
              <a:t>.</a:t>
            </a:r>
          </a:p>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الرابعة: المعلم وأداؤه المهني </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مثال للمسلم المعتز بدينه المتأسي برسول الله في جميع أقواله وأفعاله وسطيا في تعاملاته وأحكامه المعلم يدرك أن النمو المهني واجب أساس، والثقافة الذاتية المستمرة منهج في حياته، يطور نفسه وينمي معارفه منتفعاً بكل جديد في مجال تخصصه وفنون التدريس ومهاراته. يدرك المعلم أن الاستقامة والصدق، والأمانة، والحلم، والحزم، والانضباط، والتسامح، وحسن المظهر، وبشاشة الوجه سمات رئيسة في تكوين شخصيته. المعلم يدرك ان الرقيب الحقيقي على سلوكه، بعد الله - سبحانه وتعالى –، هو ضمير يقظ وحس ناقد، وأن الرقابة الخارجية مهما تنوعت الأساليب لا ترقى إلى الرقابة الذاتية. يسهم المعلم في ترسيخ مفهوم المواطنة لدى الطلاب، وغرس أهمية مبدأ الاعتدال والتسامح والتعايش بعيداً عن الغلو والتطرف.</a:t>
            </a:r>
          </a:p>
        </p:txBody>
      </p:sp>
      <p:sp>
        <p:nvSpPr>
          <p:cNvPr id="7" name="TextBox 13">
            <a:extLst>
              <a:ext uri="{FF2B5EF4-FFF2-40B4-BE49-F238E27FC236}">
                <a16:creationId xmlns:a16="http://schemas.microsoft.com/office/drawing/2014/main" id="{96C3315B-B1D1-23CD-442D-3C2356F71219}"/>
              </a:ext>
            </a:extLst>
          </p:cNvPr>
          <p:cNvSpPr txBox="1"/>
          <p:nvPr/>
        </p:nvSpPr>
        <p:spPr>
          <a:xfrm>
            <a:off x="1495812" y="1100387"/>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3286963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C72D2-DCBD-22B5-4282-3F99D08A99E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8376D61-30A3-47E9-6392-CF84BCF1FD4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2FB14536-5C3B-CBAD-2AC5-BB88B024D995}"/>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993FD14E-A4A1-2181-F427-A7B5EB555A2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89135416-4466-0419-7319-5845AEE5AB87}"/>
              </a:ext>
            </a:extLst>
          </p:cNvPr>
          <p:cNvSpPr txBox="1"/>
          <p:nvPr/>
        </p:nvSpPr>
        <p:spPr>
          <a:xfrm>
            <a:off x="844549" y="979420"/>
            <a:ext cx="5867400" cy="8733160"/>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الخامسة: المعلم وطلابه.</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 العلاقة بين المعلم وطلابه، والمعلمة وطالباتها لحمتها الرغبة في نفعهم، وسداها الشفقة عليهم والبر بهم وأساسها المودة الحانية، وحارسها الحزم الضروري.</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قدوة لطلابه خاصة، وللمجتمع عامة وهو حريص على أن يكون أثره في الناس حميداً باقياً.</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يحسن المعلم الظن بطلابه ويعلمهم أن يكونوا كذلك في حياتهم العامة والخاصة، ليلتمسوا العذر لغيرهم قبل التماس الخطأ، ويروا عيوب أنفسهم قبل رؤية عيوب الآخرين.</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أحرص الناس على نفع طلابه، يبذل جهده كله في تعليمهم، وتربيتهم، وتوجيههم، يدلهم على طريق الخير ويرغبهم فيه ويبين لهم طريق الشر ويذودهم عنه.</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يعدل بين طلابه في عطائه وتعامله ورقابته وتقويمه لأدائهم، ويصون كرامتهم، ويعي حقوقهم ويستثمر أوقاتهم بكل مفيد وهو بذلك لا يسمح باتخاذ دروسهم ساحة لغير ما يعنى بتعليمهم في مجال تخصصهم.</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نموذج للحكمة والرفق، يمارسهما ويأمر بهما، ويتجنب العنف وينهى عنه ويعود طلابه على التفكير السليم والحوار البناء.</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يعي المعلم أن الطالب ينفر من المدرسة التي يستخدم فيها العقاب البدني والنفسي، لذا فإن المربي القدير يتجنبهما وينهى عنهما.</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يسعى المعلم لإكساب الطالب المهارات العقلية والعلمية التي تنمي لديه التفكير العلمي الناقد وحب التعلم الذاتي المستمر وممارسته.</a:t>
            </a:r>
          </a:p>
        </p:txBody>
      </p:sp>
      <p:sp>
        <p:nvSpPr>
          <p:cNvPr id="7" name="TextBox 13">
            <a:extLst>
              <a:ext uri="{FF2B5EF4-FFF2-40B4-BE49-F238E27FC236}">
                <a16:creationId xmlns:a16="http://schemas.microsoft.com/office/drawing/2014/main" id="{27FDD704-2F07-A1A7-6D66-6E382D201158}"/>
              </a:ext>
            </a:extLst>
          </p:cNvPr>
          <p:cNvSpPr txBox="1"/>
          <p:nvPr/>
        </p:nvSpPr>
        <p:spPr>
          <a:xfrm>
            <a:off x="1495811" y="386660"/>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7589941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A4A65B-3136-F349-83BF-F253C0A0012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08B9497-37E6-7C30-BD42-E1F63F78247F}"/>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16CAB8EB-7C6C-4838-3049-BC92AD78EBDB}"/>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FB2C72D9-37E0-3540-12A4-B5E245B30212}"/>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857F1908-22C7-7346-83D4-77AEA7E495DC}"/>
              </a:ext>
            </a:extLst>
          </p:cNvPr>
          <p:cNvSpPr txBox="1"/>
          <p:nvPr/>
        </p:nvSpPr>
        <p:spPr>
          <a:xfrm>
            <a:off x="844550" y="1441785"/>
            <a:ext cx="5867400" cy="7809830"/>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السادسة: المعلم والمجتمع</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يعزز المعلم لدى الطلاب الإحساس بالانتماء لدينهم ووطنهم كما ينمي لديهم أهمية التفاعل الإيجابي مع الثقافات الأخرى، فالحكمة ضالة المؤمن أنى وجدها فهو أحق الناس بها.</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أمين على كيان الوطن ووحدته وتعاون أبنائه، يعمل جاهداً لتسود المحبة المثمرة والاحترام الصادق بين المواطنين جميعاً وبينهم وبين أولي الأمر منهم، تحقيقاً لأمن الوطن واستقراره، وتمكيناً لنمائه وازدهاره، وحرصاً على سمعته ومكانته بين المجتمعات الإنسانية الراقية.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موضع تقدير المجتمع، واحترامه، وهو لذلك حريص على أن يكون في مستوى هذه الثقة وذلك التقدير والاحترام، ويحرص على ألا يؤثر عنه إلا ما يؤكد ثقة المجتمع به واحترامه له.</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عضو مؤثر في مجتمعه، تعلق عليه الآمال في التقدم المعرفي والارتقاء العلمي والإبداع الفكري والإسهام الحضاري ونشر هذه الشمائل الحميدة بين طلابه.</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صورة صادقة للمثقف المنتمي الى دينه ووطنه، الأمر الذي يلزمه توسيع نطاق ثقافته وتنويع مصادرها، ليكون قادراً على تكوين رأي ناضج مبني على العلم والمعرفة والخبرة الواسعة ُيعين به طلابه على سعة الأفق ورؤية وجهات النظر المتباينة باعتبارها مكونات ثقافية تتكامل وتتعاون في بناء الحضارة الإنسانية.</a:t>
            </a:r>
          </a:p>
        </p:txBody>
      </p:sp>
      <p:sp>
        <p:nvSpPr>
          <p:cNvPr id="7" name="TextBox 13">
            <a:extLst>
              <a:ext uri="{FF2B5EF4-FFF2-40B4-BE49-F238E27FC236}">
                <a16:creationId xmlns:a16="http://schemas.microsoft.com/office/drawing/2014/main" id="{AF74270A-BC74-36E6-B0F9-97548CCFB794}"/>
              </a:ext>
            </a:extLst>
          </p:cNvPr>
          <p:cNvSpPr txBox="1"/>
          <p:nvPr/>
        </p:nvSpPr>
        <p:spPr>
          <a:xfrm>
            <a:off x="1495812" y="698500"/>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6797610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0FC97-66B1-5158-A007-85FA06FD24A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D872CA1-CD19-AA9D-ED43-3EF7E0F22F15}"/>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4F3F693D-6E3E-8170-5DB3-F66F93C1736A}"/>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991BAC4F-5F0D-2BC5-D7CD-8433486E7D6E}"/>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960F0B63-A7CA-DAD9-327C-014FC8A09FBB}"/>
              </a:ext>
            </a:extLst>
          </p:cNvPr>
          <p:cNvSpPr txBox="1"/>
          <p:nvPr/>
        </p:nvSpPr>
        <p:spPr>
          <a:xfrm>
            <a:off x="844550" y="2134282"/>
            <a:ext cx="5867400" cy="6424836"/>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السابعة: المعلم والمجتمع المدرسي</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الثقة المتبادلة والعمل بروح الفريق الواحد هي أساس العلاقة بين المعلم وزملائه وبين المعلمين والإدارة التربوية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يدرك المعلم أن احترام قواعد السلوك الوظيفي والالتزام بالأنظمة والتعليمات وتنفيذها والمشاركة في نشاطات المدرسة وفعاليتها المختلفة ، أركان أساسية في تحقيق أهداف المؤسسة التعليمية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الثامنة :المعلم والأسرة</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شريك الوالدين في التربية والتنشئة ، فهو حريص على توطيد أواصر الثقة بين البيت والمدرسة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يعي أن التشاور مع الأسرة بشأن كل أمر يهم مستقبل الطلاب أو يؤثر في مسيرتهم العلمية وفي كل تغير يطرأ على سلوكهم أمر بالغ النفع والأهمية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يؤدي العاملون في مهنة التعليم واجباتهم كافة ويصبغون سلوكهم كله بروح المبادئ التي تضمنتها هذه الأخلاقيات ويعملون على نشرها وترسيخها وتأصيلها والالتزام بها بين زملائهم وفي المجتمع بوجه عام</a:t>
            </a:r>
          </a:p>
        </p:txBody>
      </p:sp>
      <p:sp>
        <p:nvSpPr>
          <p:cNvPr id="7" name="TextBox 13">
            <a:extLst>
              <a:ext uri="{FF2B5EF4-FFF2-40B4-BE49-F238E27FC236}">
                <a16:creationId xmlns:a16="http://schemas.microsoft.com/office/drawing/2014/main" id="{CDCF1400-D502-5AE4-D391-95B83993144E}"/>
              </a:ext>
            </a:extLst>
          </p:cNvPr>
          <p:cNvSpPr txBox="1"/>
          <p:nvPr/>
        </p:nvSpPr>
        <p:spPr>
          <a:xfrm>
            <a:off x="1495812" y="1308100"/>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6785538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7278C-8753-C993-1E2A-47F625556DE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0B4E01A-673C-0B70-02B6-12253387B7C0}"/>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sz="2400"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C4EC73F3-57F5-041A-68A8-69FC3DCB04EB}"/>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sz="2400">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0719961D-8369-D986-0973-716BF78EA2B5}"/>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sz="2400">
              <a:latin typeface="Sakkal Majalla" panose="02000000000000000000" pitchFamily="2" charset="-78"/>
              <a:cs typeface="Sakkal Majalla" panose="02000000000000000000" pitchFamily="2" charset="-78"/>
            </a:endParaRPr>
          </a:p>
        </p:txBody>
      </p:sp>
      <p:sp>
        <p:nvSpPr>
          <p:cNvPr id="5" name="TextBox 3">
            <a:extLst>
              <a:ext uri="{FF2B5EF4-FFF2-40B4-BE49-F238E27FC236}">
                <a16:creationId xmlns:a16="http://schemas.microsoft.com/office/drawing/2014/main" id="{F31FBE4C-8A16-488A-4F04-71318F2DE5B7}"/>
              </a:ext>
            </a:extLst>
          </p:cNvPr>
          <p:cNvSpPr txBox="1"/>
          <p:nvPr/>
        </p:nvSpPr>
        <p:spPr>
          <a:xfrm>
            <a:off x="2219599" y="1982830"/>
            <a:ext cx="3117301"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ts val="3500"/>
              </a:lnSpc>
              <a:spcBef>
                <a:spcPct val="0"/>
              </a:spcBef>
              <a:defRPr u="none" strike="noStrike" spc="-27">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رؤية </a:t>
            </a:r>
            <a:r>
              <a:rPr lang="en-US" sz="2400" b="1" dirty="0">
                <a:latin typeface="Sakkal Majalla" panose="02000000000000000000" pitchFamily="2" charset="-78"/>
                <a:cs typeface="Sakkal Majalla" panose="02000000000000000000" pitchFamily="2" charset="-78"/>
                <a:sym typeface="GE SS Two Light"/>
              </a:rPr>
              <a:t>2030</a:t>
            </a:r>
            <a:r>
              <a:rPr lang="ar-EG" sz="2400" b="1" dirty="0">
                <a:latin typeface="Sakkal Majalla" panose="02000000000000000000" pitchFamily="2" charset="-78"/>
                <a:cs typeface="Sakkal Majalla" panose="02000000000000000000" pitchFamily="2" charset="-78"/>
                <a:sym typeface="GE SS Two Light"/>
              </a:rPr>
              <a:t> في التعليم</a:t>
            </a:r>
          </a:p>
        </p:txBody>
      </p:sp>
      <p:sp>
        <p:nvSpPr>
          <p:cNvPr id="6" name="TextBox 4">
            <a:extLst>
              <a:ext uri="{FF2B5EF4-FFF2-40B4-BE49-F238E27FC236}">
                <a16:creationId xmlns:a16="http://schemas.microsoft.com/office/drawing/2014/main" id="{22B0E40E-0C2F-BB77-CD9A-B2CA94D2FB30}"/>
              </a:ext>
            </a:extLst>
          </p:cNvPr>
          <p:cNvSpPr txBox="1"/>
          <p:nvPr/>
        </p:nvSpPr>
        <p:spPr>
          <a:xfrm>
            <a:off x="806450" y="2936425"/>
            <a:ext cx="6019799" cy="5963171"/>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dirty="0">
                <a:latin typeface="Sakkal Majalla" panose="02000000000000000000" pitchFamily="2" charset="-78"/>
                <a:cs typeface="Sakkal Majalla" panose="02000000000000000000" pitchFamily="2" charset="-78"/>
                <a:sym typeface="GE SS Two Light"/>
              </a:rPr>
              <a:t>تضمنت رؤية </a:t>
            </a:r>
            <a:r>
              <a:rPr lang="en-US" sz="2000" dirty="0">
                <a:latin typeface="Sakkal Majalla" panose="02000000000000000000" pitchFamily="2" charset="-78"/>
                <a:cs typeface="Sakkal Majalla" panose="02000000000000000000" pitchFamily="2" charset="-78"/>
                <a:sym typeface="GE SS Two Light"/>
              </a:rPr>
              <a:t>2030</a:t>
            </a:r>
            <a:r>
              <a:rPr lang="ar-EG" sz="2000" dirty="0">
                <a:latin typeface="Sakkal Majalla" panose="02000000000000000000" pitchFamily="2" charset="-78"/>
                <a:cs typeface="Sakkal Majalla" panose="02000000000000000000" pitchFamily="2" charset="-78"/>
                <a:sym typeface="GE SS Two Light"/>
              </a:rPr>
              <a:t> في التعليم عدة مبادئ أساسية</a:t>
            </a:r>
            <a:r>
              <a:rPr lang="ar-SA" sz="2000" dirty="0">
                <a:latin typeface="Sakkal Majalla" panose="02000000000000000000" pitchFamily="2" charset="-78"/>
                <a:cs typeface="Sakkal Majalla" panose="02000000000000000000" pitchFamily="2" charset="-78"/>
                <a:sym typeface="GE SS Two Light"/>
              </a:rPr>
              <a:t> </a:t>
            </a:r>
            <a:r>
              <a:rPr lang="ar-EG" sz="2000" dirty="0">
                <a:latin typeface="Sakkal Majalla" panose="02000000000000000000" pitchFamily="2" charset="-78"/>
                <a:cs typeface="Sakkal Majalla" panose="02000000000000000000" pitchFamily="2" charset="-78"/>
                <a:sym typeface="GE SS Two Light"/>
              </a:rPr>
              <a:t>لتجعل من التعليم في المملكة العربية السعودية نموذجا رائدا يحتذى به وتمثلت الرؤية في: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فرص التعليم الملائم لمختلف الطلاب والطالبات.</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فرص التعلم مدى الحياة.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رفع معدل الرغبة في الالتحاق بوظيفة التدريس.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تأهيل المدرسين وتأهيلهم على أعلى مستوى.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بيئة تعليمية محفزة على الإبداع.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رفع الكفاءة المالية الخاصة بقطاع التعليم.</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معدل مشاركة القطاعين الأهلي والخاص في التعليم.</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تحقيق التوافق بين مخرجات التعليم وبين احتياجات سوق العمل.</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تنمية وصقل مهارات المتعلمين.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تطوير المناهج التعليمية والطرق المتبعة في تدريسها بالإضافة إلى طرق تقويم المتعلمين</a:t>
            </a:r>
          </a:p>
        </p:txBody>
      </p:sp>
      <p:sp>
        <p:nvSpPr>
          <p:cNvPr id="7" name="Freeform 5">
            <a:extLst>
              <a:ext uri="{FF2B5EF4-FFF2-40B4-BE49-F238E27FC236}">
                <a16:creationId xmlns:a16="http://schemas.microsoft.com/office/drawing/2014/main" id="{4989E182-B63B-6C79-8B07-F2018671BA4B}"/>
              </a:ext>
            </a:extLst>
          </p:cNvPr>
          <p:cNvSpPr/>
          <p:nvPr/>
        </p:nvSpPr>
        <p:spPr>
          <a:xfrm>
            <a:off x="5489355" y="696068"/>
            <a:ext cx="1336894" cy="895906"/>
          </a:xfrm>
          <a:custGeom>
            <a:avLst/>
            <a:gdLst/>
            <a:ahLst/>
            <a:cxnLst/>
            <a:rect l="l" t="t" r="r" b="b"/>
            <a:pathLst>
              <a:path w="1137004" h="789908">
                <a:moveTo>
                  <a:pt x="0" y="0"/>
                </a:moveTo>
                <a:lnTo>
                  <a:pt x="1137004" y="0"/>
                </a:lnTo>
                <a:lnTo>
                  <a:pt x="1137004" y="789908"/>
                </a:lnTo>
                <a:lnTo>
                  <a:pt x="0" y="789908"/>
                </a:lnTo>
                <a:lnTo>
                  <a:pt x="0" y="0"/>
                </a:lnTo>
                <a:close/>
              </a:path>
            </a:pathLst>
          </a:custGeom>
          <a:blipFill>
            <a:blip r:embed="rId5"/>
            <a:stretch>
              <a:fillRect t="-19702" b="-24239"/>
            </a:stretch>
          </a:blipFill>
        </p:spPr>
        <p:txBody>
          <a:bodyPr/>
          <a:lstStyle/>
          <a:p>
            <a:endParaRPr lang="ar-SA" sz="2400" dirty="0">
              <a:latin typeface="Sakkal Majalla" panose="02000000000000000000" pitchFamily="2" charset="-78"/>
              <a:cs typeface="Sakkal Majalla" panose="02000000000000000000" pitchFamily="2" charset="-78"/>
            </a:endParaRPr>
          </a:p>
        </p:txBody>
      </p:sp>
    </p:spTree>
    <p:extLst>
      <p:ext uri="{BB962C8B-B14F-4D97-AF65-F5344CB8AC3E}">
        <p14:creationId xmlns:p14="http://schemas.microsoft.com/office/powerpoint/2010/main" val="39021445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B7854-C588-9ACF-5655-29148E72C58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CE2DE3E-5683-6E32-6963-1B052DF9917D}"/>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8D24C69A-F91C-C28F-33E1-864C04ED0B05}"/>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4A26EE80-8907-502B-B335-9B2E77A714DB}"/>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Freeform 4">
            <a:extLst>
              <a:ext uri="{FF2B5EF4-FFF2-40B4-BE49-F238E27FC236}">
                <a16:creationId xmlns:a16="http://schemas.microsoft.com/office/drawing/2014/main" id="{DC2FD63F-2293-B826-5C70-7CC124643E31}"/>
              </a:ext>
            </a:extLst>
          </p:cNvPr>
          <p:cNvSpPr/>
          <p:nvPr/>
        </p:nvSpPr>
        <p:spPr>
          <a:xfrm>
            <a:off x="5299097" y="3643719"/>
            <a:ext cx="1021126" cy="933957"/>
          </a:xfrm>
          <a:custGeom>
            <a:avLst/>
            <a:gdLst/>
            <a:ahLst/>
            <a:cxnLst/>
            <a:rect l="l" t="t" r="r" b="b"/>
            <a:pathLst>
              <a:path w="1817275" h="1817275">
                <a:moveTo>
                  <a:pt x="0" y="0"/>
                </a:moveTo>
                <a:lnTo>
                  <a:pt x="1817275" y="0"/>
                </a:lnTo>
                <a:lnTo>
                  <a:pt x="1817275" y="1817276"/>
                </a:lnTo>
                <a:lnTo>
                  <a:pt x="0" y="1817276"/>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6" name="TextBox 6">
            <a:extLst>
              <a:ext uri="{FF2B5EF4-FFF2-40B4-BE49-F238E27FC236}">
                <a16:creationId xmlns:a16="http://schemas.microsoft.com/office/drawing/2014/main" id="{E8BD0AF1-FCC0-0A90-F390-F8349F2E1EEA}"/>
              </a:ext>
            </a:extLst>
          </p:cNvPr>
          <p:cNvSpPr txBox="1"/>
          <p:nvPr/>
        </p:nvSpPr>
        <p:spPr>
          <a:xfrm>
            <a:off x="1255048" y="3785577"/>
            <a:ext cx="5046405" cy="1692771"/>
          </a:xfrm>
          <a:prstGeom prst="rect">
            <a:avLst/>
          </a:prstGeom>
        </p:spPr>
        <p:txBody>
          <a:bodyPr wrap="square" lIns="0" tIns="0" rIns="0" bIns="0" rtlCol="0" anchor="t">
            <a:spAutoFit/>
          </a:bodyPr>
          <a:lstStyle/>
          <a:p>
            <a:pPr marL="345439" lvl="1" indent="-172720" algn="just" rtl="1">
              <a:lnSpc>
                <a:spcPts val="2239"/>
              </a:lnSpc>
              <a:buFont typeface="Arial"/>
              <a:buChar char="•"/>
            </a:pPr>
            <a:r>
              <a:rPr lang="ar-EG" dirty="0">
                <a:latin typeface="Sakkal Majalla" panose="02000000000000000000" pitchFamily="2" charset="-78"/>
                <a:ea typeface="GE SS Two Light"/>
                <a:cs typeface="Sakkal Majalla" panose="02000000000000000000" pitchFamily="2" charset="-78"/>
                <a:sym typeface="GE SS Two Light"/>
                <a:rtl/>
              </a:rPr>
              <a:t>الارتقاء </a:t>
            </a:r>
            <a:r>
              <a:rPr lang="ar-EG" u="none" strike="noStrike" dirty="0">
                <a:latin typeface="Sakkal Majalla" panose="02000000000000000000" pitchFamily="2" charset="-78"/>
                <a:ea typeface="GE SS Two Light"/>
                <a:cs typeface="Sakkal Majalla" panose="02000000000000000000" pitchFamily="2" charset="-78"/>
                <a:sym typeface="GE SS Two Light"/>
                <a:rtl/>
              </a:rPr>
              <a:t>بالأداء التعليمي للطالبات من خلال تحديث الأساليب وتطويرها.</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دعم مشاركة الطالبات الفعالة في كافة الأنشطة التعليمية والمبادرات.</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تطوير العلاقات الاجتماعية بما يحقق التنمية والنمو المعرفي.</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تسهيل الخدمات للطالبات وأولياء الأمور وتشجيع الأنشطة والمشاريع البناءة.</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القيام بدور تحفيزي فاعل بما يحقق التنافس الإيجابي بين الطالبات.</a:t>
            </a:r>
          </a:p>
        </p:txBody>
      </p:sp>
      <p:sp>
        <p:nvSpPr>
          <p:cNvPr id="7" name="Freeform 7">
            <a:extLst>
              <a:ext uri="{FF2B5EF4-FFF2-40B4-BE49-F238E27FC236}">
                <a16:creationId xmlns:a16="http://schemas.microsoft.com/office/drawing/2014/main" id="{62A9C2C2-DA98-1498-D357-D8EFF6E9B97E}"/>
              </a:ext>
            </a:extLst>
          </p:cNvPr>
          <p:cNvSpPr/>
          <p:nvPr/>
        </p:nvSpPr>
        <p:spPr>
          <a:xfrm flipH="1" flipV="1">
            <a:off x="1035050" y="4652862"/>
            <a:ext cx="1245534" cy="933957"/>
          </a:xfrm>
          <a:custGeom>
            <a:avLst/>
            <a:gdLst/>
            <a:ahLst/>
            <a:cxnLst/>
            <a:rect l="l" t="t" r="r" b="b"/>
            <a:pathLst>
              <a:path w="1817275" h="1817275">
                <a:moveTo>
                  <a:pt x="1817275" y="1817275"/>
                </a:moveTo>
                <a:lnTo>
                  <a:pt x="0" y="1817275"/>
                </a:lnTo>
                <a:lnTo>
                  <a:pt x="0" y="0"/>
                </a:lnTo>
                <a:lnTo>
                  <a:pt x="1817275" y="0"/>
                </a:lnTo>
                <a:lnTo>
                  <a:pt x="1817275" y="1817275"/>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8" name="TextBox 13">
            <a:extLst>
              <a:ext uri="{FF2B5EF4-FFF2-40B4-BE49-F238E27FC236}">
                <a16:creationId xmlns:a16="http://schemas.microsoft.com/office/drawing/2014/main" id="{9511BFA7-1FF4-C620-82C2-3F2D64069A58}"/>
              </a:ext>
            </a:extLst>
          </p:cNvPr>
          <p:cNvSpPr txBox="1"/>
          <p:nvPr/>
        </p:nvSpPr>
        <p:spPr>
          <a:xfrm>
            <a:off x="2419757" y="2801879"/>
            <a:ext cx="2623794"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marL="0" lvl="0" indent="0" algn="ctr" rtl="1">
              <a:spcBef>
                <a:spcPct val="0"/>
              </a:spcBef>
            </a:pPr>
            <a:r>
              <a:rPr lang="ar-EG" sz="2400" b="1" u="none" strike="noStrike" spc="-33" dirty="0">
                <a:latin typeface="Sakkal Majalla" panose="02000000000000000000" pitchFamily="2" charset="-78"/>
                <a:ea typeface="GE SS Two Light"/>
                <a:cs typeface="Sakkal Majalla" panose="02000000000000000000" pitchFamily="2" charset="-78"/>
                <a:sym typeface="GE SS Two Light"/>
                <a:rtl/>
              </a:rPr>
              <a:t>الرؤية</a:t>
            </a:r>
          </a:p>
        </p:txBody>
      </p:sp>
      <p:sp>
        <p:nvSpPr>
          <p:cNvPr id="9" name="Freeform 10">
            <a:extLst>
              <a:ext uri="{FF2B5EF4-FFF2-40B4-BE49-F238E27FC236}">
                <a16:creationId xmlns:a16="http://schemas.microsoft.com/office/drawing/2014/main" id="{80A67E2C-14EF-DB33-F8C7-31C794824CAA}"/>
              </a:ext>
            </a:extLst>
          </p:cNvPr>
          <p:cNvSpPr/>
          <p:nvPr/>
        </p:nvSpPr>
        <p:spPr>
          <a:xfrm>
            <a:off x="2787650" y="2769453"/>
            <a:ext cx="409175" cy="401758"/>
          </a:xfrm>
          <a:custGeom>
            <a:avLst/>
            <a:gdLst/>
            <a:ahLst/>
            <a:cxnLst/>
            <a:rect l="l" t="t" r="r" b="b"/>
            <a:pathLst>
              <a:path w="502207" h="496557">
                <a:moveTo>
                  <a:pt x="0" y="0"/>
                </a:moveTo>
                <a:lnTo>
                  <a:pt x="502207" y="0"/>
                </a:lnTo>
                <a:lnTo>
                  <a:pt x="502207" y="496557"/>
                </a:lnTo>
                <a:lnTo>
                  <a:pt x="0" y="496557"/>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11" name="TextBox 13">
            <a:extLst>
              <a:ext uri="{FF2B5EF4-FFF2-40B4-BE49-F238E27FC236}">
                <a16:creationId xmlns:a16="http://schemas.microsoft.com/office/drawing/2014/main" id="{2D30B867-A80B-828D-8B39-023A9885181F}"/>
              </a:ext>
            </a:extLst>
          </p:cNvPr>
          <p:cNvSpPr txBox="1"/>
          <p:nvPr/>
        </p:nvSpPr>
        <p:spPr>
          <a:xfrm>
            <a:off x="2419757" y="6067314"/>
            <a:ext cx="2623794"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spcBef>
                <a:spcPct val="0"/>
              </a:spcBef>
              <a:defRPr sz="2400" b="1" u="none" strike="noStrike" spc="-33">
                <a:latin typeface="Sakkal Majalla" panose="02000000000000000000" pitchFamily="2" charset="-78"/>
                <a:ea typeface="GE SS Two Light"/>
                <a:cs typeface="Sakkal Majalla" panose="02000000000000000000" pitchFamily="2" charset="-78"/>
                <a:rtl/>
              </a:defRPr>
            </a:lvl1pPr>
          </a:lstStyle>
          <a:p>
            <a:r>
              <a:rPr lang="ar-SA">
                <a:sym typeface="GE SS Two Light"/>
              </a:rPr>
              <a:t>الرسالة</a:t>
            </a:r>
            <a:endParaRPr lang="ar-EG" dirty="0">
              <a:sym typeface="GE SS Two Light"/>
            </a:endParaRPr>
          </a:p>
        </p:txBody>
      </p:sp>
      <p:sp>
        <p:nvSpPr>
          <p:cNvPr id="12" name="TextBox 5">
            <a:extLst>
              <a:ext uri="{FF2B5EF4-FFF2-40B4-BE49-F238E27FC236}">
                <a16:creationId xmlns:a16="http://schemas.microsoft.com/office/drawing/2014/main" id="{D8CAB99C-3551-8041-8EC2-D7F11322EA19}"/>
              </a:ext>
            </a:extLst>
          </p:cNvPr>
          <p:cNvSpPr txBox="1"/>
          <p:nvPr/>
        </p:nvSpPr>
        <p:spPr>
          <a:xfrm>
            <a:off x="1291877" y="7259344"/>
            <a:ext cx="4764675" cy="553998"/>
          </a:xfrm>
          <a:prstGeom prst="rect">
            <a:avLst/>
          </a:prstGeom>
        </p:spPr>
        <p:txBody>
          <a:bodyPr wrap="square" lIns="0" tIns="0" rIns="0" bIns="0" rtlCol="0" anchor="t">
            <a:spAutoFit/>
          </a:bodyPr>
          <a:lstStyle>
            <a:defPPr>
              <a:defRPr lang="en-US"/>
            </a:defPPr>
            <a:lvl2pPr marL="345439" lvl="1" indent="-172720" algn="just" rtl="1">
              <a:lnSpc>
                <a:spcPts val="2239"/>
              </a:lnSpc>
              <a:buFont typeface="Arial"/>
              <a:buChar char="•"/>
              <a:defRPr>
                <a:latin typeface="Sakkal Majalla" panose="02000000000000000000" pitchFamily="2" charset="-78"/>
                <a:ea typeface="GE SS Two Light"/>
                <a:cs typeface="Sakkal Majalla" panose="02000000000000000000" pitchFamily="2" charset="-78"/>
                <a:rtl/>
              </a:defRPr>
            </a:lvl2pPr>
          </a:lstStyle>
          <a:p>
            <a:pPr algn="ctr" rtl="1"/>
            <a:r>
              <a:rPr lang="ar-EG" dirty="0">
                <a:latin typeface="Sakkal Majalla" panose="02000000000000000000" pitchFamily="2" charset="-78"/>
                <a:cs typeface="Sakkal Majalla" panose="02000000000000000000" pitchFamily="2" charset="-78"/>
                <a:sym typeface="GE SS Two Light"/>
              </a:rPr>
              <a:t>أسعى لتحقيق مستوى أفضل من منظور عملي متوازن وضمان المشاركة الفعالة في كافة المجالات التربوية والتعليمية</a:t>
            </a:r>
          </a:p>
        </p:txBody>
      </p:sp>
      <p:sp>
        <p:nvSpPr>
          <p:cNvPr id="13" name="Freeform 8">
            <a:extLst>
              <a:ext uri="{FF2B5EF4-FFF2-40B4-BE49-F238E27FC236}">
                <a16:creationId xmlns:a16="http://schemas.microsoft.com/office/drawing/2014/main" id="{EDBB4B69-6AF7-8C42-BEC1-ECC6346FE269}"/>
              </a:ext>
            </a:extLst>
          </p:cNvPr>
          <p:cNvSpPr/>
          <p:nvPr/>
        </p:nvSpPr>
        <p:spPr>
          <a:xfrm flipH="1" flipV="1">
            <a:off x="1035050" y="6891497"/>
            <a:ext cx="1122003" cy="1122003"/>
          </a:xfrm>
          <a:custGeom>
            <a:avLst/>
            <a:gdLst/>
            <a:ahLst/>
            <a:cxnLst/>
            <a:rect l="l" t="t" r="r" b="b"/>
            <a:pathLst>
              <a:path w="1122003" h="1122003">
                <a:moveTo>
                  <a:pt x="1122003" y="1122003"/>
                </a:moveTo>
                <a:lnTo>
                  <a:pt x="0" y="1122003"/>
                </a:lnTo>
                <a:lnTo>
                  <a:pt x="0" y="0"/>
                </a:lnTo>
                <a:lnTo>
                  <a:pt x="1122003" y="0"/>
                </a:lnTo>
                <a:lnTo>
                  <a:pt x="1122003" y="1122003"/>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14" name="Freeform 9">
            <a:extLst>
              <a:ext uri="{FF2B5EF4-FFF2-40B4-BE49-F238E27FC236}">
                <a16:creationId xmlns:a16="http://schemas.microsoft.com/office/drawing/2014/main" id="{8F15523F-BEA7-A363-99A5-068492AC2381}"/>
              </a:ext>
            </a:extLst>
          </p:cNvPr>
          <p:cNvSpPr/>
          <p:nvPr/>
        </p:nvSpPr>
        <p:spPr>
          <a:xfrm>
            <a:off x="5179450" y="6948274"/>
            <a:ext cx="1122003" cy="1122003"/>
          </a:xfrm>
          <a:custGeom>
            <a:avLst/>
            <a:gdLst/>
            <a:ahLst/>
            <a:cxnLst/>
            <a:rect l="l" t="t" r="r" b="b"/>
            <a:pathLst>
              <a:path w="1122003" h="1122003">
                <a:moveTo>
                  <a:pt x="0" y="0"/>
                </a:moveTo>
                <a:lnTo>
                  <a:pt x="1122003" y="0"/>
                </a:lnTo>
                <a:lnTo>
                  <a:pt x="1122003" y="1122003"/>
                </a:lnTo>
                <a:lnTo>
                  <a:pt x="0" y="1122003"/>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15" name="Freeform 11">
            <a:extLst>
              <a:ext uri="{FF2B5EF4-FFF2-40B4-BE49-F238E27FC236}">
                <a16:creationId xmlns:a16="http://schemas.microsoft.com/office/drawing/2014/main" id="{6714F85D-F95D-A584-9A24-ED5F053F272D}"/>
              </a:ext>
            </a:extLst>
          </p:cNvPr>
          <p:cNvSpPr/>
          <p:nvPr/>
        </p:nvSpPr>
        <p:spPr>
          <a:xfrm>
            <a:off x="2539003" y="6108700"/>
            <a:ext cx="477248" cy="296569"/>
          </a:xfrm>
          <a:custGeom>
            <a:avLst/>
            <a:gdLst/>
            <a:ahLst/>
            <a:cxnLst/>
            <a:rect l="l" t="t" r="r" b="b"/>
            <a:pathLst>
              <a:path w="502207" h="334595">
                <a:moveTo>
                  <a:pt x="0" y="0"/>
                </a:moveTo>
                <a:lnTo>
                  <a:pt x="502207" y="0"/>
                </a:lnTo>
                <a:lnTo>
                  <a:pt x="502207" y="334595"/>
                </a:lnTo>
                <a:lnTo>
                  <a:pt x="0" y="334595"/>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ar-SA" sz="2000">
              <a:latin typeface="Sakkal Majalla" panose="02000000000000000000" pitchFamily="2" charset="-78"/>
              <a:cs typeface="Sakkal Majalla" panose="02000000000000000000" pitchFamily="2" charset="-78"/>
            </a:endParaRPr>
          </a:p>
        </p:txBody>
      </p:sp>
    </p:spTree>
    <p:extLst>
      <p:ext uri="{BB962C8B-B14F-4D97-AF65-F5344CB8AC3E}">
        <p14:creationId xmlns:p14="http://schemas.microsoft.com/office/powerpoint/2010/main" val="22590272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653F7F-BE90-BBFB-0CDF-57378DDA0E2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C618AC4-D8BF-7A65-132E-5F9AA1C32B2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b="1"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0F1CBA47-AF89-85C1-7064-F9072EE62BEB}"/>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b="1">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440614DE-90D6-A092-BFD6-2F972B7882A3}"/>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b="1">
              <a:latin typeface="Sakkal Majalla" panose="02000000000000000000" pitchFamily="2" charset="-78"/>
              <a:cs typeface="Sakkal Majalla" panose="02000000000000000000" pitchFamily="2" charset="-78"/>
            </a:endParaRPr>
          </a:p>
        </p:txBody>
      </p:sp>
      <p:pic>
        <p:nvPicPr>
          <p:cNvPr id="5" name="صورة 4">
            <a:extLst>
              <a:ext uri="{FF2B5EF4-FFF2-40B4-BE49-F238E27FC236}">
                <a16:creationId xmlns:a16="http://schemas.microsoft.com/office/drawing/2014/main" id="{CB9D4881-96F0-1F51-12D7-DAE13B5EF70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99326" y="7691215"/>
            <a:ext cx="3157847" cy="1767828"/>
          </a:xfrm>
          <a:prstGeom prst="rect">
            <a:avLst/>
          </a:prstGeom>
        </p:spPr>
      </p:pic>
      <p:graphicFrame>
        <p:nvGraphicFramePr>
          <p:cNvPr id="6" name="Table 2">
            <a:extLst>
              <a:ext uri="{FF2B5EF4-FFF2-40B4-BE49-F238E27FC236}">
                <a16:creationId xmlns:a16="http://schemas.microsoft.com/office/drawing/2014/main" id="{FF4B9C6F-F088-F39B-1C03-456737E64CF9}"/>
              </a:ext>
            </a:extLst>
          </p:cNvPr>
          <p:cNvGraphicFramePr>
            <a:graphicFrameLocks noGrp="1"/>
          </p:cNvGraphicFramePr>
          <p:nvPr>
            <p:extLst>
              <p:ext uri="{D42A27DB-BD31-4B8C-83A1-F6EECF244321}">
                <p14:modId xmlns:p14="http://schemas.microsoft.com/office/powerpoint/2010/main" val="3629531246"/>
              </p:ext>
            </p:extLst>
          </p:nvPr>
        </p:nvGraphicFramePr>
        <p:xfrm>
          <a:off x="826725" y="2040687"/>
          <a:ext cx="6019800" cy="2194560"/>
        </p:xfrm>
        <a:graphic>
          <a:graphicData uri="http://schemas.openxmlformats.org/drawingml/2006/table">
            <a:tbl>
              <a:tblPr/>
              <a:tblGrid>
                <a:gridCol w="4532300">
                  <a:extLst>
                    <a:ext uri="{9D8B030D-6E8A-4147-A177-3AD203B41FA5}">
                      <a16:colId xmlns:a16="http://schemas.microsoft.com/office/drawing/2014/main" val="20000"/>
                    </a:ext>
                  </a:extLst>
                </a:gridCol>
                <a:gridCol w="1487500">
                  <a:extLst>
                    <a:ext uri="{9D8B030D-6E8A-4147-A177-3AD203B41FA5}">
                      <a16:colId xmlns:a16="http://schemas.microsoft.com/office/drawing/2014/main" val="20004"/>
                    </a:ext>
                  </a:extLst>
                </a:gridCol>
              </a:tblGrid>
              <a:tr h="257872">
                <a:tc gridSpan="2">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    البيانات الشخصية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C2C6"/>
                    </a:solidFill>
                  </a:tcPr>
                </a:tc>
                <a:tc hMerge="1">
                  <a:txBody>
                    <a:bodyPr/>
                    <a:lstStyle/>
                    <a:p>
                      <a:pPr algn="r" rtl="1">
                        <a:lnSpc>
                          <a:spcPts val="1679"/>
                        </a:lnSpc>
                        <a:defRPr/>
                      </a:pPr>
                      <a:r>
                        <a:rPr lang="ar-EG" sz="1200">
                          <a:solidFill>
                            <a:srgbClr val="000000"/>
                          </a:solidFill>
                          <a:latin typeface="GE SS Two Light"/>
                          <a:ea typeface="GE SS Two Light"/>
                          <a:cs typeface="GE SS Two Light"/>
                          <a:sym typeface="GE SS Two Light"/>
                          <a:rtl/>
                        </a:rPr>
                        <a:t>    البيانات الشخصية: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رقم الهوية: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الاسم:</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تاريخ الميلاد:</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العنوان:</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الهاتف:</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459131">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البريد الإلكتروني لمنصة مدرستي:</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graphicFrame>
        <p:nvGraphicFramePr>
          <p:cNvPr id="7" name="Table 5">
            <a:extLst>
              <a:ext uri="{FF2B5EF4-FFF2-40B4-BE49-F238E27FC236}">
                <a16:creationId xmlns:a16="http://schemas.microsoft.com/office/drawing/2014/main" id="{DFF92AFD-EE40-899F-E9D8-AF3C53B35E3B}"/>
              </a:ext>
            </a:extLst>
          </p:cNvPr>
          <p:cNvGraphicFramePr>
            <a:graphicFrameLocks noGrp="1"/>
          </p:cNvGraphicFramePr>
          <p:nvPr>
            <p:extLst>
              <p:ext uri="{D42A27DB-BD31-4B8C-83A1-F6EECF244321}">
                <p14:modId xmlns:p14="http://schemas.microsoft.com/office/powerpoint/2010/main" val="1731317763"/>
              </p:ext>
            </p:extLst>
          </p:nvPr>
        </p:nvGraphicFramePr>
        <p:xfrm>
          <a:off x="826723" y="4355442"/>
          <a:ext cx="6019800" cy="1440600"/>
        </p:xfrm>
        <a:graphic>
          <a:graphicData uri="http://schemas.openxmlformats.org/drawingml/2006/table">
            <a:tbl>
              <a:tblPr/>
              <a:tblGrid>
                <a:gridCol w="1003300">
                  <a:extLst>
                    <a:ext uri="{9D8B030D-6E8A-4147-A177-3AD203B41FA5}">
                      <a16:colId xmlns:a16="http://schemas.microsoft.com/office/drawing/2014/main" val="20000"/>
                    </a:ext>
                  </a:extLst>
                </a:gridCol>
                <a:gridCol w="1003300">
                  <a:extLst>
                    <a:ext uri="{9D8B030D-6E8A-4147-A177-3AD203B41FA5}">
                      <a16:colId xmlns:a16="http://schemas.microsoft.com/office/drawing/2014/main" val="20001"/>
                    </a:ext>
                  </a:extLst>
                </a:gridCol>
                <a:gridCol w="1003300">
                  <a:extLst>
                    <a:ext uri="{9D8B030D-6E8A-4147-A177-3AD203B41FA5}">
                      <a16:colId xmlns:a16="http://schemas.microsoft.com/office/drawing/2014/main" val="20002"/>
                    </a:ext>
                  </a:extLst>
                </a:gridCol>
                <a:gridCol w="1003300">
                  <a:extLst>
                    <a:ext uri="{9D8B030D-6E8A-4147-A177-3AD203B41FA5}">
                      <a16:colId xmlns:a16="http://schemas.microsoft.com/office/drawing/2014/main" val="20003"/>
                    </a:ext>
                  </a:extLst>
                </a:gridCol>
                <a:gridCol w="1003300">
                  <a:extLst>
                    <a:ext uri="{9D8B030D-6E8A-4147-A177-3AD203B41FA5}">
                      <a16:colId xmlns:a16="http://schemas.microsoft.com/office/drawing/2014/main" val="20004"/>
                    </a:ext>
                  </a:extLst>
                </a:gridCol>
                <a:gridCol w="1003300">
                  <a:extLst>
                    <a:ext uri="{9D8B030D-6E8A-4147-A177-3AD203B41FA5}">
                      <a16:colId xmlns:a16="http://schemas.microsoft.com/office/drawing/2014/main" val="20005"/>
                    </a:ext>
                  </a:extLst>
                </a:gridCol>
              </a:tblGrid>
              <a:tr h="274050">
                <a:tc gridSpan="6">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البيانات العلمية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C2C6"/>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extLst>
                  <a:ext uri="{0D108BD9-81ED-4DB2-BD59-A6C34878D82A}">
                    <a16:rowId xmlns:a16="http://schemas.microsoft.com/office/drawing/2014/main" val="10000"/>
                  </a:ext>
                </a:extLst>
              </a:tr>
              <a:tr h="487937">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تاريخه</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التقدير</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التخصص</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جهة الإصدار</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المؤهل</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التحصيل العلمي</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6176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graphicFrame>
        <p:nvGraphicFramePr>
          <p:cNvPr id="8" name="Table 6">
            <a:extLst>
              <a:ext uri="{FF2B5EF4-FFF2-40B4-BE49-F238E27FC236}">
                <a16:creationId xmlns:a16="http://schemas.microsoft.com/office/drawing/2014/main" id="{8D613FF3-6494-7885-8801-48A57F2B7809}"/>
              </a:ext>
            </a:extLst>
          </p:cNvPr>
          <p:cNvGraphicFramePr>
            <a:graphicFrameLocks noGrp="1"/>
          </p:cNvGraphicFramePr>
          <p:nvPr>
            <p:extLst>
              <p:ext uri="{D42A27DB-BD31-4B8C-83A1-F6EECF244321}">
                <p14:modId xmlns:p14="http://schemas.microsoft.com/office/powerpoint/2010/main" val="983295595"/>
              </p:ext>
            </p:extLst>
          </p:nvPr>
        </p:nvGraphicFramePr>
        <p:xfrm>
          <a:off x="826722" y="5938665"/>
          <a:ext cx="6019800" cy="1142467"/>
        </p:xfrm>
        <a:graphic>
          <a:graphicData uri="http://schemas.openxmlformats.org/drawingml/2006/table">
            <a:tbl>
              <a:tblPr/>
              <a:tblGrid>
                <a:gridCol w="1504950">
                  <a:extLst>
                    <a:ext uri="{9D8B030D-6E8A-4147-A177-3AD203B41FA5}">
                      <a16:colId xmlns:a16="http://schemas.microsoft.com/office/drawing/2014/main" val="20000"/>
                    </a:ext>
                  </a:extLst>
                </a:gridCol>
                <a:gridCol w="1504950">
                  <a:extLst>
                    <a:ext uri="{9D8B030D-6E8A-4147-A177-3AD203B41FA5}">
                      <a16:colId xmlns:a16="http://schemas.microsoft.com/office/drawing/2014/main" val="20001"/>
                    </a:ext>
                  </a:extLst>
                </a:gridCol>
                <a:gridCol w="1504950">
                  <a:extLst>
                    <a:ext uri="{9D8B030D-6E8A-4147-A177-3AD203B41FA5}">
                      <a16:colId xmlns:a16="http://schemas.microsoft.com/office/drawing/2014/main" val="20002"/>
                    </a:ext>
                  </a:extLst>
                </a:gridCol>
                <a:gridCol w="1504950">
                  <a:extLst>
                    <a:ext uri="{9D8B030D-6E8A-4147-A177-3AD203B41FA5}">
                      <a16:colId xmlns:a16="http://schemas.microsoft.com/office/drawing/2014/main" val="20003"/>
                    </a:ext>
                  </a:extLst>
                </a:gridCol>
              </a:tblGrid>
              <a:tr h="274810">
                <a:tc gridSpan="4">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البيانات الوظيفية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C2C6"/>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الوظيفية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الوظيفية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الوظيفية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extLst>
                  <a:ext uri="{0D108BD9-81ED-4DB2-BD59-A6C34878D82A}">
                    <a16:rowId xmlns:a16="http://schemas.microsoft.com/office/drawing/2014/main" val="10000"/>
                  </a:ext>
                </a:extLst>
              </a:tr>
              <a:tr h="274810">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المرحلة الدراسية</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تاريخ المباشرة</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المستوى / الدرجة</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مسمى الوظيفة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5928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9" name="مربع نص 8">
            <a:extLst>
              <a:ext uri="{FF2B5EF4-FFF2-40B4-BE49-F238E27FC236}">
                <a16:creationId xmlns:a16="http://schemas.microsoft.com/office/drawing/2014/main" id="{EC8AB765-FCA8-3DC6-4134-E75720C3F09D}"/>
              </a:ext>
            </a:extLst>
          </p:cNvPr>
          <p:cNvSpPr txBox="1"/>
          <p:nvPr/>
        </p:nvSpPr>
        <p:spPr>
          <a:xfrm>
            <a:off x="2786708" y="926607"/>
            <a:ext cx="1983081"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ts val="4200"/>
              </a:lnSpc>
              <a:spcBef>
                <a:spcPct val="0"/>
              </a:spcBef>
              <a:defRPr sz="3000" u="none" strike="noStrike" spc="-33">
                <a:latin typeface="GE SS Two Light"/>
                <a:ea typeface="GE SS Two Light"/>
                <a:cs typeface="GE SS Two Light"/>
                <a:rtl/>
              </a:defRPr>
            </a:lvl1pPr>
          </a:lstStyle>
          <a:p>
            <a:pPr>
              <a:lnSpc>
                <a:spcPct val="100000"/>
              </a:lnSpc>
            </a:pPr>
            <a:r>
              <a:rPr lang="ar-SA" sz="2400" b="1" dirty="0">
                <a:latin typeface="Sakkal Majalla" panose="02000000000000000000" pitchFamily="2" charset="-78"/>
                <a:cs typeface="Sakkal Majalla" panose="02000000000000000000" pitchFamily="2" charset="-78"/>
              </a:rPr>
              <a:t>السيرة الذاتية</a:t>
            </a:r>
            <a:endParaRPr lang="en-US" sz="2400" b="1" dirty="0">
              <a:latin typeface="Sakkal Majalla" panose="02000000000000000000" pitchFamily="2" charset="-78"/>
              <a:cs typeface="Sakkal Majalla" panose="02000000000000000000" pitchFamily="2" charset="-78"/>
            </a:endParaRPr>
          </a:p>
        </p:txBody>
      </p:sp>
      <p:pic>
        <p:nvPicPr>
          <p:cNvPr id="10" name="صورة 9">
            <a:extLst>
              <a:ext uri="{FF2B5EF4-FFF2-40B4-BE49-F238E27FC236}">
                <a16:creationId xmlns:a16="http://schemas.microsoft.com/office/drawing/2014/main" id="{AA60EE2A-3A2F-10FB-0AB9-05C564DFFB90}"/>
              </a:ext>
            </a:extLst>
          </p:cNvPr>
          <p:cNvPicPr>
            <a:picLocks noChangeAspect="1"/>
          </p:cNvPicPr>
          <p:nvPr/>
        </p:nvPicPr>
        <p:blipFill>
          <a:blip r:embed="rId6">
            <a:extLst>
              <a:ext uri="{28A0092B-C50C-407E-A947-70E740481C1C}">
                <a14:useLocalDpi xmlns:a14="http://schemas.microsoft.com/office/drawing/2010/main" val="0"/>
              </a:ext>
            </a:extLst>
          </a:blip>
          <a:srcRect l="38986" t="28665" r="39095" b="27591"/>
          <a:stretch/>
        </p:blipFill>
        <p:spPr>
          <a:xfrm>
            <a:off x="585886" y="8343159"/>
            <a:ext cx="1889765" cy="2111252"/>
          </a:xfrm>
          <a:prstGeom prst="rect">
            <a:avLst/>
          </a:prstGeom>
        </p:spPr>
      </p:pic>
      <p:sp>
        <p:nvSpPr>
          <p:cNvPr id="11" name="TextBox 2">
            <a:extLst>
              <a:ext uri="{FF2B5EF4-FFF2-40B4-BE49-F238E27FC236}">
                <a16:creationId xmlns:a16="http://schemas.microsoft.com/office/drawing/2014/main" id="{0E5FD040-4D5E-BA8F-DEC5-FB21DE4B1190}"/>
              </a:ext>
            </a:extLst>
          </p:cNvPr>
          <p:cNvSpPr txBox="1"/>
          <p:nvPr/>
        </p:nvSpPr>
        <p:spPr>
          <a:xfrm>
            <a:off x="826722" y="2264946"/>
            <a:ext cx="4530451" cy="338554"/>
          </a:xfrm>
          <a:prstGeom prst="rect">
            <a:avLst/>
          </a:prstGeom>
          <a:noFill/>
        </p:spPr>
        <p:txBody>
          <a:bodyPr wrap="square">
            <a:spAutoFit/>
          </a:bodyPr>
          <a:lstStyle/>
          <a:p>
            <a:pPr algn="ctr"/>
            <a:r>
              <a:rPr sz="1600" dirty="0"/>
              <a:t>{{id}}</a:t>
            </a:r>
          </a:p>
        </p:txBody>
      </p:sp>
      <p:sp>
        <p:nvSpPr>
          <p:cNvPr id="12" name="TextBox 2">
            <a:extLst>
              <a:ext uri="{FF2B5EF4-FFF2-40B4-BE49-F238E27FC236}">
                <a16:creationId xmlns:a16="http://schemas.microsoft.com/office/drawing/2014/main" id="{89125714-D81A-C4B4-B9D1-BF184AC31640}"/>
              </a:ext>
            </a:extLst>
          </p:cNvPr>
          <p:cNvSpPr txBox="1"/>
          <p:nvPr/>
        </p:nvSpPr>
        <p:spPr>
          <a:xfrm>
            <a:off x="826722" y="2546353"/>
            <a:ext cx="4530451" cy="338554"/>
          </a:xfrm>
          <a:prstGeom prst="rect">
            <a:avLst/>
          </a:prstGeom>
          <a:noFill/>
        </p:spPr>
        <p:txBody>
          <a:bodyPr wrap="square">
            <a:spAutoFit/>
          </a:bodyPr>
          <a:lstStyle/>
          <a:p>
            <a:pPr algn="ctr"/>
            <a:r>
              <a:rPr lang="en-US" sz="1600" dirty="0"/>
              <a:t>{{</a:t>
            </a:r>
            <a:r>
              <a:rPr lang="en-US" sz="1600" dirty="0" err="1"/>
              <a:t>teacher_name</a:t>
            </a:r>
            <a:r>
              <a:rPr lang="en-US" sz="1600" dirty="0"/>
              <a:t>}}</a:t>
            </a:r>
          </a:p>
        </p:txBody>
      </p:sp>
      <p:sp>
        <p:nvSpPr>
          <p:cNvPr id="13" name="TextBox 2">
            <a:extLst>
              <a:ext uri="{FF2B5EF4-FFF2-40B4-BE49-F238E27FC236}">
                <a16:creationId xmlns:a16="http://schemas.microsoft.com/office/drawing/2014/main" id="{040C24C6-C609-80D6-90A6-0287C7D369F5}"/>
              </a:ext>
            </a:extLst>
          </p:cNvPr>
          <p:cNvSpPr txBox="1"/>
          <p:nvPr/>
        </p:nvSpPr>
        <p:spPr>
          <a:xfrm>
            <a:off x="826722" y="3781594"/>
            <a:ext cx="4530451" cy="338554"/>
          </a:xfrm>
          <a:prstGeom prst="rect">
            <a:avLst/>
          </a:prstGeom>
          <a:noFill/>
        </p:spPr>
        <p:txBody>
          <a:bodyPr wrap="square">
            <a:spAutoFit/>
          </a:bodyPr>
          <a:lstStyle/>
          <a:p>
            <a:pPr algn="ctr"/>
            <a:r>
              <a:rPr lang="en-US" sz="1600" dirty="0"/>
              <a:t>{{email}}</a:t>
            </a:r>
          </a:p>
        </p:txBody>
      </p:sp>
      <p:sp>
        <p:nvSpPr>
          <p:cNvPr id="14" name="TextBox 6">
            <a:extLst>
              <a:ext uri="{FF2B5EF4-FFF2-40B4-BE49-F238E27FC236}">
                <a16:creationId xmlns:a16="http://schemas.microsoft.com/office/drawing/2014/main" id="{0BCC914F-8FD7-B58F-ACBF-7ED39B6FE9BD}"/>
              </a:ext>
            </a:extLst>
          </p:cNvPr>
          <p:cNvSpPr txBox="1"/>
          <p:nvPr/>
        </p:nvSpPr>
        <p:spPr>
          <a:xfrm>
            <a:off x="826722" y="2827759"/>
            <a:ext cx="4530451" cy="338554"/>
          </a:xfrm>
          <a:prstGeom prst="rect">
            <a:avLst/>
          </a:prstGeom>
          <a:noFill/>
        </p:spPr>
        <p:txBody>
          <a:bodyPr wrap="square">
            <a:spAutoFit/>
          </a:bodyPr>
          <a:lstStyle/>
          <a:p>
            <a:pPr algn="ctr"/>
            <a:r>
              <a:rPr sz="1600" dirty="0"/>
              <a:t>{{birth}}</a:t>
            </a:r>
          </a:p>
        </p:txBody>
      </p:sp>
      <p:sp>
        <p:nvSpPr>
          <p:cNvPr id="15" name="TextBox 2">
            <a:extLst>
              <a:ext uri="{FF2B5EF4-FFF2-40B4-BE49-F238E27FC236}">
                <a16:creationId xmlns:a16="http://schemas.microsoft.com/office/drawing/2014/main" id="{B8549790-191C-B0D5-C6C7-2F81E2D47496}"/>
              </a:ext>
            </a:extLst>
          </p:cNvPr>
          <p:cNvSpPr txBox="1"/>
          <p:nvPr/>
        </p:nvSpPr>
        <p:spPr>
          <a:xfrm>
            <a:off x="826722" y="3367573"/>
            <a:ext cx="4530451" cy="338554"/>
          </a:xfrm>
          <a:prstGeom prst="rect">
            <a:avLst/>
          </a:prstGeom>
          <a:noFill/>
        </p:spPr>
        <p:txBody>
          <a:bodyPr wrap="square">
            <a:spAutoFit/>
          </a:bodyPr>
          <a:lstStyle/>
          <a:p>
            <a:pPr algn="ctr"/>
            <a:r>
              <a:rPr lang="en-US" sz="1600" dirty="0"/>
              <a:t>{{phone}}</a:t>
            </a:r>
          </a:p>
        </p:txBody>
      </p:sp>
      <p:sp>
        <p:nvSpPr>
          <p:cNvPr id="16" name="TextBox 2">
            <a:extLst>
              <a:ext uri="{FF2B5EF4-FFF2-40B4-BE49-F238E27FC236}">
                <a16:creationId xmlns:a16="http://schemas.microsoft.com/office/drawing/2014/main" id="{FD7B4A86-DE62-3620-E6DF-17D668BA9648}"/>
              </a:ext>
            </a:extLst>
          </p:cNvPr>
          <p:cNvSpPr txBox="1"/>
          <p:nvPr/>
        </p:nvSpPr>
        <p:spPr>
          <a:xfrm>
            <a:off x="826722" y="3086167"/>
            <a:ext cx="4530451" cy="338554"/>
          </a:xfrm>
          <a:prstGeom prst="rect">
            <a:avLst/>
          </a:prstGeom>
          <a:noFill/>
        </p:spPr>
        <p:txBody>
          <a:bodyPr wrap="square">
            <a:spAutoFit/>
          </a:bodyPr>
          <a:lstStyle/>
          <a:p>
            <a:pPr algn="ctr"/>
            <a:r>
              <a:rPr lang="en-US" sz="1600" dirty="0"/>
              <a:t>{{</a:t>
            </a:r>
            <a:r>
              <a:rPr lang="en-US" sz="1600" dirty="0" err="1"/>
              <a:t>adress</a:t>
            </a:r>
            <a:r>
              <a:rPr lang="en-US" sz="1600" dirty="0"/>
              <a:t>}}</a:t>
            </a:r>
          </a:p>
        </p:txBody>
      </p:sp>
      <p:sp>
        <p:nvSpPr>
          <p:cNvPr id="17" name="TextBox 14">
            <a:extLst>
              <a:ext uri="{FF2B5EF4-FFF2-40B4-BE49-F238E27FC236}">
                <a16:creationId xmlns:a16="http://schemas.microsoft.com/office/drawing/2014/main" id="{D2C886FD-833E-5E53-2560-D3FFCBECB064}"/>
              </a:ext>
            </a:extLst>
          </p:cNvPr>
          <p:cNvSpPr txBox="1"/>
          <p:nvPr/>
        </p:nvSpPr>
        <p:spPr>
          <a:xfrm>
            <a:off x="882650" y="5307354"/>
            <a:ext cx="907328" cy="338554"/>
          </a:xfrm>
          <a:prstGeom prst="rect">
            <a:avLst/>
          </a:prstGeom>
          <a:noFill/>
        </p:spPr>
        <p:txBody>
          <a:bodyPr wrap="square">
            <a:spAutoFit/>
          </a:bodyPr>
          <a:lstStyle/>
          <a:p>
            <a:pPr algn="ctr"/>
            <a:r>
              <a:rPr sz="1600" dirty="0"/>
              <a:t>{{date}}</a:t>
            </a:r>
          </a:p>
        </p:txBody>
      </p:sp>
      <p:sp>
        <p:nvSpPr>
          <p:cNvPr id="18" name="TextBox 16">
            <a:extLst>
              <a:ext uri="{FF2B5EF4-FFF2-40B4-BE49-F238E27FC236}">
                <a16:creationId xmlns:a16="http://schemas.microsoft.com/office/drawing/2014/main" id="{F860DE53-2015-D429-BA80-D9023F7894A8}"/>
              </a:ext>
            </a:extLst>
          </p:cNvPr>
          <p:cNvSpPr txBox="1"/>
          <p:nvPr/>
        </p:nvSpPr>
        <p:spPr>
          <a:xfrm>
            <a:off x="1878027" y="5307354"/>
            <a:ext cx="919354" cy="338554"/>
          </a:xfrm>
          <a:prstGeom prst="rect">
            <a:avLst/>
          </a:prstGeom>
          <a:noFill/>
        </p:spPr>
        <p:txBody>
          <a:bodyPr wrap="none">
            <a:spAutoFit/>
          </a:bodyPr>
          <a:lstStyle/>
          <a:p>
            <a:pPr algn="ctr"/>
            <a:r>
              <a:rPr sz="1600" dirty="0"/>
              <a:t>{{</a:t>
            </a:r>
            <a:r>
              <a:rPr sz="1600" dirty="0" err="1"/>
              <a:t>dgree</a:t>
            </a:r>
            <a:r>
              <a:rPr sz="1600" dirty="0"/>
              <a:t>}}</a:t>
            </a:r>
          </a:p>
        </p:txBody>
      </p:sp>
      <p:sp>
        <p:nvSpPr>
          <p:cNvPr id="19" name="TextBox 18">
            <a:extLst>
              <a:ext uri="{FF2B5EF4-FFF2-40B4-BE49-F238E27FC236}">
                <a16:creationId xmlns:a16="http://schemas.microsoft.com/office/drawing/2014/main" id="{C786562F-C025-6917-674C-B21E2A606554}"/>
              </a:ext>
            </a:extLst>
          </p:cNvPr>
          <p:cNvSpPr txBox="1"/>
          <p:nvPr/>
        </p:nvSpPr>
        <p:spPr>
          <a:xfrm>
            <a:off x="2821023" y="5305969"/>
            <a:ext cx="1015599" cy="338554"/>
          </a:xfrm>
          <a:prstGeom prst="rect">
            <a:avLst/>
          </a:prstGeom>
          <a:noFill/>
        </p:spPr>
        <p:txBody>
          <a:bodyPr wrap="none">
            <a:spAutoFit/>
          </a:bodyPr>
          <a:lstStyle/>
          <a:p>
            <a:pPr algn="ctr"/>
            <a:r>
              <a:rPr sz="1600" dirty="0"/>
              <a:t>{{branch}}</a:t>
            </a:r>
          </a:p>
        </p:txBody>
      </p:sp>
      <p:sp>
        <p:nvSpPr>
          <p:cNvPr id="20" name="TextBox 20">
            <a:extLst>
              <a:ext uri="{FF2B5EF4-FFF2-40B4-BE49-F238E27FC236}">
                <a16:creationId xmlns:a16="http://schemas.microsoft.com/office/drawing/2014/main" id="{5260F4B2-323E-0EE7-2950-5AD671DEA90B}"/>
              </a:ext>
            </a:extLst>
          </p:cNvPr>
          <p:cNvSpPr txBox="1"/>
          <p:nvPr/>
        </p:nvSpPr>
        <p:spPr>
          <a:xfrm>
            <a:off x="3909424" y="5305969"/>
            <a:ext cx="825739" cy="338554"/>
          </a:xfrm>
          <a:prstGeom prst="rect">
            <a:avLst/>
          </a:prstGeom>
          <a:noFill/>
        </p:spPr>
        <p:txBody>
          <a:bodyPr wrap="none">
            <a:spAutoFit/>
          </a:bodyPr>
          <a:lstStyle/>
          <a:p>
            <a:pPr algn="ctr"/>
            <a:r>
              <a:rPr sz="1600" dirty="0"/>
              <a:t>{{local}}</a:t>
            </a:r>
          </a:p>
        </p:txBody>
      </p:sp>
      <p:sp>
        <p:nvSpPr>
          <p:cNvPr id="21" name="TextBox 22">
            <a:extLst>
              <a:ext uri="{FF2B5EF4-FFF2-40B4-BE49-F238E27FC236}">
                <a16:creationId xmlns:a16="http://schemas.microsoft.com/office/drawing/2014/main" id="{6BA8FA1A-DE3E-3923-2CE0-563C9578B972}"/>
              </a:ext>
            </a:extLst>
          </p:cNvPr>
          <p:cNvSpPr txBox="1"/>
          <p:nvPr/>
        </p:nvSpPr>
        <p:spPr>
          <a:xfrm>
            <a:off x="4823212" y="5305969"/>
            <a:ext cx="1067921" cy="338554"/>
          </a:xfrm>
          <a:prstGeom prst="rect">
            <a:avLst/>
          </a:prstGeom>
          <a:noFill/>
        </p:spPr>
        <p:txBody>
          <a:bodyPr wrap="none">
            <a:spAutoFit/>
          </a:bodyPr>
          <a:lstStyle/>
          <a:p>
            <a:pPr algn="ctr"/>
            <a:r>
              <a:rPr sz="1600" dirty="0"/>
              <a:t>{{</a:t>
            </a:r>
            <a:r>
              <a:rPr sz="1600" dirty="0" err="1"/>
              <a:t>moahel</a:t>
            </a:r>
            <a:r>
              <a:rPr sz="1600" dirty="0"/>
              <a:t>}}</a:t>
            </a:r>
          </a:p>
        </p:txBody>
      </p:sp>
      <p:sp>
        <p:nvSpPr>
          <p:cNvPr id="22" name="TextBox 24">
            <a:extLst>
              <a:ext uri="{FF2B5EF4-FFF2-40B4-BE49-F238E27FC236}">
                <a16:creationId xmlns:a16="http://schemas.microsoft.com/office/drawing/2014/main" id="{FFA1EF6E-C1D4-A422-A3BF-1D026872444E}"/>
              </a:ext>
            </a:extLst>
          </p:cNvPr>
          <p:cNvSpPr txBox="1"/>
          <p:nvPr/>
        </p:nvSpPr>
        <p:spPr>
          <a:xfrm>
            <a:off x="5885722" y="5305969"/>
            <a:ext cx="941989" cy="338554"/>
          </a:xfrm>
          <a:prstGeom prst="rect">
            <a:avLst/>
          </a:prstGeom>
          <a:noFill/>
        </p:spPr>
        <p:txBody>
          <a:bodyPr wrap="none">
            <a:spAutoFit/>
          </a:bodyPr>
          <a:lstStyle/>
          <a:p>
            <a:pPr algn="ctr"/>
            <a:r>
              <a:rPr sz="1600" dirty="0"/>
              <a:t>{{</a:t>
            </a:r>
            <a:r>
              <a:rPr sz="1600" dirty="0" err="1"/>
              <a:t>tahsel</a:t>
            </a:r>
            <a:r>
              <a:rPr sz="1600" dirty="0"/>
              <a:t>}}</a:t>
            </a:r>
          </a:p>
        </p:txBody>
      </p:sp>
      <p:sp>
        <p:nvSpPr>
          <p:cNvPr id="23" name="TextBox 26">
            <a:extLst>
              <a:ext uri="{FF2B5EF4-FFF2-40B4-BE49-F238E27FC236}">
                <a16:creationId xmlns:a16="http://schemas.microsoft.com/office/drawing/2014/main" id="{B06014A1-BB23-BA81-126B-0B340E5C5C7B}"/>
              </a:ext>
            </a:extLst>
          </p:cNvPr>
          <p:cNvSpPr txBox="1"/>
          <p:nvPr/>
        </p:nvSpPr>
        <p:spPr>
          <a:xfrm>
            <a:off x="826722" y="6577255"/>
            <a:ext cx="1503728" cy="338554"/>
          </a:xfrm>
          <a:prstGeom prst="rect">
            <a:avLst/>
          </a:prstGeom>
          <a:noFill/>
        </p:spPr>
        <p:txBody>
          <a:bodyPr wrap="square">
            <a:spAutoFit/>
          </a:bodyPr>
          <a:lstStyle/>
          <a:p>
            <a:pPr algn="ctr"/>
            <a:r>
              <a:rPr sz="1600" dirty="0"/>
              <a:t>{{one}}</a:t>
            </a:r>
          </a:p>
        </p:txBody>
      </p:sp>
      <p:sp>
        <p:nvSpPr>
          <p:cNvPr id="24" name="TextBox 28">
            <a:extLst>
              <a:ext uri="{FF2B5EF4-FFF2-40B4-BE49-F238E27FC236}">
                <a16:creationId xmlns:a16="http://schemas.microsoft.com/office/drawing/2014/main" id="{82987FFA-96A5-EDBA-B372-F63C3B77518C}"/>
              </a:ext>
            </a:extLst>
          </p:cNvPr>
          <p:cNvSpPr txBox="1"/>
          <p:nvPr/>
        </p:nvSpPr>
        <p:spPr>
          <a:xfrm>
            <a:off x="2349220" y="6597820"/>
            <a:ext cx="1487402" cy="338554"/>
          </a:xfrm>
          <a:prstGeom prst="rect">
            <a:avLst/>
          </a:prstGeom>
          <a:noFill/>
        </p:spPr>
        <p:txBody>
          <a:bodyPr wrap="square">
            <a:spAutoFit/>
          </a:bodyPr>
          <a:lstStyle/>
          <a:p>
            <a:pPr algn="ctr"/>
            <a:r>
              <a:rPr sz="1600" dirty="0"/>
              <a:t>{{start}}</a:t>
            </a:r>
          </a:p>
        </p:txBody>
      </p:sp>
      <p:sp>
        <p:nvSpPr>
          <p:cNvPr id="25" name="TextBox 30">
            <a:extLst>
              <a:ext uri="{FF2B5EF4-FFF2-40B4-BE49-F238E27FC236}">
                <a16:creationId xmlns:a16="http://schemas.microsoft.com/office/drawing/2014/main" id="{D723864B-FC2C-D7F9-7CB1-3E9AB8DE6979}"/>
              </a:ext>
            </a:extLst>
          </p:cNvPr>
          <p:cNvSpPr txBox="1"/>
          <p:nvPr/>
        </p:nvSpPr>
        <p:spPr>
          <a:xfrm>
            <a:off x="3852948" y="6577255"/>
            <a:ext cx="1487402" cy="338554"/>
          </a:xfrm>
          <a:prstGeom prst="rect">
            <a:avLst/>
          </a:prstGeom>
          <a:noFill/>
        </p:spPr>
        <p:txBody>
          <a:bodyPr wrap="square">
            <a:spAutoFit/>
          </a:bodyPr>
          <a:lstStyle/>
          <a:p>
            <a:pPr algn="ctr"/>
            <a:r>
              <a:rPr sz="1600" dirty="0"/>
              <a:t>{{step}}</a:t>
            </a:r>
          </a:p>
        </p:txBody>
      </p:sp>
      <p:sp>
        <p:nvSpPr>
          <p:cNvPr id="26" name="TextBox 32">
            <a:extLst>
              <a:ext uri="{FF2B5EF4-FFF2-40B4-BE49-F238E27FC236}">
                <a16:creationId xmlns:a16="http://schemas.microsoft.com/office/drawing/2014/main" id="{D4F37C35-E8E5-E5E5-BFC6-808161044863}"/>
              </a:ext>
            </a:extLst>
          </p:cNvPr>
          <p:cNvSpPr txBox="1"/>
          <p:nvPr/>
        </p:nvSpPr>
        <p:spPr>
          <a:xfrm>
            <a:off x="5356676" y="6597820"/>
            <a:ext cx="1471035" cy="338554"/>
          </a:xfrm>
          <a:prstGeom prst="rect">
            <a:avLst/>
          </a:prstGeom>
          <a:noFill/>
        </p:spPr>
        <p:txBody>
          <a:bodyPr wrap="square">
            <a:spAutoFit/>
          </a:bodyPr>
          <a:lstStyle/>
          <a:p>
            <a:pPr algn="ctr"/>
            <a:r>
              <a:rPr sz="1600" dirty="0"/>
              <a:t>{{teacher}}</a:t>
            </a:r>
          </a:p>
        </p:txBody>
      </p:sp>
    </p:spTree>
    <p:extLst>
      <p:ext uri="{BB962C8B-B14F-4D97-AF65-F5344CB8AC3E}">
        <p14:creationId xmlns:p14="http://schemas.microsoft.com/office/powerpoint/2010/main" val="17450562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D461D-458C-C7F9-0D93-C2BAC5FF17C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A097FAE-E331-1116-669D-4146A5B2C9ED}"/>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256E4866-DB62-EA81-37C1-0A52E6672DA8}"/>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15CD7919-87C3-001D-4ECC-8B03D732B8E8}"/>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577E34CA-E72C-B6F0-9AE8-2AD44E967E2E}"/>
              </a:ext>
            </a:extLst>
          </p:cNvPr>
          <p:cNvSpPr txBox="1"/>
          <p:nvPr/>
        </p:nvSpPr>
        <p:spPr>
          <a:xfrm>
            <a:off x="2452227" y="1753869"/>
            <a:ext cx="2652041"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ts val="4200"/>
              </a:lnSpc>
              <a:spcBef>
                <a:spcPct val="0"/>
              </a:spcBef>
              <a:defRPr sz="2000"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أداء الواجبات الوظيفية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a:t>
            </a:r>
          </a:p>
        </p:txBody>
      </p:sp>
      <p:graphicFrame>
        <p:nvGraphicFramePr>
          <p:cNvPr id="6" name="جدول 5">
            <a:extLst>
              <a:ext uri="{FF2B5EF4-FFF2-40B4-BE49-F238E27FC236}">
                <a16:creationId xmlns:a16="http://schemas.microsoft.com/office/drawing/2014/main" id="{2FE7D92B-D451-721E-9695-C5849E622C26}"/>
              </a:ext>
            </a:extLst>
          </p:cNvPr>
          <p:cNvGraphicFramePr>
            <a:graphicFrameLocks noGrp="1"/>
          </p:cNvGraphicFramePr>
          <p:nvPr>
            <p:extLst>
              <p:ext uri="{D42A27DB-BD31-4B8C-83A1-F6EECF244321}">
                <p14:modId xmlns:p14="http://schemas.microsoft.com/office/powerpoint/2010/main" val="1218917646"/>
              </p:ext>
            </p:extLst>
          </p:nvPr>
        </p:nvGraphicFramePr>
        <p:xfrm>
          <a:off x="854059" y="3131347"/>
          <a:ext cx="5848379" cy="1828800"/>
        </p:xfrm>
        <a:graphic>
          <a:graphicData uri="http://schemas.openxmlformats.org/drawingml/2006/table">
            <a:tbl>
              <a:tblPr rtl="1" firstRow="1" bandRow="1">
                <a:tableStyleId>{2D5ABB26-0587-4C30-8999-92F81FD0307C}</a:tableStyleId>
              </a:tblPr>
              <a:tblGrid>
                <a:gridCol w="3325589">
                  <a:extLst>
                    <a:ext uri="{9D8B030D-6E8A-4147-A177-3AD203B41FA5}">
                      <a16:colId xmlns:a16="http://schemas.microsoft.com/office/drawing/2014/main" val="315138284"/>
                    </a:ext>
                  </a:extLst>
                </a:gridCol>
                <a:gridCol w="1261395">
                  <a:extLst>
                    <a:ext uri="{9D8B030D-6E8A-4147-A177-3AD203B41FA5}">
                      <a16:colId xmlns:a16="http://schemas.microsoft.com/office/drawing/2014/main" val="3931588184"/>
                    </a:ext>
                  </a:extLst>
                </a:gridCol>
                <a:gridCol w="1261395">
                  <a:extLst>
                    <a:ext uri="{9D8B030D-6E8A-4147-A177-3AD203B41FA5}">
                      <a16:colId xmlns:a16="http://schemas.microsoft.com/office/drawing/2014/main" val="408297873"/>
                    </a:ext>
                  </a:extLst>
                </a:gridCol>
              </a:tblGrid>
              <a:tr h="28800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4C2C6"/>
                    </a:solidFill>
                  </a:tcPr>
                </a:tc>
                <a:extLst>
                  <a:ext uri="{0D108BD9-81ED-4DB2-BD59-A6C34878D82A}">
                    <a16:rowId xmlns:a16="http://schemas.microsoft.com/office/drawing/2014/main" val="3681228051"/>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1. التقيد بالدوام الرسمي</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68833806"/>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2. تأدية الحصص وفق الجدول</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2417266"/>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3. المشاركة في الإشراف والمناوبة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93305950"/>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4. إعداد ومتابعة الدروس والواجبات</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97BB0114-99FD-BDA6-DA0A-C8B208C94A3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080717" y="8099483"/>
            <a:ext cx="3395062" cy="1900626"/>
          </a:xfrm>
          <a:prstGeom prst="rect">
            <a:avLst/>
          </a:prstGeom>
        </p:spPr>
      </p:pic>
      <p:pic>
        <p:nvPicPr>
          <p:cNvPr id="8" name="صورة 7">
            <a:extLst>
              <a:ext uri="{FF2B5EF4-FFF2-40B4-BE49-F238E27FC236}">
                <a16:creationId xmlns:a16="http://schemas.microsoft.com/office/drawing/2014/main" id="{256F302E-3673-A929-7CE3-9409B3AB2E6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672840" y="5632881"/>
            <a:ext cx="4210816" cy="2357302"/>
          </a:xfrm>
          <a:prstGeom prst="rect">
            <a:avLst/>
          </a:prstGeom>
        </p:spPr>
      </p:pic>
      <p:pic>
        <p:nvPicPr>
          <p:cNvPr id="9" name="صورة 8">
            <a:extLst>
              <a:ext uri="{FF2B5EF4-FFF2-40B4-BE49-F238E27FC236}">
                <a16:creationId xmlns:a16="http://schemas.microsoft.com/office/drawing/2014/main" id="{BA785A6B-FD59-ABBE-C985-1A98DA6F491F}"/>
              </a:ext>
            </a:extLst>
          </p:cNvPr>
          <p:cNvPicPr>
            <a:picLocks noChangeAspect="1"/>
          </p:cNvPicPr>
          <p:nvPr/>
        </p:nvPicPr>
        <p:blipFill>
          <a:blip r:embed="rId7" cstate="print">
            <a:extLst>
              <a:ext uri="{28A0092B-C50C-407E-A947-70E740481C1C}">
                <a14:useLocalDpi xmlns:a14="http://schemas.microsoft.com/office/drawing/2010/main" val="0"/>
              </a:ext>
            </a:extLst>
          </a:blip>
          <a:srcRect l="1166"/>
          <a:stretch/>
        </p:blipFill>
        <p:spPr>
          <a:xfrm>
            <a:off x="0" y="8287796"/>
            <a:ext cx="2690550" cy="1524000"/>
          </a:xfrm>
          <a:prstGeom prst="rect">
            <a:avLst/>
          </a:prstGeom>
        </p:spPr>
      </p:pic>
      <p:sp>
        <p:nvSpPr>
          <p:cNvPr id="10" name="TextBox 2">
            <a:extLst>
              <a:ext uri="{FF2B5EF4-FFF2-40B4-BE49-F238E27FC236}">
                <a16:creationId xmlns:a16="http://schemas.microsoft.com/office/drawing/2014/main" id="{35BB5D62-D95D-ADAC-5F73-03C8D80D2EFE}"/>
              </a:ext>
            </a:extLst>
          </p:cNvPr>
          <p:cNvSpPr txBox="1"/>
          <p:nvPr/>
        </p:nvSpPr>
        <p:spPr>
          <a:xfrm>
            <a:off x="2759932" y="6642255"/>
            <a:ext cx="2036629" cy="338554"/>
          </a:xfrm>
          <a:prstGeom prst="rect">
            <a:avLst/>
          </a:prstGeom>
          <a:noFill/>
        </p:spPr>
        <p:txBody>
          <a:bodyPr wrap="square">
            <a:spAutoFit/>
          </a:bodyPr>
          <a:lstStyle/>
          <a:p>
            <a:pPr algn="ctr"/>
            <a:r>
              <a:rPr lang="en-US" sz="1600" dirty="0"/>
              <a:t>{{qr1}}</a:t>
            </a:r>
          </a:p>
        </p:txBody>
      </p:sp>
    </p:spTree>
    <p:extLst>
      <p:ext uri="{BB962C8B-B14F-4D97-AF65-F5344CB8AC3E}">
        <p14:creationId xmlns:p14="http://schemas.microsoft.com/office/powerpoint/2010/main" val="1156145864"/>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3956B-536B-F470-A77B-6BB9E7A59CA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151998E-FE39-594E-F488-EB86F9F8061B}"/>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4EE31101-5719-D416-2211-A2044EDFBF63}"/>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E3B333E1-DA1B-1FBA-2EB7-33998539A5B1}"/>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96EC10AA-A028-AA73-21A5-09249D51EDA0}"/>
              </a:ext>
            </a:extLst>
          </p:cNvPr>
          <p:cNvSpPr txBox="1"/>
          <p:nvPr/>
        </p:nvSpPr>
        <p:spPr>
          <a:xfrm>
            <a:off x="2802637" y="1664803"/>
            <a:ext cx="2165905"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التفاعل مع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المجتمع المهني 10%</a:t>
            </a:r>
          </a:p>
        </p:txBody>
      </p:sp>
      <p:graphicFrame>
        <p:nvGraphicFramePr>
          <p:cNvPr id="6" name="جدول 5">
            <a:extLst>
              <a:ext uri="{FF2B5EF4-FFF2-40B4-BE49-F238E27FC236}">
                <a16:creationId xmlns:a16="http://schemas.microsoft.com/office/drawing/2014/main" id="{A9A3BB25-50DB-BC7B-A9A4-6AC105AEFAF4}"/>
              </a:ext>
            </a:extLst>
          </p:cNvPr>
          <p:cNvGraphicFramePr>
            <a:graphicFrameLocks noGrp="1"/>
          </p:cNvGraphicFramePr>
          <p:nvPr>
            <p:extLst>
              <p:ext uri="{D42A27DB-BD31-4B8C-83A1-F6EECF244321}">
                <p14:modId xmlns:p14="http://schemas.microsoft.com/office/powerpoint/2010/main" val="1716082063"/>
              </p:ext>
            </p:extLst>
          </p:nvPr>
        </p:nvGraphicFramePr>
        <p:xfrm>
          <a:off x="960589" y="2610794"/>
          <a:ext cx="5850000" cy="3721608"/>
        </p:xfrm>
        <a:graphic>
          <a:graphicData uri="http://schemas.openxmlformats.org/drawingml/2006/table">
            <a:tbl>
              <a:tblPr rtl="1" firstRow="1" bandRow="1">
                <a:tableStyleId>{2D5ABB26-0587-4C30-8999-92F81FD0307C}</a:tableStyleId>
              </a:tblPr>
              <a:tblGrid>
                <a:gridCol w="3593248">
                  <a:extLst>
                    <a:ext uri="{9D8B030D-6E8A-4147-A177-3AD203B41FA5}">
                      <a16:colId xmlns:a16="http://schemas.microsoft.com/office/drawing/2014/main" val="315138284"/>
                    </a:ext>
                  </a:extLst>
                </a:gridCol>
                <a:gridCol w="1128376">
                  <a:extLst>
                    <a:ext uri="{9D8B030D-6E8A-4147-A177-3AD203B41FA5}">
                      <a16:colId xmlns:a16="http://schemas.microsoft.com/office/drawing/2014/main" val="3931588184"/>
                    </a:ext>
                  </a:extLst>
                </a:gridCol>
                <a:gridCol w="1128376">
                  <a:extLst>
                    <a:ext uri="{9D8B030D-6E8A-4147-A177-3AD203B41FA5}">
                      <a16:colId xmlns:a16="http://schemas.microsoft.com/office/drawing/2014/main" val="408297873"/>
                    </a:ext>
                  </a:extLst>
                </a:gridCol>
              </a:tblGrid>
              <a:tr h="157609">
                <a:tc>
                  <a:txBody>
                    <a:bodyPr/>
                    <a:lstStyle/>
                    <a:p>
                      <a:pPr marL="0" algn="ctr" defTabSz="914400" rtl="1" eaLnBrk="1" latinLnBrk="0" hangingPunct="1"/>
                      <a:r>
                        <a:rPr lang="ar-SA" sz="1800" b="1" kern="12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157609">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حضور المؤتمرات والندوات التعليمية.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المشاركة في ورش العمل التدريبية لتحسين المهارات التعليمية.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72529981"/>
                  </a:ext>
                </a:extLst>
              </a:tr>
              <a:tr h="244828">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تقديم استشارات تربوية للمعلمين الجدد.</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إطلاق مبادرات تعليمية لتحسين جودة التعليم.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9059949"/>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5. الالتحاق ببرامج تدريبية لتعلم أساليب تدريس حديثة.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6. الحصول على شهادات مهنية معتمدة في مجال التعليم.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00606635"/>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 7. تبادل الخبرات مع المعلمين من مدارس أخرى.</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0142558"/>
                  </a:ext>
                </a:extLst>
              </a:tr>
            </a:tbl>
          </a:graphicData>
        </a:graphic>
      </p:graphicFrame>
      <p:pic>
        <p:nvPicPr>
          <p:cNvPr id="7" name="صورة 6">
            <a:extLst>
              <a:ext uri="{FF2B5EF4-FFF2-40B4-BE49-F238E27FC236}">
                <a16:creationId xmlns:a16="http://schemas.microsoft.com/office/drawing/2014/main" id="{ABDAB94D-18BC-3E54-E422-ABD23FB43A2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493949" y="8851900"/>
            <a:ext cx="2568601" cy="1437956"/>
          </a:xfrm>
          <a:prstGeom prst="rect">
            <a:avLst/>
          </a:prstGeom>
        </p:spPr>
      </p:pic>
      <p:pic>
        <p:nvPicPr>
          <p:cNvPr id="9" name="صورة 8">
            <a:extLst>
              <a:ext uri="{FF2B5EF4-FFF2-40B4-BE49-F238E27FC236}">
                <a16:creationId xmlns:a16="http://schemas.microsoft.com/office/drawing/2014/main" id="{BF7DD471-C06D-4559-B5B0-421C9E4DEB4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35347" y="8770802"/>
            <a:ext cx="2258602" cy="1264412"/>
          </a:xfrm>
          <a:prstGeom prst="rect">
            <a:avLst/>
          </a:prstGeom>
        </p:spPr>
      </p:pic>
      <p:pic>
        <p:nvPicPr>
          <p:cNvPr id="8" name="صورة 7">
            <a:extLst>
              <a:ext uri="{FF2B5EF4-FFF2-40B4-BE49-F238E27FC236}">
                <a16:creationId xmlns:a16="http://schemas.microsoft.com/office/drawing/2014/main" id="{566DA74B-2FBC-E5A2-BC5A-26F77594DD21}"/>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47874" y="6454049"/>
            <a:ext cx="4210816" cy="2357302"/>
          </a:xfrm>
          <a:prstGeom prst="rect">
            <a:avLst/>
          </a:prstGeom>
        </p:spPr>
      </p:pic>
      <p:sp>
        <p:nvSpPr>
          <p:cNvPr id="11" name="TextBox 2">
            <a:extLst>
              <a:ext uri="{FF2B5EF4-FFF2-40B4-BE49-F238E27FC236}">
                <a16:creationId xmlns:a16="http://schemas.microsoft.com/office/drawing/2014/main" id="{99A4321F-5A48-26C5-3EED-1FE4FDB11174}"/>
              </a:ext>
            </a:extLst>
          </p:cNvPr>
          <p:cNvSpPr txBox="1"/>
          <p:nvPr/>
        </p:nvSpPr>
        <p:spPr>
          <a:xfrm>
            <a:off x="2734968" y="7463423"/>
            <a:ext cx="2036629" cy="338554"/>
          </a:xfrm>
          <a:prstGeom prst="rect">
            <a:avLst/>
          </a:prstGeom>
          <a:noFill/>
        </p:spPr>
        <p:txBody>
          <a:bodyPr wrap="square">
            <a:spAutoFit/>
          </a:bodyPr>
          <a:lstStyle/>
          <a:p>
            <a:pPr algn="ctr"/>
            <a:r>
              <a:rPr lang="en-US" sz="1600" dirty="0"/>
              <a:t>{{qr2}}</a:t>
            </a:r>
          </a:p>
        </p:txBody>
      </p:sp>
    </p:spTree>
    <p:extLst>
      <p:ext uri="{BB962C8B-B14F-4D97-AF65-F5344CB8AC3E}">
        <p14:creationId xmlns:p14="http://schemas.microsoft.com/office/powerpoint/2010/main" val="20899545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F11A1-965B-A7A5-9FC5-1B7CD140927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E0CC2F0-195C-B0CA-E8FD-D09AC0CFAACE}"/>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6EDF0FBD-F797-E8F3-68A3-23427985F4DD}"/>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28C342F2-44C2-5B5F-2B07-3AF091130B8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7BBB630A-15C2-C644-8987-A5A0E996F54F}"/>
              </a:ext>
            </a:extLst>
          </p:cNvPr>
          <p:cNvSpPr txBox="1"/>
          <p:nvPr/>
        </p:nvSpPr>
        <p:spPr>
          <a:xfrm>
            <a:off x="2529148" y="1944103"/>
            <a:ext cx="2165905"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التفاعل مع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أولياء الأمور 10 %</a:t>
            </a:r>
          </a:p>
        </p:txBody>
      </p:sp>
      <p:graphicFrame>
        <p:nvGraphicFramePr>
          <p:cNvPr id="6" name="جدول 5">
            <a:extLst>
              <a:ext uri="{FF2B5EF4-FFF2-40B4-BE49-F238E27FC236}">
                <a16:creationId xmlns:a16="http://schemas.microsoft.com/office/drawing/2014/main" id="{5451F65C-505E-EF27-1E64-3331FD426D66}"/>
              </a:ext>
            </a:extLst>
          </p:cNvPr>
          <p:cNvGraphicFramePr>
            <a:graphicFrameLocks noGrp="1"/>
          </p:cNvGraphicFramePr>
          <p:nvPr>
            <p:extLst>
              <p:ext uri="{D42A27DB-BD31-4B8C-83A1-F6EECF244321}">
                <p14:modId xmlns:p14="http://schemas.microsoft.com/office/powerpoint/2010/main" val="360474739"/>
              </p:ext>
            </p:extLst>
          </p:nvPr>
        </p:nvGraphicFramePr>
        <p:xfrm>
          <a:off x="853249" y="3054536"/>
          <a:ext cx="5849999" cy="3222683"/>
        </p:xfrm>
        <a:graphic>
          <a:graphicData uri="http://schemas.openxmlformats.org/drawingml/2006/table">
            <a:tbl>
              <a:tblPr rtl="1" firstRow="1" bandRow="1">
                <a:tableStyleId>{2D5ABB26-0587-4C30-8999-92F81FD0307C}</a:tableStyleId>
              </a:tblPr>
              <a:tblGrid>
                <a:gridCol w="3593251">
                  <a:extLst>
                    <a:ext uri="{9D8B030D-6E8A-4147-A177-3AD203B41FA5}">
                      <a16:colId xmlns:a16="http://schemas.microsoft.com/office/drawing/2014/main" val="315138284"/>
                    </a:ext>
                  </a:extLst>
                </a:gridCol>
                <a:gridCol w="1128374">
                  <a:extLst>
                    <a:ext uri="{9D8B030D-6E8A-4147-A177-3AD203B41FA5}">
                      <a16:colId xmlns:a16="http://schemas.microsoft.com/office/drawing/2014/main" val="3931588184"/>
                    </a:ext>
                  </a:extLst>
                </a:gridCol>
                <a:gridCol w="1128374">
                  <a:extLst>
                    <a:ext uri="{9D8B030D-6E8A-4147-A177-3AD203B41FA5}">
                      <a16:colId xmlns:a16="http://schemas.microsoft.com/office/drawing/2014/main" val="408297873"/>
                    </a:ext>
                  </a:extLst>
                </a:gridCol>
              </a:tblGrid>
              <a:tr h="383471">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تنظيم اجتماعات دورية مع أولياء الأمور لمناقشة تقدم الطلاب.</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إرسال تقارير منتظمة عن أداء الطلاب أكاديميًا وسلوكيًا.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استخدام وسائل التواصل الحديثة مثل البريد الإلكتروني أو التطبيقات التعليمية لإبقاء أولياء الأمور على اطلاع.</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الاستماع لملاحظات أولياء الأمور والعمل على تحسين الأداء بناءً عليها.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911C0611-B156-7DAA-0814-C62228B2642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38998" y="8603835"/>
            <a:ext cx="3278500" cy="1835372"/>
          </a:xfrm>
          <a:prstGeom prst="rect">
            <a:avLst/>
          </a:prstGeom>
        </p:spPr>
      </p:pic>
      <p:pic>
        <p:nvPicPr>
          <p:cNvPr id="10" name="صورة 9">
            <a:extLst>
              <a:ext uri="{FF2B5EF4-FFF2-40B4-BE49-F238E27FC236}">
                <a16:creationId xmlns:a16="http://schemas.microsoft.com/office/drawing/2014/main" id="{0C03EF08-3DF6-61CD-C560-3889C54BA27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35347" y="8770802"/>
            <a:ext cx="2258602" cy="1264412"/>
          </a:xfrm>
          <a:prstGeom prst="rect">
            <a:avLst/>
          </a:prstGeom>
        </p:spPr>
      </p:pic>
      <p:pic>
        <p:nvPicPr>
          <p:cNvPr id="8" name="صورة 7">
            <a:extLst>
              <a:ext uri="{FF2B5EF4-FFF2-40B4-BE49-F238E27FC236}">
                <a16:creationId xmlns:a16="http://schemas.microsoft.com/office/drawing/2014/main" id="{3BDC1456-70AA-0A0D-29E6-0B7B35CC8784}"/>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2" y="6444186"/>
            <a:ext cx="4210816" cy="2357302"/>
          </a:xfrm>
          <a:prstGeom prst="rect">
            <a:avLst/>
          </a:prstGeom>
        </p:spPr>
      </p:pic>
      <p:sp>
        <p:nvSpPr>
          <p:cNvPr id="9" name="TextBox 2">
            <a:extLst>
              <a:ext uri="{FF2B5EF4-FFF2-40B4-BE49-F238E27FC236}">
                <a16:creationId xmlns:a16="http://schemas.microsoft.com/office/drawing/2014/main" id="{0DD41000-8FC3-146C-A0BB-7C00AE36A013}"/>
              </a:ext>
            </a:extLst>
          </p:cNvPr>
          <p:cNvSpPr txBox="1"/>
          <p:nvPr/>
        </p:nvSpPr>
        <p:spPr>
          <a:xfrm>
            <a:off x="2759936" y="7453560"/>
            <a:ext cx="2036629" cy="338554"/>
          </a:xfrm>
          <a:prstGeom prst="rect">
            <a:avLst/>
          </a:prstGeom>
          <a:noFill/>
        </p:spPr>
        <p:txBody>
          <a:bodyPr wrap="square">
            <a:spAutoFit/>
          </a:bodyPr>
          <a:lstStyle/>
          <a:p>
            <a:pPr algn="ctr"/>
            <a:r>
              <a:rPr lang="en-US" sz="1600" dirty="0"/>
              <a:t>{{qr3}}</a:t>
            </a:r>
          </a:p>
        </p:txBody>
      </p:sp>
    </p:spTree>
    <p:extLst>
      <p:ext uri="{BB962C8B-B14F-4D97-AF65-F5344CB8AC3E}">
        <p14:creationId xmlns:p14="http://schemas.microsoft.com/office/powerpoint/2010/main" val="458718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46957-0105-5368-0E63-8552B9F4928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CA25627-A07D-6265-C35A-DD65A0B08FB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A7290EA5-CE84-9984-B506-05FB92EB2BD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B8B2C7B9-8734-1D05-C3F3-CA3CEFE1B974}"/>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12" name="TextBox 3">
            <a:extLst>
              <a:ext uri="{FF2B5EF4-FFF2-40B4-BE49-F238E27FC236}">
                <a16:creationId xmlns:a16="http://schemas.microsoft.com/office/drawing/2014/main" id="{175C619B-3985-11F8-A83A-B11532812DFE}"/>
              </a:ext>
            </a:extLst>
          </p:cNvPr>
          <p:cNvSpPr txBox="1"/>
          <p:nvPr/>
        </p:nvSpPr>
        <p:spPr>
          <a:xfrm>
            <a:off x="1926615" y="1553266"/>
            <a:ext cx="3703266"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التنويع</a:t>
            </a:r>
            <a:r>
              <a:rPr lang="ar-SA" sz="2400" b="1" dirty="0">
                <a:latin typeface="Sakkal Majalla" panose="02000000000000000000" pitchFamily="2" charset="-78"/>
                <a:cs typeface="Sakkal Majalla" panose="02000000000000000000" pitchFamily="2" charset="-78"/>
                <a:sym typeface="GE SS Two Light"/>
              </a:rPr>
              <a:t> </a:t>
            </a:r>
            <a:r>
              <a:rPr lang="ar-EG" sz="2400" b="1" dirty="0">
                <a:latin typeface="Sakkal Majalla" panose="02000000000000000000" pitchFamily="2" charset="-78"/>
                <a:cs typeface="Sakkal Majalla" panose="02000000000000000000" pitchFamily="2" charset="-78"/>
                <a:sym typeface="GE SS Two Light"/>
              </a:rPr>
              <a:t>في استراتيجيات التدريس</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 10% </a:t>
            </a:r>
          </a:p>
        </p:txBody>
      </p:sp>
      <p:graphicFrame>
        <p:nvGraphicFramePr>
          <p:cNvPr id="13" name="جدول 12">
            <a:extLst>
              <a:ext uri="{FF2B5EF4-FFF2-40B4-BE49-F238E27FC236}">
                <a16:creationId xmlns:a16="http://schemas.microsoft.com/office/drawing/2014/main" id="{E7623C66-B3DB-0FF2-DE9A-3B8B5A7641E6}"/>
              </a:ext>
            </a:extLst>
          </p:cNvPr>
          <p:cNvGraphicFramePr>
            <a:graphicFrameLocks noGrp="1"/>
          </p:cNvGraphicFramePr>
          <p:nvPr>
            <p:extLst>
              <p:ext uri="{D42A27DB-BD31-4B8C-83A1-F6EECF244321}">
                <p14:modId xmlns:p14="http://schemas.microsoft.com/office/powerpoint/2010/main" val="2130632120"/>
              </p:ext>
            </p:extLst>
          </p:nvPr>
        </p:nvGraphicFramePr>
        <p:xfrm>
          <a:off x="853248" y="2796974"/>
          <a:ext cx="5850000" cy="3196785"/>
        </p:xfrm>
        <a:graphic>
          <a:graphicData uri="http://schemas.openxmlformats.org/drawingml/2006/table">
            <a:tbl>
              <a:tblPr rtl="1" firstRow="1" bandRow="1">
                <a:tableStyleId>{2D5ABB26-0587-4C30-8999-92F81FD0307C}</a:tableStyleId>
              </a:tblPr>
              <a:tblGrid>
                <a:gridCol w="3345556">
                  <a:extLst>
                    <a:ext uri="{9D8B030D-6E8A-4147-A177-3AD203B41FA5}">
                      <a16:colId xmlns:a16="http://schemas.microsoft.com/office/drawing/2014/main" val="315138284"/>
                    </a:ext>
                  </a:extLst>
                </a:gridCol>
                <a:gridCol w="1252222">
                  <a:extLst>
                    <a:ext uri="{9D8B030D-6E8A-4147-A177-3AD203B41FA5}">
                      <a16:colId xmlns:a16="http://schemas.microsoft.com/office/drawing/2014/main" val="3931588184"/>
                    </a:ext>
                  </a:extLst>
                </a:gridCol>
                <a:gridCol w="1252222">
                  <a:extLst>
                    <a:ext uri="{9D8B030D-6E8A-4147-A177-3AD203B41FA5}">
                      <a16:colId xmlns:a16="http://schemas.microsoft.com/office/drawing/2014/main" val="408297873"/>
                    </a:ext>
                  </a:extLst>
                </a:gridCol>
              </a:tblGrid>
              <a:tr h="411664">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710288">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التعلم النشط مثل المناقشات الجماعية والعروض التقديمية.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710288">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تطبيق التعلم القائم على المشاريع لتعزيز الإبداع وحل المشكلات.</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584805">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استخدام الوسائل البصرية والسمعية مثل الفيديوهات والصور.</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779740">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تخصيص أنشطة تعليمية تناسب أنماط التعلم المختلفة (بصري، سمعي، حركي).</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14" name="صورة 13">
            <a:extLst>
              <a:ext uri="{FF2B5EF4-FFF2-40B4-BE49-F238E27FC236}">
                <a16:creationId xmlns:a16="http://schemas.microsoft.com/office/drawing/2014/main" id="{4131D375-61DC-56A0-AF6F-EFCD263FBB9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81572" y="8770802"/>
            <a:ext cx="2993353" cy="1675741"/>
          </a:xfrm>
          <a:prstGeom prst="rect">
            <a:avLst/>
          </a:prstGeom>
        </p:spPr>
      </p:pic>
      <p:pic>
        <p:nvPicPr>
          <p:cNvPr id="18" name="صورة 17">
            <a:extLst>
              <a:ext uri="{FF2B5EF4-FFF2-40B4-BE49-F238E27FC236}">
                <a16:creationId xmlns:a16="http://schemas.microsoft.com/office/drawing/2014/main" id="{BF64D352-D41B-5C2A-09B9-11CF888FDA7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49250" y="9026160"/>
            <a:ext cx="2081065" cy="1165023"/>
          </a:xfrm>
          <a:prstGeom prst="rect">
            <a:avLst/>
          </a:prstGeom>
        </p:spPr>
      </p:pic>
      <p:pic>
        <p:nvPicPr>
          <p:cNvPr id="5" name="صورة 4">
            <a:extLst>
              <a:ext uri="{FF2B5EF4-FFF2-40B4-BE49-F238E27FC236}">
                <a16:creationId xmlns:a16="http://schemas.microsoft.com/office/drawing/2014/main" id="{90EED848-4E18-F48C-AE70-45E8F9E8B19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3" y="6171805"/>
            <a:ext cx="4210816" cy="2357302"/>
          </a:xfrm>
          <a:prstGeom prst="rect">
            <a:avLst/>
          </a:prstGeom>
        </p:spPr>
      </p:pic>
      <p:sp>
        <p:nvSpPr>
          <p:cNvPr id="6" name="TextBox 2">
            <a:extLst>
              <a:ext uri="{FF2B5EF4-FFF2-40B4-BE49-F238E27FC236}">
                <a16:creationId xmlns:a16="http://schemas.microsoft.com/office/drawing/2014/main" id="{49F6E161-1CAC-AC91-F68D-7E486543CFF8}"/>
              </a:ext>
            </a:extLst>
          </p:cNvPr>
          <p:cNvSpPr txBox="1"/>
          <p:nvPr/>
        </p:nvSpPr>
        <p:spPr>
          <a:xfrm>
            <a:off x="2759935" y="7181179"/>
            <a:ext cx="2036629" cy="338554"/>
          </a:xfrm>
          <a:prstGeom prst="rect">
            <a:avLst/>
          </a:prstGeom>
          <a:noFill/>
        </p:spPr>
        <p:txBody>
          <a:bodyPr wrap="square">
            <a:spAutoFit/>
          </a:bodyPr>
          <a:lstStyle/>
          <a:p>
            <a:pPr algn="ctr"/>
            <a:r>
              <a:rPr lang="en-US" sz="1600" dirty="0"/>
              <a:t>{{qr4}}</a:t>
            </a:r>
          </a:p>
        </p:txBody>
      </p:sp>
    </p:spTree>
    <p:extLst>
      <p:ext uri="{BB962C8B-B14F-4D97-AF65-F5344CB8AC3E}">
        <p14:creationId xmlns:p14="http://schemas.microsoft.com/office/powerpoint/2010/main" val="3463308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EEB06-987B-C47F-5506-2671523B8EF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065046A-1F7C-99EA-0382-424F9E49797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6C81CD63-F15A-698A-5DD9-BABF1C1E50F3}"/>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31C968C2-715C-B114-6B27-34FB62DAAA1C}"/>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13" name="TextBox 3">
            <a:extLst>
              <a:ext uri="{FF2B5EF4-FFF2-40B4-BE49-F238E27FC236}">
                <a16:creationId xmlns:a16="http://schemas.microsoft.com/office/drawing/2014/main" id="{81CF8D14-AFFA-3B12-ACEF-416B7557121E}"/>
              </a:ext>
            </a:extLst>
          </p:cNvPr>
          <p:cNvSpPr txBox="1"/>
          <p:nvPr/>
        </p:nvSpPr>
        <p:spPr>
          <a:xfrm>
            <a:off x="1922157" y="1657162"/>
            <a:ext cx="3703266"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تحسين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نتائج المتعلمين 10% </a:t>
            </a:r>
          </a:p>
        </p:txBody>
      </p:sp>
      <p:graphicFrame>
        <p:nvGraphicFramePr>
          <p:cNvPr id="14" name="جدول 13">
            <a:extLst>
              <a:ext uri="{FF2B5EF4-FFF2-40B4-BE49-F238E27FC236}">
                <a16:creationId xmlns:a16="http://schemas.microsoft.com/office/drawing/2014/main" id="{76794715-AF23-C978-FD33-BC95BA303C44}"/>
              </a:ext>
            </a:extLst>
          </p:cNvPr>
          <p:cNvGraphicFramePr>
            <a:graphicFrameLocks noGrp="1"/>
          </p:cNvGraphicFramePr>
          <p:nvPr>
            <p:extLst>
              <p:ext uri="{D42A27DB-BD31-4B8C-83A1-F6EECF244321}">
                <p14:modId xmlns:p14="http://schemas.microsoft.com/office/powerpoint/2010/main" val="2178279256"/>
              </p:ext>
            </p:extLst>
          </p:nvPr>
        </p:nvGraphicFramePr>
        <p:xfrm>
          <a:off x="848791" y="3125750"/>
          <a:ext cx="5849999" cy="2909888"/>
        </p:xfrm>
        <a:graphic>
          <a:graphicData uri="http://schemas.openxmlformats.org/drawingml/2006/table">
            <a:tbl>
              <a:tblPr rtl="1" firstRow="1" bandRow="1">
                <a:tableStyleId>{2D5ABB26-0587-4C30-8999-92F81FD0307C}</a:tableStyleId>
              </a:tblPr>
              <a:tblGrid>
                <a:gridCol w="3288895">
                  <a:extLst>
                    <a:ext uri="{9D8B030D-6E8A-4147-A177-3AD203B41FA5}">
                      <a16:colId xmlns:a16="http://schemas.microsoft.com/office/drawing/2014/main" val="315138284"/>
                    </a:ext>
                  </a:extLst>
                </a:gridCol>
                <a:gridCol w="1280552">
                  <a:extLst>
                    <a:ext uri="{9D8B030D-6E8A-4147-A177-3AD203B41FA5}">
                      <a16:colId xmlns:a16="http://schemas.microsoft.com/office/drawing/2014/main" val="3931588184"/>
                    </a:ext>
                  </a:extLst>
                </a:gridCol>
                <a:gridCol w="1280552">
                  <a:extLst>
                    <a:ext uri="{9D8B030D-6E8A-4147-A177-3AD203B41FA5}">
                      <a16:colId xmlns:a16="http://schemas.microsoft.com/office/drawing/2014/main" val="408297873"/>
                    </a:ext>
                  </a:extLst>
                </a:gridCol>
              </a:tblGrid>
              <a:tr h="299554">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482283">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تقديم دروس إضافية للطلاب الذين يحتاجون إلى دعم.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723424">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استخدام أساليب تقييم مستمرة لتحديد نقاط الضعف والعمل على تحسينها.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482283">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تشجيع الطلاب على المشاركة في المسابقات الأكاديمية.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723424">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توفير مصادر تعليمية إضافية مثل الكتب الإلكترونية والمواقع التعليمية.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15" name="صورة 14">
            <a:extLst>
              <a:ext uri="{FF2B5EF4-FFF2-40B4-BE49-F238E27FC236}">
                <a16:creationId xmlns:a16="http://schemas.microsoft.com/office/drawing/2014/main" id="{89B3E3C0-76EF-FB66-047B-72C76C26B13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77115" y="8893530"/>
            <a:ext cx="2993353" cy="1675741"/>
          </a:xfrm>
          <a:prstGeom prst="rect">
            <a:avLst/>
          </a:prstGeom>
        </p:spPr>
      </p:pic>
      <p:pic>
        <p:nvPicPr>
          <p:cNvPr id="19" name="صورة 18">
            <a:extLst>
              <a:ext uri="{FF2B5EF4-FFF2-40B4-BE49-F238E27FC236}">
                <a16:creationId xmlns:a16="http://schemas.microsoft.com/office/drawing/2014/main" id="{6D1B6F36-749D-0144-A7CD-CCABC66FAF7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49250" y="9026160"/>
            <a:ext cx="2081065" cy="1165023"/>
          </a:xfrm>
          <a:prstGeom prst="rect">
            <a:avLst/>
          </a:prstGeom>
        </p:spPr>
      </p:pic>
      <p:pic>
        <p:nvPicPr>
          <p:cNvPr id="5" name="صورة 4">
            <a:extLst>
              <a:ext uri="{FF2B5EF4-FFF2-40B4-BE49-F238E27FC236}">
                <a16:creationId xmlns:a16="http://schemas.microsoft.com/office/drawing/2014/main" id="{EF5792BA-36C2-6FBF-F4F0-ADE55C0EAB3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2" y="6379416"/>
            <a:ext cx="4210816" cy="2357302"/>
          </a:xfrm>
          <a:prstGeom prst="rect">
            <a:avLst/>
          </a:prstGeom>
        </p:spPr>
      </p:pic>
      <p:sp>
        <p:nvSpPr>
          <p:cNvPr id="6" name="TextBox 2">
            <a:extLst>
              <a:ext uri="{FF2B5EF4-FFF2-40B4-BE49-F238E27FC236}">
                <a16:creationId xmlns:a16="http://schemas.microsoft.com/office/drawing/2014/main" id="{63869549-EE58-271C-BF4A-B57FD82EA0CC}"/>
              </a:ext>
            </a:extLst>
          </p:cNvPr>
          <p:cNvSpPr txBox="1"/>
          <p:nvPr/>
        </p:nvSpPr>
        <p:spPr>
          <a:xfrm>
            <a:off x="2759934" y="7388790"/>
            <a:ext cx="2036629" cy="338554"/>
          </a:xfrm>
          <a:prstGeom prst="rect">
            <a:avLst/>
          </a:prstGeom>
          <a:noFill/>
        </p:spPr>
        <p:txBody>
          <a:bodyPr wrap="square">
            <a:spAutoFit/>
          </a:bodyPr>
          <a:lstStyle/>
          <a:p>
            <a:pPr algn="ctr"/>
            <a:r>
              <a:rPr lang="en-US" sz="1600" dirty="0"/>
              <a:t>{{qr5}}</a:t>
            </a:r>
          </a:p>
        </p:txBody>
      </p:sp>
    </p:spTree>
    <p:extLst>
      <p:ext uri="{BB962C8B-B14F-4D97-AF65-F5344CB8AC3E}">
        <p14:creationId xmlns:p14="http://schemas.microsoft.com/office/powerpoint/2010/main" val="14188644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0190E-D9FD-11B8-C21E-23B6FF85C33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9269110-13B6-5E48-5984-F9BC3B3DDA84}"/>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C10751B2-F800-1F26-77EE-4BE3AC1A8618}"/>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34CDD478-B9AE-19F3-DC30-08CE674687C6}"/>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132C4F18-C6CF-A018-EBC8-821CF2C0AF87}"/>
              </a:ext>
            </a:extLst>
          </p:cNvPr>
          <p:cNvSpPr txBox="1"/>
          <p:nvPr/>
        </p:nvSpPr>
        <p:spPr>
          <a:xfrm>
            <a:off x="2323764" y="2146300"/>
            <a:ext cx="2908970"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إعداد</a:t>
            </a:r>
            <a:r>
              <a:rPr lang="ar-SA" sz="2400" b="1" dirty="0">
                <a:latin typeface="Sakkal Majalla" panose="02000000000000000000" pitchFamily="2" charset="-78"/>
                <a:cs typeface="Sakkal Majalla" panose="02000000000000000000" pitchFamily="2" charset="-78"/>
                <a:sym typeface="GE SS Two Light"/>
              </a:rPr>
              <a:t> </a:t>
            </a:r>
            <a:r>
              <a:rPr lang="ar-EG" sz="2400" b="1" dirty="0">
                <a:latin typeface="Sakkal Majalla" panose="02000000000000000000" pitchFamily="2" charset="-78"/>
                <a:cs typeface="Sakkal Majalla" panose="02000000000000000000" pitchFamily="2" charset="-78"/>
                <a:sym typeface="GE SS Two Light"/>
              </a:rPr>
              <a:t>وتنفيذ خطة التعلم</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 </a:t>
            </a:r>
          </a:p>
        </p:txBody>
      </p:sp>
      <p:graphicFrame>
        <p:nvGraphicFramePr>
          <p:cNvPr id="6" name="جدول 5">
            <a:extLst>
              <a:ext uri="{FF2B5EF4-FFF2-40B4-BE49-F238E27FC236}">
                <a16:creationId xmlns:a16="http://schemas.microsoft.com/office/drawing/2014/main" id="{75CD7E91-2898-C169-868B-AE987B0105A4}"/>
              </a:ext>
            </a:extLst>
          </p:cNvPr>
          <p:cNvGraphicFramePr>
            <a:graphicFrameLocks noGrp="1"/>
          </p:cNvGraphicFramePr>
          <p:nvPr>
            <p:extLst>
              <p:ext uri="{D42A27DB-BD31-4B8C-83A1-F6EECF244321}">
                <p14:modId xmlns:p14="http://schemas.microsoft.com/office/powerpoint/2010/main" val="221226446"/>
              </p:ext>
            </p:extLst>
          </p:nvPr>
        </p:nvGraphicFramePr>
        <p:xfrm>
          <a:off x="832102" y="3349921"/>
          <a:ext cx="5850000" cy="2624328"/>
        </p:xfrm>
        <a:graphic>
          <a:graphicData uri="http://schemas.openxmlformats.org/drawingml/2006/table">
            <a:tbl>
              <a:tblPr rtl="1" firstRow="1" bandRow="1">
                <a:tableStyleId>{2D5ABB26-0587-4C30-8999-92F81FD0307C}</a:tableStyleId>
              </a:tblPr>
              <a:tblGrid>
                <a:gridCol w="3294532">
                  <a:extLst>
                    <a:ext uri="{9D8B030D-6E8A-4147-A177-3AD203B41FA5}">
                      <a16:colId xmlns:a16="http://schemas.microsoft.com/office/drawing/2014/main" val="315138284"/>
                    </a:ext>
                  </a:extLst>
                </a:gridCol>
                <a:gridCol w="1277734">
                  <a:extLst>
                    <a:ext uri="{9D8B030D-6E8A-4147-A177-3AD203B41FA5}">
                      <a16:colId xmlns:a16="http://schemas.microsoft.com/office/drawing/2014/main" val="3931588184"/>
                    </a:ext>
                  </a:extLst>
                </a:gridCol>
                <a:gridCol w="1277734">
                  <a:extLst>
                    <a:ext uri="{9D8B030D-6E8A-4147-A177-3AD203B41FA5}">
                      <a16:colId xmlns:a16="http://schemas.microsoft.com/office/drawing/2014/main" val="408297873"/>
                    </a:ext>
                  </a:extLst>
                </a:gridCol>
              </a:tblGrid>
              <a:tr h="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وضع أهداف تعليمية واضحة وقابلة للقياس.</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تصميم خطط دراسية تتوافق مع المنهج الدراسي واحتياجات الطلاب.</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مراجعة الخطط بشكل دوري وتعديلها بناءً على نتائج الطلاب.</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مشاركة الخطط مع الزملاء للحصول على ملاحظات وتحسينها.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05F807E2-E3B0-A6C5-7196-5CBC61D04F0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302617" y="8921408"/>
            <a:ext cx="2993353" cy="1675741"/>
          </a:xfrm>
          <a:prstGeom prst="rect">
            <a:avLst/>
          </a:prstGeom>
        </p:spPr>
      </p:pic>
      <p:pic>
        <p:nvPicPr>
          <p:cNvPr id="9" name="صورة 8">
            <a:extLst>
              <a:ext uri="{FF2B5EF4-FFF2-40B4-BE49-F238E27FC236}">
                <a16:creationId xmlns:a16="http://schemas.microsoft.com/office/drawing/2014/main" id="{E4E14D3E-5FBD-87F8-E8BF-BF0FE2B5AAF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65095" y="9106709"/>
            <a:ext cx="2331348" cy="1305137"/>
          </a:xfrm>
          <a:prstGeom prst="rect">
            <a:avLst/>
          </a:prstGeom>
        </p:spPr>
      </p:pic>
      <p:pic>
        <p:nvPicPr>
          <p:cNvPr id="8" name="صورة 7">
            <a:extLst>
              <a:ext uri="{FF2B5EF4-FFF2-40B4-BE49-F238E27FC236}">
                <a16:creationId xmlns:a16="http://schemas.microsoft.com/office/drawing/2014/main" id="{39FFEE5F-7D65-1027-22BB-5DF3110DF68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2" y="6283952"/>
            <a:ext cx="4210816" cy="2357302"/>
          </a:xfrm>
          <a:prstGeom prst="rect">
            <a:avLst/>
          </a:prstGeom>
        </p:spPr>
      </p:pic>
      <p:sp>
        <p:nvSpPr>
          <p:cNvPr id="10" name="TextBox 2">
            <a:extLst>
              <a:ext uri="{FF2B5EF4-FFF2-40B4-BE49-F238E27FC236}">
                <a16:creationId xmlns:a16="http://schemas.microsoft.com/office/drawing/2014/main" id="{2C139B8A-3110-5CA3-6078-1E5512A7CEAA}"/>
              </a:ext>
            </a:extLst>
          </p:cNvPr>
          <p:cNvSpPr txBox="1"/>
          <p:nvPr/>
        </p:nvSpPr>
        <p:spPr>
          <a:xfrm>
            <a:off x="2759934" y="7293326"/>
            <a:ext cx="2036629" cy="338554"/>
          </a:xfrm>
          <a:prstGeom prst="rect">
            <a:avLst/>
          </a:prstGeom>
          <a:noFill/>
        </p:spPr>
        <p:txBody>
          <a:bodyPr wrap="square">
            <a:spAutoFit/>
          </a:bodyPr>
          <a:lstStyle/>
          <a:p>
            <a:pPr algn="ctr"/>
            <a:r>
              <a:rPr lang="en-US" sz="1600" dirty="0"/>
              <a:t>{{qr6}}</a:t>
            </a:r>
          </a:p>
        </p:txBody>
      </p:sp>
    </p:spTree>
    <p:extLst>
      <p:ext uri="{BB962C8B-B14F-4D97-AF65-F5344CB8AC3E}">
        <p14:creationId xmlns:p14="http://schemas.microsoft.com/office/powerpoint/2010/main" val="17328778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DE6B9-DE37-AF0E-00A0-16051A566C3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397010A-8A3E-9ED5-AF1F-5019B282596F}"/>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45AC590D-FA9D-EA0D-1260-618B8D00CFF6}"/>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C543C3A3-CF73-050E-7157-0B2DEF42603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79DC7236-11CE-7955-1A8A-F8D9507AF3E1}"/>
              </a:ext>
            </a:extLst>
          </p:cNvPr>
          <p:cNvSpPr txBox="1"/>
          <p:nvPr/>
        </p:nvSpPr>
        <p:spPr>
          <a:xfrm>
            <a:off x="2135982" y="2131425"/>
            <a:ext cx="3276814"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توظيف تقنيات </a:t>
            </a:r>
            <a:endParaRPr lang="ar-SA" sz="2400" b="1" dirty="0">
              <a:latin typeface="Sakkal Majalla" panose="02000000000000000000" pitchFamily="2" charset="-78"/>
              <a:cs typeface="Sakkal Majalla" panose="02000000000000000000" pitchFamily="2" charset="-78"/>
              <a:sym typeface="GE SS Two Light"/>
            </a:endParaRPr>
          </a:p>
          <a:p>
            <a:pPr>
              <a:lnSpc>
                <a:spcPct val="100000"/>
              </a:lnSpc>
            </a:pPr>
            <a:r>
              <a:rPr lang="ar-EG" sz="2400" b="1" dirty="0">
                <a:latin typeface="Sakkal Majalla" panose="02000000000000000000" pitchFamily="2" charset="-78"/>
                <a:cs typeface="Sakkal Majalla" panose="02000000000000000000" pitchFamily="2" charset="-78"/>
                <a:sym typeface="GE SS Two Light"/>
              </a:rPr>
              <a:t>ووسائل التعلم المناسبة</a:t>
            </a:r>
            <a:r>
              <a:rPr lang="ar-SA" sz="2400" b="1" dirty="0">
                <a:latin typeface="Sakkal Majalla" panose="02000000000000000000" pitchFamily="2" charset="-78"/>
                <a:cs typeface="Sakkal Majalla" panose="02000000000000000000" pitchFamily="2" charset="-78"/>
                <a:sym typeface="GE SS Two Light"/>
              </a:rPr>
              <a:t>10</a:t>
            </a:r>
            <a:r>
              <a:rPr lang="ar-EG" sz="2400" b="1" dirty="0">
                <a:latin typeface="Sakkal Majalla" panose="02000000000000000000" pitchFamily="2" charset="-78"/>
                <a:cs typeface="Sakkal Majalla" panose="02000000000000000000" pitchFamily="2" charset="-78"/>
                <a:sym typeface="GE SS Two Light"/>
              </a:rPr>
              <a:t>% </a:t>
            </a:r>
          </a:p>
        </p:txBody>
      </p:sp>
      <p:graphicFrame>
        <p:nvGraphicFramePr>
          <p:cNvPr id="6" name="جدول 5">
            <a:extLst>
              <a:ext uri="{FF2B5EF4-FFF2-40B4-BE49-F238E27FC236}">
                <a16:creationId xmlns:a16="http://schemas.microsoft.com/office/drawing/2014/main" id="{94D3AE03-2DAD-EA21-40A7-FC674354EFF6}"/>
              </a:ext>
            </a:extLst>
          </p:cNvPr>
          <p:cNvGraphicFramePr>
            <a:graphicFrameLocks noGrp="1"/>
          </p:cNvGraphicFramePr>
          <p:nvPr>
            <p:extLst>
              <p:ext uri="{D42A27DB-BD31-4B8C-83A1-F6EECF244321}">
                <p14:modId xmlns:p14="http://schemas.microsoft.com/office/powerpoint/2010/main" val="923631126"/>
              </p:ext>
            </p:extLst>
          </p:nvPr>
        </p:nvGraphicFramePr>
        <p:xfrm>
          <a:off x="860603" y="3344847"/>
          <a:ext cx="5849999" cy="2907215"/>
        </p:xfrm>
        <a:graphic>
          <a:graphicData uri="http://schemas.openxmlformats.org/drawingml/2006/table">
            <a:tbl>
              <a:tblPr rtl="1" firstRow="1" bandRow="1">
                <a:tableStyleId>{2D5ABB26-0587-4C30-8999-92F81FD0307C}</a:tableStyleId>
              </a:tblPr>
              <a:tblGrid>
                <a:gridCol w="3374867">
                  <a:extLst>
                    <a:ext uri="{9D8B030D-6E8A-4147-A177-3AD203B41FA5}">
                      <a16:colId xmlns:a16="http://schemas.microsoft.com/office/drawing/2014/main" val="315138284"/>
                    </a:ext>
                  </a:extLst>
                </a:gridCol>
                <a:gridCol w="1237566">
                  <a:extLst>
                    <a:ext uri="{9D8B030D-6E8A-4147-A177-3AD203B41FA5}">
                      <a16:colId xmlns:a16="http://schemas.microsoft.com/office/drawing/2014/main" val="3931588184"/>
                    </a:ext>
                  </a:extLst>
                </a:gridCol>
                <a:gridCol w="1237566">
                  <a:extLst>
                    <a:ext uri="{9D8B030D-6E8A-4147-A177-3AD203B41FA5}">
                      <a16:colId xmlns:a16="http://schemas.microsoft.com/office/drawing/2014/main" val="408297873"/>
                    </a:ext>
                  </a:extLst>
                </a:gridCol>
              </a:tblGrid>
              <a:tr h="383471">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السبورات الذكية والأجهزة اللوحية في التدريس.</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تطبيق برامج التعلم الإلكتروني مثل منصات التعليم عن بعد.</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تشجيع الطلاب على استخدام التطبيقات التعليمية لتعزيز التعلم الذاتي.</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تنظيم ورش عمل حول استخدام التكنولوجيا في التعليم.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2BDE2E3E-1CBF-65D4-2F14-2E0F2E7F0AE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88927" y="8929307"/>
            <a:ext cx="2993353" cy="1675741"/>
          </a:xfrm>
          <a:prstGeom prst="rect">
            <a:avLst/>
          </a:prstGeom>
        </p:spPr>
      </p:pic>
      <p:pic>
        <p:nvPicPr>
          <p:cNvPr id="9" name="صورة 8">
            <a:extLst>
              <a:ext uri="{FF2B5EF4-FFF2-40B4-BE49-F238E27FC236}">
                <a16:creationId xmlns:a16="http://schemas.microsoft.com/office/drawing/2014/main" id="{DDA009A7-25BE-E4F7-1D22-8211F5BFF1A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66478" y="9232900"/>
            <a:ext cx="1908747" cy="1068556"/>
          </a:xfrm>
          <a:prstGeom prst="rect">
            <a:avLst/>
          </a:prstGeom>
        </p:spPr>
      </p:pic>
      <p:pic>
        <p:nvPicPr>
          <p:cNvPr id="8" name="صورة 7">
            <a:extLst>
              <a:ext uri="{FF2B5EF4-FFF2-40B4-BE49-F238E27FC236}">
                <a16:creationId xmlns:a16="http://schemas.microsoft.com/office/drawing/2014/main" id="{6EF5EB08-2594-23A8-CAC3-EC173E64ABAD}"/>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2" y="6509328"/>
            <a:ext cx="4210816" cy="2357302"/>
          </a:xfrm>
          <a:prstGeom prst="rect">
            <a:avLst/>
          </a:prstGeom>
        </p:spPr>
      </p:pic>
      <p:sp>
        <p:nvSpPr>
          <p:cNvPr id="11" name="TextBox 2">
            <a:extLst>
              <a:ext uri="{FF2B5EF4-FFF2-40B4-BE49-F238E27FC236}">
                <a16:creationId xmlns:a16="http://schemas.microsoft.com/office/drawing/2014/main" id="{D5D288E4-EC33-151F-E1E3-0FD0AA3B9D70}"/>
              </a:ext>
            </a:extLst>
          </p:cNvPr>
          <p:cNvSpPr txBox="1"/>
          <p:nvPr/>
        </p:nvSpPr>
        <p:spPr>
          <a:xfrm>
            <a:off x="2759934" y="7518702"/>
            <a:ext cx="2036629" cy="338554"/>
          </a:xfrm>
          <a:prstGeom prst="rect">
            <a:avLst/>
          </a:prstGeom>
          <a:noFill/>
        </p:spPr>
        <p:txBody>
          <a:bodyPr wrap="square">
            <a:spAutoFit/>
          </a:bodyPr>
          <a:lstStyle/>
          <a:p>
            <a:pPr algn="ctr"/>
            <a:r>
              <a:rPr lang="en-US" sz="1600" dirty="0"/>
              <a:t>{{qr7}}</a:t>
            </a:r>
          </a:p>
        </p:txBody>
      </p:sp>
    </p:spTree>
    <p:extLst>
      <p:ext uri="{BB962C8B-B14F-4D97-AF65-F5344CB8AC3E}">
        <p14:creationId xmlns:p14="http://schemas.microsoft.com/office/powerpoint/2010/main" val="23943424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CADBF-8EE3-E616-ABF3-25B67348383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31610E8-FA76-2409-8A3A-9D405464B1E3}"/>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B8F7E18E-FD08-38A3-866E-2D39F7758B7A}"/>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BE6871F5-D60F-96A2-662E-A4D19EA8E243}"/>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5" name="صورة 4">
            <a:extLst>
              <a:ext uri="{FF2B5EF4-FFF2-40B4-BE49-F238E27FC236}">
                <a16:creationId xmlns:a16="http://schemas.microsoft.com/office/drawing/2014/main" id="{3F911D53-FCAB-243D-3362-FDBFB7144F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532597" y="8815229"/>
            <a:ext cx="2760378" cy="1545317"/>
          </a:xfrm>
          <a:prstGeom prst="rect">
            <a:avLst/>
          </a:prstGeom>
        </p:spPr>
      </p:pic>
      <p:sp>
        <p:nvSpPr>
          <p:cNvPr id="6" name="TextBox 3">
            <a:extLst>
              <a:ext uri="{FF2B5EF4-FFF2-40B4-BE49-F238E27FC236}">
                <a16:creationId xmlns:a16="http://schemas.microsoft.com/office/drawing/2014/main" id="{789E7F89-B0AA-09C5-5580-F7D780B0A8CF}"/>
              </a:ext>
            </a:extLst>
          </p:cNvPr>
          <p:cNvSpPr txBox="1"/>
          <p:nvPr/>
        </p:nvSpPr>
        <p:spPr>
          <a:xfrm>
            <a:off x="2456229" y="2260189"/>
            <a:ext cx="2913113"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تهيئة بيئة تعليمية</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5%</a:t>
            </a:r>
          </a:p>
        </p:txBody>
      </p:sp>
      <p:graphicFrame>
        <p:nvGraphicFramePr>
          <p:cNvPr id="7" name="جدول 6">
            <a:extLst>
              <a:ext uri="{FF2B5EF4-FFF2-40B4-BE49-F238E27FC236}">
                <a16:creationId xmlns:a16="http://schemas.microsoft.com/office/drawing/2014/main" id="{B1E5B12B-0FF0-72F6-F3F9-ACD0A4B5DC5D}"/>
              </a:ext>
            </a:extLst>
          </p:cNvPr>
          <p:cNvGraphicFramePr>
            <a:graphicFrameLocks noGrp="1"/>
          </p:cNvGraphicFramePr>
          <p:nvPr>
            <p:extLst>
              <p:ext uri="{D42A27DB-BD31-4B8C-83A1-F6EECF244321}">
                <p14:modId xmlns:p14="http://schemas.microsoft.com/office/powerpoint/2010/main" val="799773430"/>
              </p:ext>
            </p:extLst>
          </p:nvPr>
        </p:nvGraphicFramePr>
        <p:xfrm>
          <a:off x="853249" y="3740917"/>
          <a:ext cx="5850001" cy="1463040"/>
        </p:xfrm>
        <a:graphic>
          <a:graphicData uri="http://schemas.openxmlformats.org/drawingml/2006/table">
            <a:tbl>
              <a:tblPr rtl="1" firstRow="1" bandRow="1">
                <a:tableStyleId>{2D5ABB26-0587-4C30-8999-92F81FD0307C}</a:tableStyleId>
              </a:tblPr>
              <a:tblGrid>
                <a:gridCol w="3395687">
                  <a:extLst>
                    <a:ext uri="{9D8B030D-6E8A-4147-A177-3AD203B41FA5}">
                      <a16:colId xmlns:a16="http://schemas.microsoft.com/office/drawing/2014/main" val="315138284"/>
                    </a:ext>
                  </a:extLst>
                </a:gridCol>
                <a:gridCol w="1227157">
                  <a:extLst>
                    <a:ext uri="{9D8B030D-6E8A-4147-A177-3AD203B41FA5}">
                      <a16:colId xmlns:a16="http://schemas.microsoft.com/office/drawing/2014/main" val="3931588184"/>
                    </a:ext>
                  </a:extLst>
                </a:gridCol>
                <a:gridCol w="1227157">
                  <a:extLst>
                    <a:ext uri="{9D8B030D-6E8A-4147-A177-3AD203B41FA5}">
                      <a16:colId xmlns:a16="http://schemas.microsoft.com/office/drawing/2014/main" val="408297873"/>
                    </a:ext>
                  </a:extLst>
                </a:gridCol>
              </a:tblGrid>
              <a:tr h="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تزيين الفصل بوسائل تعليمية جذابة.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تنظيم الفصل بشكل يسهل الحركة والتفاعل.</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توفير الأدوات والموارد التعليمية اللازمة.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bl>
          </a:graphicData>
        </a:graphic>
      </p:graphicFrame>
      <p:pic>
        <p:nvPicPr>
          <p:cNvPr id="9" name="صورة 8">
            <a:extLst>
              <a:ext uri="{FF2B5EF4-FFF2-40B4-BE49-F238E27FC236}">
                <a16:creationId xmlns:a16="http://schemas.microsoft.com/office/drawing/2014/main" id="{B1C320FA-AE96-20F1-563C-AF3E6A97037D}"/>
              </a:ext>
            </a:extLst>
          </p:cNvPr>
          <p:cNvPicPr>
            <a:picLocks noChangeAspect="1"/>
          </p:cNvPicPr>
          <p:nvPr/>
        </p:nvPicPr>
        <p:blipFill>
          <a:blip r:embed="rId6" cstate="print">
            <a:extLst>
              <a:ext uri="{28A0092B-C50C-407E-A947-70E740481C1C}">
                <a14:useLocalDpi xmlns:a14="http://schemas.microsoft.com/office/drawing/2010/main" val="0"/>
              </a:ext>
            </a:extLst>
          </a:blip>
          <a:srcRect t="13562" b="18501"/>
          <a:stretch/>
        </p:blipFill>
        <p:spPr>
          <a:xfrm>
            <a:off x="278709" y="9176891"/>
            <a:ext cx="2235045" cy="821991"/>
          </a:xfrm>
          <a:prstGeom prst="rect">
            <a:avLst/>
          </a:prstGeom>
        </p:spPr>
      </p:pic>
      <p:pic>
        <p:nvPicPr>
          <p:cNvPr id="8" name="صورة 7">
            <a:extLst>
              <a:ext uri="{FF2B5EF4-FFF2-40B4-BE49-F238E27FC236}">
                <a16:creationId xmlns:a16="http://schemas.microsoft.com/office/drawing/2014/main" id="{EB9E8CF5-1402-10E3-7104-EF116369BBE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2" y="5830942"/>
            <a:ext cx="4210816" cy="2357302"/>
          </a:xfrm>
          <a:prstGeom prst="rect">
            <a:avLst/>
          </a:prstGeom>
        </p:spPr>
      </p:pic>
      <p:sp>
        <p:nvSpPr>
          <p:cNvPr id="11" name="TextBox 2">
            <a:extLst>
              <a:ext uri="{FF2B5EF4-FFF2-40B4-BE49-F238E27FC236}">
                <a16:creationId xmlns:a16="http://schemas.microsoft.com/office/drawing/2014/main" id="{02E19F69-54A5-2531-460E-6E43F7196690}"/>
              </a:ext>
            </a:extLst>
          </p:cNvPr>
          <p:cNvSpPr txBox="1"/>
          <p:nvPr/>
        </p:nvSpPr>
        <p:spPr>
          <a:xfrm>
            <a:off x="2759934" y="6840316"/>
            <a:ext cx="2036629" cy="338554"/>
          </a:xfrm>
          <a:prstGeom prst="rect">
            <a:avLst/>
          </a:prstGeom>
          <a:noFill/>
        </p:spPr>
        <p:txBody>
          <a:bodyPr wrap="square">
            <a:spAutoFit/>
          </a:bodyPr>
          <a:lstStyle/>
          <a:p>
            <a:pPr algn="ctr"/>
            <a:r>
              <a:rPr lang="en-US" sz="1600" dirty="0"/>
              <a:t>{{qr8}}</a:t>
            </a:r>
          </a:p>
        </p:txBody>
      </p:sp>
    </p:spTree>
    <p:extLst>
      <p:ext uri="{BB962C8B-B14F-4D97-AF65-F5344CB8AC3E}">
        <p14:creationId xmlns:p14="http://schemas.microsoft.com/office/powerpoint/2010/main" val="2081957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7E007-EA86-91ED-D293-955305285B5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75B33C5-E3AA-E1B3-9AA7-753A270F5CF4}"/>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3A9AC1C6-6D6D-F31D-B714-AE0F3D41C02C}"/>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ED4F5B52-D828-4D33-18AB-516B80BA5F62}"/>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206E3FAE-5788-00DF-B77A-EFF95961F0CE}"/>
              </a:ext>
            </a:extLst>
          </p:cNvPr>
          <p:cNvSpPr txBox="1"/>
          <p:nvPr/>
        </p:nvSpPr>
        <p:spPr>
          <a:xfrm>
            <a:off x="2309064" y="2124633"/>
            <a:ext cx="2938370"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الإدارة الصفية</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5%</a:t>
            </a:r>
          </a:p>
        </p:txBody>
      </p:sp>
      <p:graphicFrame>
        <p:nvGraphicFramePr>
          <p:cNvPr id="6" name="جدول 5">
            <a:extLst>
              <a:ext uri="{FF2B5EF4-FFF2-40B4-BE49-F238E27FC236}">
                <a16:creationId xmlns:a16="http://schemas.microsoft.com/office/drawing/2014/main" id="{90FB231A-C243-518F-5496-8C3BA6AEEC11}"/>
              </a:ext>
            </a:extLst>
          </p:cNvPr>
          <p:cNvGraphicFramePr>
            <a:graphicFrameLocks noGrp="1"/>
          </p:cNvGraphicFramePr>
          <p:nvPr>
            <p:extLst>
              <p:ext uri="{D42A27DB-BD31-4B8C-83A1-F6EECF244321}">
                <p14:modId xmlns:p14="http://schemas.microsoft.com/office/powerpoint/2010/main" val="2736056315"/>
              </p:ext>
            </p:extLst>
          </p:nvPr>
        </p:nvGraphicFramePr>
        <p:xfrm>
          <a:off x="853250" y="3401231"/>
          <a:ext cx="5849999" cy="2512542"/>
        </p:xfrm>
        <a:graphic>
          <a:graphicData uri="http://schemas.openxmlformats.org/drawingml/2006/table">
            <a:tbl>
              <a:tblPr rtl="1" firstRow="1" bandRow="1">
                <a:tableStyleId>{2D5ABB26-0587-4C30-8999-92F81FD0307C}</a:tableStyleId>
              </a:tblPr>
              <a:tblGrid>
                <a:gridCol w="3593253">
                  <a:extLst>
                    <a:ext uri="{9D8B030D-6E8A-4147-A177-3AD203B41FA5}">
                      <a16:colId xmlns:a16="http://schemas.microsoft.com/office/drawing/2014/main" val="315138284"/>
                    </a:ext>
                  </a:extLst>
                </a:gridCol>
                <a:gridCol w="1128373">
                  <a:extLst>
                    <a:ext uri="{9D8B030D-6E8A-4147-A177-3AD203B41FA5}">
                      <a16:colId xmlns:a16="http://schemas.microsoft.com/office/drawing/2014/main" val="3931588184"/>
                    </a:ext>
                  </a:extLst>
                </a:gridCol>
                <a:gridCol w="1128373">
                  <a:extLst>
                    <a:ext uri="{9D8B030D-6E8A-4147-A177-3AD203B41FA5}">
                      <a16:colId xmlns:a16="http://schemas.microsoft.com/office/drawing/2014/main" val="408297873"/>
                    </a:ext>
                  </a:extLst>
                </a:gridCol>
              </a:tblGrid>
              <a:tr h="31384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وضع قواعد واضحة للسلوك في الصف.</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استخدام أساليب تحفيزية لتشجيع الطلاب على الالتزام.</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التعامل مع المشكلات السلوكية بشكل عادل وحازم.</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تنظيم الوقت بشكل فعال خلال الحصة.</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8BD03077-DFC7-C00B-E93E-21784AFB2AA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319083" y="8818948"/>
            <a:ext cx="2918331" cy="1633742"/>
          </a:xfrm>
          <a:prstGeom prst="rect">
            <a:avLst/>
          </a:prstGeom>
        </p:spPr>
      </p:pic>
      <p:pic>
        <p:nvPicPr>
          <p:cNvPr id="9" name="صورة 8">
            <a:extLst>
              <a:ext uri="{FF2B5EF4-FFF2-40B4-BE49-F238E27FC236}">
                <a16:creationId xmlns:a16="http://schemas.microsoft.com/office/drawing/2014/main" id="{7A074846-62AA-B54D-6612-45CEAC5FCFB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51037" y="9057118"/>
            <a:ext cx="1959463" cy="1096948"/>
          </a:xfrm>
          <a:prstGeom prst="rect">
            <a:avLst/>
          </a:prstGeom>
        </p:spPr>
      </p:pic>
      <p:pic>
        <p:nvPicPr>
          <p:cNvPr id="8" name="صورة 7">
            <a:extLst>
              <a:ext uri="{FF2B5EF4-FFF2-40B4-BE49-F238E27FC236}">
                <a16:creationId xmlns:a16="http://schemas.microsoft.com/office/drawing/2014/main" id="{B36B105A-F2F5-A13D-3DED-E805E58CDC4C}"/>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2" y="6401192"/>
            <a:ext cx="4210816" cy="2357302"/>
          </a:xfrm>
          <a:prstGeom prst="rect">
            <a:avLst/>
          </a:prstGeom>
        </p:spPr>
      </p:pic>
      <p:sp>
        <p:nvSpPr>
          <p:cNvPr id="11" name="TextBox 2">
            <a:extLst>
              <a:ext uri="{FF2B5EF4-FFF2-40B4-BE49-F238E27FC236}">
                <a16:creationId xmlns:a16="http://schemas.microsoft.com/office/drawing/2014/main" id="{890AB6B1-0BD4-1772-BD1D-B8C76FDFD7E5}"/>
              </a:ext>
            </a:extLst>
          </p:cNvPr>
          <p:cNvSpPr txBox="1"/>
          <p:nvPr/>
        </p:nvSpPr>
        <p:spPr>
          <a:xfrm>
            <a:off x="2759934" y="7410566"/>
            <a:ext cx="2036629" cy="338554"/>
          </a:xfrm>
          <a:prstGeom prst="rect">
            <a:avLst/>
          </a:prstGeom>
          <a:noFill/>
        </p:spPr>
        <p:txBody>
          <a:bodyPr wrap="square">
            <a:spAutoFit/>
          </a:bodyPr>
          <a:lstStyle/>
          <a:p>
            <a:pPr algn="ctr"/>
            <a:r>
              <a:rPr lang="en-US" sz="1600" dirty="0"/>
              <a:t>{{qr9}}</a:t>
            </a:r>
          </a:p>
        </p:txBody>
      </p:sp>
    </p:spTree>
    <p:extLst>
      <p:ext uri="{BB962C8B-B14F-4D97-AF65-F5344CB8AC3E}">
        <p14:creationId xmlns:p14="http://schemas.microsoft.com/office/powerpoint/2010/main" val="3382126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C8199-56AA-6153-3FAA-8CED828AB48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7BDD741-E727-4149-36F7-0BF555F0D85B}"/>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779F7FA9-B573-BF37-4C9E-7641956535B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30964DA3-1E82-C6F4-B14F-4476846ED81A}"/>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423EED74-6D50-EC80-5127-8B87635F35F5}"/>
              </a:ext>
            </a:extLst>
          </p:cNvPr>
          <p:cNvSpPr txBox="1"/>
          <p:nvPr/>
        </p:nvSpPr>
        <p:spPr>
          <a:xfrm>
            <a:off x="1514259" y="2496620"/>
            <a:ext cx="4436038"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تحليل نتائج المتعلمين وتشخيص مستوياتهم</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 </a:t>
            </a:r>
          </a:p>
        </p:txBody>
      </p:sp>
      <p:graphicFrame>
        <p:nvGraphicFramePr>
          <p:cNvPr id="6" name="جدول 5">
            <a:extLst>
              <a:ext uri="{FF2B5EF4-FFF2-40B4-BE49-F238E27FC236}">
                <a16:creationId xmlns:a16="http://schemas.microsoft.com/office/drawing/2014/main" id="{80721ACF-5A35-FE34-9C74-7C0DB2B41E92}"/>
              </a:ext>
            </a:extLst>
          </p:cNvPr>
          <p:cNvGraphicFramePr>
            <a:graphicFrameLocks noGrp="1"/>
          </p:cNvGraphicFramePr>
          <p:nvPr>
            <p:extLst>
              <p:ext uri="{D42A27DB-BD31-4B8C-83A1-F6EECF244321}">
                <p14:modId xmlns:p14="http://schemas.microsoft.com/office/powerpoint/2010/main" val="3453104254"/>
              </p:ext>
            </p:extLst>
          </p:nvPr>
        </p:nvGraphicFramePr>
        <p:xfrm>
          <a:off x="732264" y="3862621"/>
          <a:ext cx="5849999" cy="2359152"/>
        </p:xfrm>
        <a:graphic>
          <a:graphicData uri="http://schemas.openxmlformats.org/drawingml/2006/table">
            <a:tbl>
              <a:tblPr rtl="1" firstRow="1" bandRow="1">
                <a:tableStyleId>{2D5ABB26-0587-4C30-8999-92F81FD0307C}</a:tableStyleId>
              </a:tblPr>
              <a:tblGrid>
                <a:gridCol w="3593253">
                  <a:extLst>
                    <a:ext uri="{9D8B030D-6E8A-4147-A177-3AD203B41FA5}">
                      <a16:colId xmlns:a16="http://schemas.microsoft.com/office/drawing/2014/main" val="315138284"/>
                    </a:ext>
                  </a:extLst>
                </a:gridCol>
                <a:gridCol w="1128373">
                  <a:extLst>
                    <a:ext uri="{9D8B030D-6E8A-4147-A177-3AD203B41FA5}">
                      <a16:colId xmlns:a16="http://schemas.microsoft.com/office/drawing/2014/main" val="3931588184"/>
                    </a:ext>
                  </a:extLst>
                </a:gridCol>
                <a:gridCol w="1128373">
                  <a:extLst>
                    <a:ext uri="{9D8B030D-6E8A-4147-A177-3AD203B41FA5}">
                      <a16:colId xmlns:a16="http://schemas.microsoft.com/office/drawing/2014/main" val="408297873"/>
                    </a:ext>
                  </a:extLst>
                </a:gridCol>
              </a:tblGrid>
              <a:tr h="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اختبارات تقييمية دورية لقياس تقدم الطلاب.</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تحليل النتائج لتحديد نقاط القوة والضعف.</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توفير تغذية راجعة فردية للطلاب.</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تطبيق خطط علاجية للطلاب الذين يحتاجون إلى دعم.</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6F0E7D76-5E29-F689-23F6-4234A86E2BB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33766" y="8986259"/>
            <a:ext cx="2846997" cy="1593808"/>
          </a:xfrm>
          <a:prstGeom prst="rect">
            <a:avLst/>
          </a:prstGeom>
        </p:spPr>
      </p:pic>
      <p:pic>
        <p:nvPicPr>
          <p:cNvPr id="9" name="صورة 8">
            <a:extLst>
              <a:ext uri="{FF2B5EF4-FFF2-40B4-BE49-F238E27FC236}">
                <a16:creationId xmlns:a16="http://schemas.microsoft.com/office/drawing/2014/main" id="{A412C093-478F-893F-3789-EDF0481505A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68368" y="9229952"/>
            <a:ext cx="1497030" cy="838068"/>
          </a:xfrm>
          <a:prstGeom prst="rect">
            <a:avLst/>
          </a:prstGeom>
        </p:spPr>
      </p:pic>
      <p:pic>
        <p:nvPicPr>
          <p:cNvPr id="8" name="صورة 7">
            <a:extLst>
              <a:ext uri="{FF2B5EF4-FFF2-40B4-BE49-F238E27FC236}">
                <a16:creationId xmlns:a16="http://schemas.microsoft.com/office/drawing/2014/main" id="{3859A58A-872C-9B4A-C843-D5394D8D247D}"/>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56981" y="6535511"/>
            <a:ext cx="4210816" cy="2357302"/>
          </a:xfrm>
          <a:prstGeom prst="rect">
            <a:avLst/>
          </a:prstGeom>
        </p:spPr>
      </p:pic>
      <p:sp>
        <p:nvSpPr>
          <p:cNvPr id="11" name="TextBox 2">
            <a:extLst>
              <a:ext uri="{FF2B5EF4-FFF2-40B4-BE49-F238E27FC236}">
                <a16:creationId xmlns:a16="http://schemas.microsoft.com/office/drawing/2014/main" id="{95901AA7-75F8-AED1-70AD-74F0F5F1904B}"/>
              </a:ext>
            </a:extLst>
          </p:cNvPr>
          <p:cNvSpPr txBox="1"/>
          <p:nvPr/>
        </p:nvSpPr>
        <p:spPr>
          <a:xfrm>
            <a:off x="2744073" y="7544885"/>
            <a:ext cx="2036629" cy="338554"/>
          </a:xfrm>
          <a:prstGeom prst="rect">
            <a:avLst/>
          </a:prstGeom>
          <a:noFill/>
        </p:spPr>
        <p:txBody>
          <a:bodyPr wrap="square">
            <a:spAutoFit/>
          </a:bodyPr>
          <a:lstStyle/>
          <a:p>
            <a:pPr algn="ctr"/>
            <a:r>
              <a:rPr lang="en-US" sz="1600" dirty="0"/>
              <a:t>{{qr10}}</a:t>
            </a:r>
          </a:p>
        </p:txBody>
      </p:sp>
    </p:spTree>
    <p:extLst>
      <p:ext uri="{BB962C8B-B14F-4D97-AF65-F5344CB8AC3E}">
        <p14:creationId xmlns:p14="http://schemas.microsoft.com/office/powerpoint/2010/main" val="20128948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C2875-A82C-7052-00E3-1DFB172DE19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F1D9825-68BD-ED37-7657-F48E43DEFEA7}"/>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3A2A2E53-B976-9480-DE88-1E3E022AB6A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D023D302-B48F-25D5-BEE4-58D6090EA18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5" name="صورة 4">
            <a:extLst>
              <a:ext uri="{FF2B5EF4-FFF2-40B4-BE49-F238E27FC236}">
                <a16:creationId xmlns:a16="http://schemas.microsoft.com/office/drawing/2014/main" id="{71933B49-BC21-F4BB-7E3D-E345DD2B7B3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345775" y="8851423"/>
            <a:ext cx="2846997" cy="1593808"/>
          </a:xfrm>
          <a:prstGeom prst="rect">
            <a:avLst/>
          </a:prstGeom>
        </p:spPr>
      </p:pic>
      <p:sp>
        <p:nvSpPr>
          <p:cNvPr id="6" name="TextBox 3">
            <a:extLst>
              <a:ext uri="{FF2B5EF4-FFF2-40B4-BE49-F238E27FC236}">
                <a16:creationId xmlns:a16="http://schemas.microsoft.com/office/drawing/2014/main" id="{46C9292A-F8DD-6FE2-1DF0-A9D250112927}"/>
              </a:ext>
            </a:extLst>
          </p:cNvPr>
          <p:cNvSpPr txBox="1"/>
          <p:nvPr/>
        </p:nvSpPr>
        <p:spPr>
          <a:xfrm>
            <a:off x="2323001" y="2320491"/>
            <a:ext cx="2892547"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تنوع أساليب التقويم</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 </a:t>
            </a:r>
          </a:p>
        </p:txBody>
      </p:sp>
      <p:graphicFrame>
        <p:nvGraphicFramePr>
          <p:cNvPr id="7" name="جدول 6">
            <a:extLst>
              <a:ext uri="{FF2B5EF4-FFF2-40B4-BE49-F238E27FC236}">
                <a16:creationId xmlns:a16="http://schemas.microsoft.com/office/drawing/2014/main" id="{00FDDE09-A50F-EAEC-5682-B802A334DF45}"/>
              </a:ext>
            </a:extLst>
          </p:cNvPr>
          <p:cNvGraphicFramePr>
            <a:graphicFrameLocks noGrp="1"/>
          </p:cNvGraphicFramePr>
          <p:nvPr>
            <p:extLst>
              <p:ext uri="{D42A27DB-BD31-4B8C-83A1-F6EECF244321}">
                <p14:modId xmlns:p14="http://schemas.microsoft.com/office/powerpoint/2010/main" val="4218776578"/>
              </p:ext>
            </p:extLst>
          </p:nvPr>
        </p:nvGraphicFramePr>
        <p:xfrm>
          <a:off x="853249" y="3888427"/>
          <a:ext cx="5849999" cy="1728216"/>
        </p:xfrm>
        <a:graphic>
          <a:graphicData uri="http://schemas.openxmlformats.org/drawingml/2006/table">
            <a:tbl>
              <a:tblPr rtl="1" firstRow="1" bandRow="1">
                <a:tableStyleId>{2D5ABB26-0587-4C30-8999-92F81FD0307C}</a:tableStyleId>
              </a:tblPr>
              <a:tblGrid>
                <a:gridCol w="3593253">
                  <a:extLst>
                    <a:ext uri="{9D8B030D-6E8A-4147-A177-3AD203B41FA5}">
                      <a16:colId xmlns:a16="http://schemas.microsoft.com/office/drawing/2014/main" val="315138284"/>
                    </a:ext>
                  </a:extLst>
                </a:gridCol>
                <a:gridCol w="1128373">
                  <a:extLst>
                    <a:ext uri="{9D8B030D-6E8A-4147-A177-3AD203B41FA5}">
                      <a16:colId xmlns:a16="http://schemas.microsoft.com/office/drawing/2014/main" val="3931588184"/>
                    </a:ext>
                  </a:extLst>
                </a:gridCol>
                <a:gridCol w="1128373">
                  <a:extLst>
                    <a:ext uri="{9D8B030D-6E8A-4147-A177-3AD203B41FA5}">
                      <a16:colId xmlns:a16="http://schemas.microsoft.com/office/drawing/2014/main" val="408297873"/>
                    </a:ext>
                  </a:extLst>
                </a:gridCol>
              </a:tblGrid>
              <a:tr h="0">
                <a:tc>
                  <a:txBody>
                    <a:bodyPr/>
                    <a:lstStyle/>
                    <a:p>
                      <a:pPr algn="ctr" rtl="1"/>
                      <a:r>
                        <a:rPr lang="ar-SA" sz="1800" b="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الاختبارات الكتابية والشفوية.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تطبيق التقييم العملي من خلال المشاريع والعروض.</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استخدام التقييم التكويني لتتبع تقدم الطلاب بشكل مستمر.</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bl>
          </a:graphicData>
        </a:graphic>
      </p:graphicFrame>
      <p:pic>
        <p:nvPicPr>
          <p:cNvPr id="9" name="صورة 8">
            <a:extLst>
              <a:ext uri="{FF2B5EF4-FFF2-40B4-BE49-F238E27FC236}">
                <a16:creationId xmlns:a16="http://schemas.microsoft.com/office/drawing/2014/main" id="{14F45B64-7231-EEC5-752D-E47A02BAB43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96690" y="9032781"/>
            <a:ext cx="2199084" cy="1231092"/>
          </a:xfrm>
          <a:prstGeom prst="rect">
            <a:avLst/>
          </a:prstGeom>
        </p:spPr>
      </p:pic>
      <p:pic>
        <p:nvPicPr>
          <p:cNvPr id="8" name="صورة 7">
            <a:extLst>
              <a:ext uri="{FF2B5EF4-FFF2-40B4-BE49-F238E27FC236}">
                <a16:creationId xmlns:a16="http://schemas.microsoft.com/office/drawing/2014/main" id="{5F2E4EA8-E489-347E-7BC1-037A06D508A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2" y="6146061"/>
            <a:ext cx="4210816" cy="2357302"/>
          </a:xfrm>
          <a:prstGeom prst="rect">
            <a:avLst/>
          </a:prstGeom>
        </p:spPr>
      </p:pic>
      <p:sp>
        <p:nvSpPr>
          <p:cNvPr id="11" name="TextBox 2">
            <a:extLst>
              <a:ext uri="{FF2B5EF4-FFF2-40B4-BE49-F238E27FC236}">
                <a16:creationId xmlns:a16="http://schemas.microsoft.com/office/drawing/2014/main" id="{DA553A95-DAD6-33E6-82B8-0E579BE4A724}"/>
              </a:ext>
            </a:extLst>
          </p:cNvPr>
          <p:cNvSpPr txBox="1"/>
          <p:nvPr/>
        </p:nvSpPr>
        <p:spPr>
          <a:xfrm>
            <a:off x="2759934" y="7155435"/>
            <a:ext cx="2036629" cy="338554"/>
          </a:xfrm>
          <a:prstGeom prst="rect">
            <a:avLst/>
          </a:prstGeom>
          <a:noFill/>
        </p:spPr>
        <p:txBody>
          <a:bodyPr wrap="square">
            <a:spAutoFit/>
          </a:bodyPr>
          <a:lstStyle/>
          <a:p>
            <a:pPr algn="ctr"/>
            <a:r>
              <a:rPr lang="en-US" sz="1600" dirty="0"/>
              <a:t>{{qr11}}</a:t>
            </a:r>
          </a:p>
        </p:txBody>
      </p:sp>
    </p:spTree>
    <p:extLst>
      <p:ext uri="{BB962C8B-B14F-4D97-AF65-F5344CB8AC3E}">
        <p14:creationId xmlns:p14="http://schemas.microsoft.com/office/powerpoint/2010/main" val="15981915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B0E96-FDF9-0750-6BAC-322A9396711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D5716B5-11D8-FC8C-414F-44034E43535E}"/>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468490D8-5EA7-C77F-906A-D16173E15143}"/>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5694A9B1-7A4F-F2C0-6883-CD06B2EE32D9}"/>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3">
            <a:extLst>
              <a:ext uri="{FF2B5EF4-FFF2-40B4-BE49-F238E27FC236}">
                <a16:creationId xmlns:a16="http://schemas.microsoft.com/office/drawing/2014/main" id="{3992B825-B16E-9FE6-9CB9-E49A8E5E31C7}"/>
              </a:ext>
            </a:extLst>
          </p:cNvPr>
          <p:cNvSpPr txBox="1"/>
          <p:nvPr/>
        </p:nvSpPr>
        <p:spPr>
          <a:xfrm>
            <a:off x="1726986" y="2889647"/>
            <a:ext cx="4436038" cy="430887"/>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SA" sz="2800" dirty="0">
                <a:latin typeface="Sakkal Majalla" panose="02000000000000000000" pitchFamily="2" charset="-78"/>
                <a:cs typeface="Sakkal Majalla" panose="02000000000000000000" pitchFamily="2" charset="-78"/>
                <a:sym typeface="GE SS Two Light"/>
              </a:rPr>
              <a:t>متابعة التوثيق</a:t>
            </a:r>
            <a:endParaRPr lang="ar-EG" sz="2800" dirty="0">
              <a:latin typeface="Sakkal Majalla" panose="02000000000000000000" pitchFamily="2" charset="-78"/>
              <a:cs typeface="Sakkal Majalla" panose="02000000000000000000" pitchFamily="2" charset="-78"/>
              <a:sym typeface="GE SS Two Light"/>
            </a:endParaRPr>
          </a:p>
        </p:txBody>
      </p:sp>
      <p:graphicFrame>
        <p:nvGraphicFramePr>
          <p:cNvPr id="6" name="جدول 5">
            <a:extLst>
              <a:ext uri="{FF2B5EF4-FFF2-40B4-BE49-F238E27FC236}">
                <a16:creationId xmlns:a16="http://schemas.microsoft.com/office/drawing/2014/main" id="{B45A3F40-09C0-4F89-FD71-3CBBE4041CCB}"/>
              </a:ext>
            </a:extLst>
          </p:cNvPr>
          <p:cNvGraphicFramePr>
            <a:graphicFrameLocks noGrp="1"/>
          </p:cNvGraphicFramePr>
          <p:nvPr>
            <p:extLst>
              <p:ext uri="{D42A27DB-BD31-4B8C-83A1-F6EECF244321}">
                <p14:modId xmlns:p14="http://schemas.microsoft.com/office/powerpoint/2010/main" val="2603869974"/>
              </p:ext>
            </p:extLst>
          </p:nvPr>
        </p:nvGraphicFramePr>
        <p:xfrm>
          <a:off x="1020005" y="3816697"/>
          <a:ext cx="5850000" cy="4188224"/>
        </p:xfrm>
        <a:graphic>
          <a:graphicData uri="http://schemas.openxmlformats.org/drawingml/2006/table">
            <a:tbl>
              <a:tblPr rtl="1" bandRow="1">
                <a:tableStyleId>{2D5ABB26-0587-4C30-8999-92F81FD0307C}</a:tableStyleId>
              </a:tblPr>
              <a:tblGrid>
                <a:gridCol w="1488092">
                  <a:extLst>
                    <a:ext uri="{9D8B030D-6E8A-4147-A177-3AD203B41FA5}">
                      <a16:colId xmlns:a16="http://schemas.microsoft.com/office/drawing/2014/main" val="3296915585"/>
                    </a:ext>
                  </a:extLst>
                </a:gridCol>
                <a:gridCol w="1413509">
                  <a:extLst>
                    <a:ext uri="{9D8B030D-6E8A-4147-A177-3AD203B41FA5}">
                      <a16:colId xmlns:a16="http://schemas.microsoft.com/office/drawing/2014/main" val="1019103702"/>
                    </a:ext>
                  </a:extLst>
                </a:gridCol>
                <a:gridCol w="1262498">
                  <a:extLst>
                    <a:ext uri="{9D8B030D-6E8A-4147-A177-3AD203B41FA5}">
                      <a16:colId xmlns:a16="http://schemas.microsoft.com/office/drawing/2014/main" val="1259942246"/>
                    </a:ext>
                  </a:extLst>
                </a:gridCol>
                <a:gridCol w="1685901">
                  <a:extLst>
                    <a:ext uri="{9D8B030D-6E8A-4147-A177-3AD203B41FA5}">
                      <a16:colId xmlns:a16="http://schemas.microsoft.com/office/drawing/2014/main" val="2645825546"/>
                    </a:ext>
                  </a:extLst>
                </a:gridCol>
              </a:tblGrid>
              <a:tr h="439168">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المتابعة الأولى</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المتابعة الثانية</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extLst>
                  <a:ext uri="{0D108BD9-81ED-4DB2-BD59-A6C34878D82A}">
                    <a16:rowId xmlns:a16="http://schemas.microsoft.com/office/drawing/2014/main" val="4165442"/>
                  </a:ext>
                </a:extLst>
              </a:tr>
              <a:tr h="439168">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التوصيات</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التوصيات</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extLst>
                  <a:ext uri="{0D108BD9-81ED-4DB2-BD59-A6C34878D82A}">
                    <a16:rowId xmlns:a16="http://schemas.microsoft.com/office/drawing/2014/main" val="1208223218"/>
                  </a:ext>
                </a:extLst>
              </a:tr>
              <a:tr h="1992384">
                <a:tc gridSpan="2">
                  <a:txBody>
                    <a:bodyPr/>
                    <a:lstStyle/>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p>
                      <a:pPr marL="17780" algn="ctr" rtl="1">
                        <a:lnSpc>
                          <a:spcPct val="115000"/>
                        </a:lnSpc>
                        <a:spcAft>
                          <a:spcPts val="800"/>
                        </a:spcAft>
                      </a:pPr>
                      <a:endPar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p>
                      <a:pPr marL="17780" algn="ctr" rtl="1">
                        <a:lnSpc>
                          <a:spcPct val="115000"/>
                        </a:lnSpc>
                        <a:spcAft>
                          <a:spcPts val="800"/>
                        </a:spcAft>
                      </a:pP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pPr rtl="1"/>
                      <a:endParaRPr lang="ar-SA"/>
                    </a:p>
                  </a:txBody>
                  <a:tcPr/>
                </a:tc>
                <a:tc gridSpan="2">
                  <a:txBody>
                    <a:bodyPr/>
                    <a:lstStyle/>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pPr rtl="1"/>
                      <a:endParaRPr lang="ar-SA"/>
                    </a:p>
                  </a:txBody>
                  <a:tcPr/>
                </a:tc>
                <a:extLst>
                  <a:ext uri="{0D108BD9-81ED-4DB2-BD59-A6C34878D82A}">
                    <a16:rowId xmlns:a16="http://schemas.microsoft.com/office/drawing/2014/main" val="1711079452"/>
                  </a:ext>
                </a:extLst>
              </a:tr>
              <a:tr h="439168">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اليوم:</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اليوم:</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286999"/>
                  </a:ext>
                </a:extLst>
              </a:tr>
              <a:tr h="439168">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التاريخ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التاريخ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6691709"/>
                  </a:ext>
                </a:extLst>
              </a:tr>
              <a:tr h="439168">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التوقيع:</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التوقيع:</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88032796"/>
                  </a:ext>
                </a:extLst>
              </a:tr>
            </a:tbl>
          </a:graphicData>
        </a:graphic>
      </p:graphicFrame>
      <p:pic>
        <p:nvPicPr>
          <p:cNvPr id="7" name="صورة 6">
            <a:extLst>
              <a:ext uri="{FF2B5EF4-FFF2-40B4-BE49-F238E27FC236}">
                <a16:creationId xmlns:a16="http://schemas.microsoft.com/office/drawing/2014/main" id="{98A2703A-112B-224E-1C40-EF8B47FCD01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090698" y="8037941"/>
            <a:ext cx="3375104" cy="1889453"/>
          </a:xfrm>
          <a:prstGeom prst="rect">
            <a:avLst/>
          </a:prstGeom>
        </p:spPr>
      </p:pic>
      <p:pic>
        <p:nvPicPr>
          <p:cNvPr id="9" name="صورة 8">
            <a:extLst>
              <a:ext uri="{FF2B5EF4-FFF2-40B4-BE49-F238E27FC236}">
                <a16:creationId xmlns:a16="http://schemas.microsoft.com/office/drawing/2014/main" id="{19E94353-ED5D-C8BD-6316-DA2640A6A13E}"/>
              </a:ext>
            </a:extLst>
          </p:cNvPr>
          <p:cNvPicPr>
            <a:picLocks noChangeAspect="1"/>
          </p:cNvPicPr>
          <p:nvPr/>
        </p:nvPicPr>
        <p:blipFill>
          <a:blip r:embed="rId6" cstate="print">
            <a:extLst>
              <a:ext uri="{28A0092B-C50C-407E-A947-70E740481C1C}">
                <a14:useLocalDpi xmlns:a14="http://schemas.microsoft.com/office/drawing/2010/main" val="0"/>
              </a:ext>
            </a:extLst>
          </a:blip>
          <a:srcRect l="38618" t="19695" r="40865"/>
          <a:stretch/>
        </p:blipFill>
        <p:spPr>
          <a:xfrm>
            <a:off x="559221" y="251749"/>
            <a:ext cx="977431" cy="2141734"/>
          </a:xfrm>
          <a:prstGeom prst="rect">
            <a:avLst/>
          </a:prstGeom>
        </p:spPr>
      </p:pic>
    </p:spTree>
    <p:extLst>
      <p:ext uri="{BB962C8B-B14F-4D97-AF65-F5344CB8AC3E}">
        <p14:creationId xmlns:p14="http://schemas.microsoft.com/office/powerpoint/2010/main" val="23712693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A4B41F-16F4-32F7-FC6D-BC68A23C759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0C710D7-91E8-882E-851C-795F489E48B6}"/>
              </a:ext>
            </a:extLst>
          </p:cNvPr>
          <p:cNvSpPr>
            <a:spLocks/>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sz="2400"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D40EA89E-EA86-AA34-0C1E-C429AC75FA2F}"/>
              </a:ext>
            </a:extLst>
          </p:cNvPr>
          <p:cNvSpPr>
            <a:spLocks/>
          </p:cNvSpPr>
          <p:nvPr/>
        </p:nvSpPr>
        <p:spPr>
          <a:xfrm>
            <a:off x="5346700" y="0"/>
            <a:ext cx="2209800" cy="10693400"/>
          </a:xfrm>
          <a:custGeom>
            <a:avLst/>
            <a:gdLst/>
            <a:ahLst/>
            <a:cxnLst/>
            <a:rect l="l" t="t" r="r" b="b"/>
            <a:pathLst>
              <a:path w="4909386" h="12027133">
                <a:moveTo>
                  <a:pt x="0" y="0"/>
                </a:moveTo>
                <a:lnTo>
                  <a:pt x="4909386" y="0"/>
                </a:lnTo>
                <a:lnTo>
                  <a:pt x="4909386" y="12027133"/>
                </a:lnTo>
                <a:lnTo>
                  <a:pt x="0" y="12027133"/>
                </a:lnTo>
                <a:lnTo>
                  <a:pt x="0" y="0"/>
                </a:lnTo>
                <a:close/>
              </a:path>
            </a:pathLst>
          </a:custGeom>
          <a:blipFill>
            <a:blip r:embed="rId3"/>
            <a:stretch>
              <a:fillRect l="-200000" t="-7720" r="-6148" b="-4752"/>
            </a:stretch>
          </a:blipFill>
          <a:ln w="9525" cap="sq">
            <a:solidFill>
              <a:srgbClr val="594053"/>
            </a:solidFill>
            <a:prstDash val="solid"/>
            <a:miter/>
          </a:ln>
        </p:spPr>
        <p:txBody>
          <a:bodyPr/>
          <a:lstStyle/>
          <a:p>
            <a:endParaRPr lang="ar-SA" sz="2400">
              <a:latin typeface="Sakkal Majalla" panose="02000000000000000000" pitchFamily="2" charset="-78"/>
              <a:cs typeface="Sakkal Majalla" panose="02000000000000000000" pitchFamily="2" charset="-78"/>
            </a:endParaRPr>
          </a:p>
        </p:txBody>
      </p:sp>
      <p:sp>
        <p:nvSpPr>
          <p:cNvPr id="14" name="مربع نص 13">
            <a:extLst>
              <a:ext uri="{FF2B5EF4-FFF2-40B4-BE49-F238E27FC236}">
                <a16:creationId xmlns:a16="http://schemas.microsoft.com/office/drawing/2014/main" id="{3052DFE3-832E-16BE-B4E0-17739EED0416}"/>
              </a:ext>
            </a:extLst>
          </p:cNvPr>
          <p:cNvSpPr txBox="1"/>
          <p:nvPr/>
        </p:nvSpPr>
        <p:spPr>
          <a:xfrm>
            <a:off x="398170" y="2049134"/>
            <a:ext cx="4752220" cy="1077218"/>
          </a:xfrm>
          <a:prstGeom prst="rect">
            <a:avLst/>
          </a:prstGeom>
          <a:noFill/>
        </p:spPr>
        <p:txBody>
          <a:bodyPr wrap="square" rtlCol="0">
            <a:spAutoFit/>
          </a:bodyPr>
          <a:lstStyle/>
          <a:p>
            <a:pPr algn="ctr"/>
            <a:r>
              <a:rPr lang="ar-SA" sz="32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كل لحظة هنا هي درس تعلمته</a:t>
            </a:r>
          </a:p>
          <a:p>
            <a:pPr algn="ctr"/>
            <a:r>
              <a:rPr lang="ar-SA" sz="32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شكراً لتقديركم لجهودي </a:t>
            </a:r>
            <a:endParaRPr lang="en-US" sz="32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15" name="مربع نص 14">
            <a:extLst>
              <a:ext uri="{FF2B5EF4-FFF2-40B4-BE49-F238E27FC236}">
                <a16:creationId xmlns:a16="http://schemas.microsoft.com/office/drawing/2014/main" id="{D5429974-655E-AD17-4CE5-531E95145A7B}"/>
              </a:ext>
            </a:extLst>
          </p:cNvPr>
          <p:cNvSpPr txBox="1"/>
          <p:nvPr/>
        </p:nvSpPr>
        <p:spPr>
          <a:xfrm>
            <a:off x="398170" y="4065569"/>
            <a:ext cx="4599280" cy="2677656"/>
          </a:xfrm>
          <a:prstGeom prst="rect">
            <a:avLst/>
          </a:prstGeom>
          <a:noFill/>
        </p:spPr>
        <p:txBody>
          <a:bodyPr wrap="square" rtlCol="0">
            <a:spAutoFit/>
          </a:bodyPr>
          <a:lstStyle/>
          <a:p>
            <a:pPr algn="ctr"/>
            <a:r>
              <a:rPr lang="ar-SA" sz="28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في ختام هذا الملف أود التأكيد على أن الأداء</a:t>
            </a:r>
          </a:p>
          <a:p>
            <a:pPr algn="ctr"/>
            <a:r>
              <a:rPr lang="ar-SA" sz="28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الوظيفي المتميز هو نتاج الاجتهاد والتطوير المستمر ، لقد حرصت من خلال هذا الملف على توثيق شواهد تعكس التزامي المهني وسعيي الدائم للارتقاء بمهاراتي وتحقيق الأهداف المرجوة.</a:t>
            </a:r>
          </a:p>
        </p:txBody>
      </p:sp>
      <p:sp>
        <p:nvSpPr>
          <p:cNvPr id="16" name="مربع نص 15">
            <a:extLst>
              <a:ext uri="{FF2B5EF4-FFF2-40B4-BE49-F238E27FC236}">
                <a16:creationId xmlns:a16="http://schemas.microsoft.com/office/drawing/2014/main" id="{2C512875-F02A-EA60-892F-B4BBDC0E218F}"/>
              </a:ext>
            </a:extLst>
          </p:cNvPr>
          <p:cNvSpPr txBox="1"/>
          <p:nvPr/>
        </p:nvSpPr>
        <p:spPr>
          <a:xfrm>
            <a:off x="125264" y="7632700"/>
            <a:ext cx="4752220" cy="523220"/>
          </a:xfrm>
          <a:prstGeom prst="rect">
            <a:avLst/>
          </a:prstGeom>
          <a:noFill/>
        </p:spPr>
        <p:txBody>
          <a:bodyPr wrap="square" rtlCol="0">
            <a:spAutoFit/>
          </a:bodyPr>
          <a:lstStyle>
            <a:defPPr>
              <a:defRPr lang="en-US"/>
            </a:defPPr>
            <a:lvl1pPr algn="ctr">
              <a:defRPr sz="280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defRPr>
            </a:lvl1pPr>
          </a:lstStyle>
          <a:p>
            <a:r>
              <a:rPr lang="ar-SA" dirty="0"/>
              <a:t>المعلمة/</a:t>
            </a:r>
          </a:p>
        </p:txBody>
      </p:sp>
      <p:sp>
        <p:nvSpPr>
          <p:cNvPr id="4" name="TextBox 2">
            <a:extLst>
              <a:ext uri="{FF2B5EF4-FFF2-40B4-BE49-F238E27FC236}">
                <a16:creationId xmlns:a16="http://schemas.microsoft.com/office/drawing/2014/main" id="{F05D224E-A5C3-030C-7CF9-E5F514338EEC}"/>
              </a:ext>
            </a:extLst>
          </p:cNvPr>
          <p:cNvSpPr txBox="1"/>
          <p:nvPr/>
        </p:nvSpPr>
        <p:spPr>
          <a:xfrm>
            <a:off x="1455254" y="8121046"/>
            <a:ext cx="2092240" cy="523220"/>
          </a:xfrm>
          <a:prstGeom prst="rect">
            <a:avLst/>
          </a:prstGeom>
          <a:noFill/>
        </p:spPr>
        <p:txBody>
          <a:bodyPr wrap="square" rtlCol="0">
            <a:spAutoFit/>
          </a:bodyPr>
          <a:lstStyle>
            <a:defPPr>
              <a:defRPr lang="en-US"/>
            </a:defPPr>
            <a:lvl1pPr algn="ctr">
              <a:defRPr sz="280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defRPr>
            </a:lvl1pPr>
          </a:lstStyle>
          <a:p>
            <a:r>
              <a:rPr lang="en-US" dirty="0"/>
              <a:t>{{</a:t>
            </a:r>
            <a:r>
              <a:rPr lang="en-US" dirty="0" err="1"/>
              <a:t>teacher_name</a:t>
            </a:r>
            <a:r>
              <a:rPr lang="en-US" dirty="0"/>
              <a:t>}}</a:t>
            </a:r>
          </a:p>
        </p:txBody>
      </p:sp>
    </p:spTree>
    <p:extLst>
      <p:ext uri="{BB962C8B-B14F-4D97-AF65-F5344CB8AC3E}">
        <p14:creationId xmlns:p14="http://schemas.microsoft.com/office/powerpoint/2010/main" val="417829982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 dockstate="right" visibility="0" width="438"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4BC001CA-459B-4311-9E1C-257827FDBDF3}">
  <we:reference id="wa104051163" version="1.2.0.3" store="ar-SA" storeType="OMEX"/>
  <we:alternateReferences>
    <we:reference id="WA104051163" version="1.2.0.3" store=""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D426D3DE-EEF2-46DA-BF20-0B21828E532F}">
  <we:reference id="wa200003220" version="1.0.0.0" store="ar-SA" storeType="OMEX"/>
  <we:alternateReferences>
    <we:reference id="WA200003220" version="1.0.0.0"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155</TotalTime>
  <Words>2010</Words>
  <Application>Microsoft Office PowerPoint</Application>
  <PresentationFormat>مخصص</PresentationFormat>
  <Paragraphs>307</Paragraphs>
  <Slides>26</Slides>
  <Notes>0</Notes>
  <HiddenSlides>0</HiddenSlides>
  <MMClips>0</MMClips>
  <ScaleCrop>false</ScaleCrop>
  <HeadingPairs>
    <vt:vector size="6" baseType="variant">
      <vt:variant>
        <vt:lpstr>الخطوط المستخدمة</vt:lpstr>
      </vt:variant>
      <vt:variant>
        <vt:i4>5</vt:i4>
      </vt:variant>
      <vt:variant>
        <vt:lpstr>نسق</vt:lpstr>
      </vt:variant>
      <vt:variant>
        <vt:i4>1</vt:i4>
      </vt:variant>
      <vt:variant>
        <vt:lpstr>عناوين الشرائح</vt:lpstr>
      </vt:variant>
      <vt:variant>
        <vt:i4>26</vt:i4>
      </vt:variant>
    </vt:vector>
  </HeadingPairs>
  <TitlesOfParts>
    <vt:vector size="32" baseType="lpstr">
      <vt:lpstr>Times New Roman</vt:lpstr>
      <vt:lpstr>Sakkal Majalla</vt:lpstr>
      <vt:lpstr>Arial</vt:lpstr>
      <vt:lpstr>Calibri</vt:lpstr>
      <vt:lpstr>GE SS Two Light</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نسخة من تصميم بدون عنوان</dc:title>
  <dc:creator>Dell</dc:creator>
  <cp:lastModifiedBy>kk zh-</cp:lastModifiedBy>
  <cp:revision>8</cp:revision>
  <dcterms:created xsi:type="dcterms:W3CDTF">2006-08-16T00:00:00Z</dcterms:created>
  <dcterms:modified xsi:type="dcterms:W3CDTF">2025-11-26T13:11:52Z</dcterms:modified>
  <dc:identifier>DAGmab52QWo</dc:identifier>
</cp:coreProperties>
</file>