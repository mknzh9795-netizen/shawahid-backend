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61" r:id="rId4"/>
    <p:sldId id="262" r:id="rId5"/>
    <p:sldId id="263" r:id="rId6"/>
    <p:sldId id="282" r:id="rId7"/>
    <p:sldId id="283" r:id="rId8"/>
    <p:sldId id="284" r:id="rId9"/>
    <p:sldId id="285" r:id="rId10"/>
    <p:sldId id="286"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81" r:id="rId27"/>
  </p:sldIdLst>
  <p:sldSz cx="7556500" cy="10693400"/>
  <p:notesSz cx="6858000" cy="9144000"/>
  <p:embeddedFontLst>
    <p:embeddedFont>
      <p:font typeface="GE SS Two Light" panose="020A0503020102020204" pitchFamily="18" charset="-78"/>
      <p:regular r:id="rId28"/>
    </p:embeddedFont>
    <p:embeddedFont>
      <p:font typeface="Sakkal Majalla" panose="02000000000000000000" pitchFamily="2" charset="-78"/>
      <p:regular r:id="rId29"/>
      <p:bold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D6D1"/>
    <a:srgbClr val="D4C2C6"/>
    <a:srgbClr val="D0BABF"/>
    <a:srgbClr val="855B64"/>
    <a:srgbClr val="CEBAC9"/>
    <a:srgbClr val="5B4155"/>
    <a:srgbClr val="DDDCD7"/>
    <a:srgbClr val="F0D6D5"/>
    <a:srgbClr val="D5C5D1"/>
    <a:srgbClr val="F0EF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75" d="100"/>
          <a:sy n="75" d="100"/>
        </p:scale>
        <p:origin x="1968" y="-7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3.fntdata"/><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عنصر نائب للصورة 2">
            <a:extLst>
              <a:ext uri="{FF2B5EF4-FFF2-40B4-BE49-F238E27FC236}">
                <a16:creationId xmlns:a16="http://schemas.microsoft.com/office/drawing/2014/main" id="{185A8703-1C56-7ED6-B1A6-7A430A5AC61C}"/>
              </a:ext>
            </a:extLst>
          </p:cNvPr>
          <p:cNvSpPr>
            <a:spLocks noGrp="1"/>
          </p:cNvSpPr>
          <p:nvPr>
            <p:ph type="pic" sz="quarter" idx="10" hasCustomPrompt="1"/>
          </p:nvPr>
        </p:nvSpPr>
        <p:spPr>
          <a:xfrm>
            <a:off x="3058250" y="5118100"/>
            <a:ext cx="1440000" cy="1440000"/>
          </a:xfrm>
        </p:spPr>
        <p:txBody>
          <a:bodyPr/>
          <a:lstStyle>
            <a:lvl1pPr marL="0" indent="0">
              <a:buNone/>
              <a:defRPr/>
            </a:lvl1pPr>
          </a:lstStyle>
          <a:p>
            <a:r>
              <a:rPr lang="en-US" dirty="0"/>
              <a:t>{%qr1}</a:t>
            </a:r>
          </a:p>
          <a:p>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3.png"/><Relationship Id="rId7"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4.svg"/><Relationship Id="rId9"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5.png"/><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4.sv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4.sv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6.png"/><Relationship Id="rId4" Type="http://schemas.openxmlformats.org/officeDocument/2006/relationships/image" Target="../media/image4.sv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6.png"/><Relationship Id="rId4" Type="http://schemas.openxmlformats.org/officeDocument/2006/relationships/image" Target="../media/image4.sv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4.sv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4.sv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4.sv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4.png"/><Relationship Id="rId4" Type="http://schemas.openxmlformats.org/officeDocument/2006/relationships/image" Target="../media/image4.sv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4.sv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a:spLocks noGrp="1" noRot="1" noMove="1" noResize="1" noEditPoints="1" noAdjustHandles="1" noChangeArrowheads="1" noChangeShapeType="1"/>
          </p:cNvSpPr>
          <p:nvPr/>
        </p:nvSpPr>
        <p:spPr>
          <a:xfrm>
            <a:off x="0" y="0"/>
            <a:ext cx="7560000" cy="10692000"/>
          </a:xfrm>
          <a:custGeom>
            <a:avLst/>
            <a:gdLst/>
            <a:ahLst/>
            <a:cxnLst/>
            <a:rect l="l" t="t" r="r" b="b"/>
            <a:pathLst>
              <a:path w="7560000" h="10692000">
                <a:moveTo>
                  <a:pt x="0" y="0"/>
                </a:moveTo>
                <a:lnTo>
                  <a:pt x="7560000" y="0"/>
                </a:lnTo>
                <a:lnTo>
                  <a:pt x="7560000" y="10692000"/>
                </a:lnTo>
                <a:lnTo>
                  <a:pt x="0" y="10692000"/>
                </a:lnTo>
                <a:lnTo>
                  <a:pt x="0" y="0"/>
                </a:lnTo>
                <a:close/>
              </a:path>
            </a:pathLst>
          </a:custGeom>
          <a:blipFill>
            <a:blip r:embed="rId2"/>
            <a:stretch>
              <a:fillRect l="-781" t="-13832" r="-781" b="-13832"/>
            </a:stretch>
          </a:blipFill>
        </p:spPr>
        <p:txBody>
          <a:bodyPr/>
          <a:lstStyle/>
          <a:p>
            <a:endParaRPr lang="ar-SA" dirty="0"/>
          </a:p>
        </p:txBody>
      </p:sp>
      <p:sp>
        <p:nvSpPr>
          <p:cNvPr id="3" name="Freeform 3"/>
          <p:cNvSpPr>
            <a:spLocks noGrp="1" noRot="1" noMove="1" noResize="1" noEditPoints="1" noAdjustHandles="1" noChangeArrowheads="1" noChangeShapeType="1"/>
          </p:cNvSpPr>
          <p:nvPr/>
        </p:nvSpPr>
        <p:spPr>
          <a:xfrm>
            <a:off x="-107950" y="1"/>
            <a:ext cx="2209800" cy="10693400"/>
          </a:xfrm>
          <a:custGeom>
            <a:avLst/>
            <a:gdLst/>
            <a:ahLst/>
            <a:cxnLst/>
            <a:rect l="l" t="t" r="r" b="b"/>
            <a:pathLst>
              <a:path w="4909386" h="12027133">
                <a:moveTo>
                  <a:pt x="0" y="0"/>
                </a:moveTo>
                <a:lnTo>
                  <a:pt x="4909386" y="0"/>
                </a:lnTo>
                <a:lnTo>
                  <a:pt x="4909386" y="12027133"/>
                </a:lnTo>
                <a:lnTo>
                  <a:pt x="0" y="12027133"/>
                </a:lnTo>
                <a:lnTo>
                  <a:pt x="0" y="0"/>
                </a:lnTo>
                <a:close/>
              </a:path>
            </a:pathLst>
          </a:custGeom>
          <a:blipFill>
            <a:blip r:embed="rId3"/>
            <a:stretch>
              <a:fillRect l="-200000" t="-7720" r="-6148" b="-4752"/>
            </a:stretch>
          </a:blipFill>
          <a:ln w="9525" cap="sq">
            <a:solidFill>
              <a:srgbClr val="594053"/>
            </a:solidFill>
            <a:prstDash val="solid"/>
            <a:miter/>
          </a:ln>
        </p:spPr>
        <p:txBody>
          <a:bodyPr/>
          <a:lstStyle/>
          <a:p>
            <a:endParaRPr lang="ar-SA"/>
          </a:p>
        </p:txBody>
      </p:sp>
      <p:sp>
        <p:nvSpPr>
          <p:cNvPr id="4" name="Freeform 4"/>
          <p:cNvSpPr>
            <a:spLocks noGrp="1" noRot="1" noMove="1" noResize="1" noEditPoints="1" noAdjustHandles="1" noChangeArrowheads="1" noChangeShapeType="1"/>
          </p:cNvSpPr>
          <p:nvPr/>
        </p:nvSpPr>
        <p:spPr>
          <a:xfrm>
            <a:off x="6654829" y="7724227"/>
            <a:ext cx="905171" cy="2967773"/>
          </a:xfrm>
          <a:custGeom>
            <a:avLst/>
            <a:gdLst/>
            <a:ahLst/>
            <a:cxnLst/>
            <a:rect l="l" t="t" r="r" b="b"/>
            <a:pathLst>
              <a:path w="905171" h="2967773">
                <a:moveTo>
                  <a:pt x="0" y="0"/>
                </a:moveTo>
                <a:lnTo>
                  <a:pt x="905171" y="0"/>
                </a:lnTo>
                <a:lnTo>
                  <a:pt x="905171" y="2967773"/>
                </a:lnTo>
                <a:lnTo>
                  <a:pt x="0" y="2967773"/>
                </a:lnTo>
                <a:lnTo>
                  <a:pt x="0" y="0"/>
                </a:lnTo>
                <a:close/>
              </a:path>
            </a:pathLst>
          </a:custGeom>
          <a:blipFill>
            <a:blip r:embed="rId4">
              <a:alphaModFix amt="83000"/>
              <a:extLst>
                <a:ext uri="{96DAC541-7B7A-43D3-8B79-37D633B846F1}">
                  <asvg:svgBlip xmlns:asvg="http://schemas.microsoft.com/office/drawing/2016/SVG/main" r:embed="rId5"/>
                </a:ext>
              </a:extLst>
            </a:blip>
            <a:stretch>
              <a:fillRect/>
            </a:stretch>
          </a:blipFill>
        </p:spPr>
        <p:txBody>
          <a:bodyPr/>
          <a:lstStyle/>
          <a:p>
            <a:endParaRPr lang="ar-SA"/>
          </a:p>
        </p:txBody>
      </p:sp>
      <p:sp>
        <p:nvSpPr>
          <p:cNvPr id="5" name="Freeform 5"/>
          <p:cNvSpPr>
            <a:spLocks noGrp="1" noRot="1" noMove="1" noResize="1" noEditPoints="1" noAdjustHandles="1" noChangeArrowheads="1" noChangeShapeType="1"/>
          </p:cNvSpPr>
          <p:nvPr/>
        </p:nvSpPr>
        <p:spPr>
          <a:xfrm>
            <a:off x="5680703" y="379634"/>
            <a:ext cx="1426712" cy="1084301"/>
          </a:xfrm>
          <a:custGeom>
            <a:avLst/>
            <a:gdLst/>
            <a:ahLst/>
            <a:cxnLst/>
            <a:rect l="l" t="t" r="r" b="b"/>
            <a:pathLst>
              <a:path w="1426712" h="1084301">
                <a:moveTo>
                  <a:pt x="0" y="0"/>
                </a:moveTo>
                <a:lnTo>
                  <a:pt x="1426712" y="0"/>
                </a:lnTo>
                <a:lnTo>
                  <a:pt x="1426712" y="1084300"/>
                </a:lnTo>
                <a:lnTo>
                  <a:pt x="0" y="1084300"/>
                </a:lnTo>
                <a:lnTo>
                  <a:pt x="0" y="0"/>
                </a:lnTo>
                <a:close/>
              </a:path>
            </a:pathLst>
          </a:custGeom>
          <a:blipFill>
            <a:blip r:embed="rId6"/>
            <a:stretch>
              <a:fillRect/>
            </a:stretch>
          </a:blipFill>
        </p:spPr>
        <p:txBody>
          <a:bodyPr/>
          <a:lstStyle/>
          <a:p>
            <a:endParaRPr lang="ar-SA"/>
          </a:p>
        </p:txBody>
      </p:sp>
      <p:pic>
        <p:nvPicPr>
          <p:cNvPr id="10" name="صورة 9">
            <a:extLst>
              <a:ext uri="{FF2B5EF4-FFF2-40B4-BE49-F238E27FC236}">
                <a16:creationId xmlns:a16="http://schemas.microsoft.com/office/drawing/2014/main" id="{55686788-9611-18D9-3EA0-401DE39455D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301186" y="8623300"/>
            <a:ext cx="1306470" cy="731389"/>
          </a:xfrm>
          <a:prstGeom prst="rect">
            <a:avLst/>
          </a:prstGeom>
        </p:spPr>
      </p:pic>
      <p:pic>
        <p:nvPicPr>
          <p:cNvPr id="11" name="صورة 10">
            <a:extLst>
              <a:ext uri="{FF2B5EF4-FFF2-40B4-BE49-F238E27FC236}">
                <a16:creationId xmlns:a16="http://schemas.microsoft.com/office/drawing/2014/main" id="{B4E9A54D-0A82-ED6B-B7AA-5E4992E6E3EE}"/>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817159" y="2267839"/>
            <a:ext cx="3822157" cy="2139723"/>
          </a:xfrm>
          <a:prstGeom prst="rect">
            <a:avLst/>
          </a:prstGeom>
        </p:spPr>
      </p:pic>
      <p:sp>
        <p:nvSpPr>
          <p:cNvPr id="12" name="مربع نص 11">
            <a:extLst>
              <a:ext uri="{FF2B5EF4-FFF2-40B4-BE49-F238E27FC236}">
                <a16:creationId xmlns:a16="http://schemas.microsoft.com/office/drawing/2014/main" id="{697007F0-155F-623F-E02C-35CCABD0464D}"/>
              </a:ext>
            </a:extLst>
          </p:cNvPr>
          <p:cNvSpPr txBox="1"/>
          <p:nvPr/>
        </p:nvSpPr>
        <p:spPr>
          <a:xfrm>
            <a:off x="2666410" y="5104726"/>
            <a:ext cx="4329029" cy="584775"/>
          </a:xfrm>
          <a:prstGeom prst="rect">
            <a:avLst/>
          </a:prstGeom>
          <a:noFill/>
        </p:spPr>
        <p:txBody>
          <a:bodyPr wrap="square" rtlCol="0">
            <a:spAutoFit/>
          </a:bodyPr>
          <a:lstStyle>
            <a:defPPr>
              <a:defRPr lang="en-US"/>
            </a:defPPr>
            <a:lvl1pPr algn="ctr">
              <a:defRPr sz="2800">
                <a:solidFill>
                  <a:srgbClr val="996E79"/>
                </a:solidFill>
                <a:latin typeface="Sakkal Majalla" panose="02000000000000000000" pitchFamily="2" charset="-78"/>
                <a:ea typeface="GE SS Two Light" panose="020A0503020102020204" pitchFamily="18" charset="-78"/>
                <a:cs typeface="Sakkal Majalla" panose="02000000000000000000" pitchFamily="2" charset="-78"/>
              </a:defRPr>
            </a:lvl1pPr>
          </a:lstStyle>
          <a:p>
            <a:r>
              <a:rPr lang="en-US" sz="3200" dirty="0"/>
              <a:t>خالد</a:t>
            </a:r>
          </a:p>
        </p:txBody>
      </p:sp>
      <p:pic>
        <p:nvPicPr>
          <p:cNvPr id="13" name="صورة 12">
            <a:extLst>
              <a:ext uri="{FF2B5EF4-FFF2-40B4-BE49-F238E27FC236}">
                <a16:creationId xmlns:a16="http://schemas.microsoft.com/office/drawing/2014/main" id="{DE5C35E6-A5AF-010A-30B4-126DD39C950B}"/>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817161" y="6285838"/>
            <a:ext cx="3573110" cy="200030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7560000" cy="10692000"/>
          </a:xfrm>
          <a:custGeom>
            <a:avLst/>
            <a:gdLst/>
            <a:ahLst/>
            <a:cxnLst/>
            <a:rect l="l" t="t" r="r" b="b"/>
            <a:pathLst>
              <a:path w="7560000" h="10692000">
                <a:moveTo>
                  <a:pt x="0" y="0"/>
                </a:moveTo>
                <a:lnTo>
                  <a:pt x="7560000" y="0"/>
                </a:lnTo>
                <a:lnTo>
                  <a:pt x="7560000" y="10692000"/>
                </a:lnTo>
                <a:lnTo>
                  <a:pt x="0" y="10692000"/>
                </a:lnTo>
                <a:lnTo>
                  <a:pt x="0" y="0"/>
                </a:lnTo>
                <a:close/>
              </a:path>
            </a:pathLst>
          </a:custGeom>
          <a:blipFill>
            <a:blip r:embed="rId2"/>
            <a:stretch>
              <a:fillRect l="-781" t="-13832" r="-781" b="-13832"/>
            </a:stretch>
          </a:blipFill>
        </p:spPr>
        <p:txBody>
          <a:bodyPr/>
          <a:lstStyle/>
          <a:p>
            <a:endParaRPr lang="ar-SA"/>
          </a:p>
        </p:txBody>
      </p:sp>
      <p:sp>
        <p:nvSpPr>
          <p:cNvPr id="3" name="Freeform 3"/>
          <p:cNvSpPr/>
          <p:nvPr/>
        </p:nvSpPr>
        <p:spPr>
          <a:xfrm>
            <a:off x="6654829" y="7724227"/>
            <a:ext cx="905171" cy="2967773"/>
          </a:xfrm>
          <a:custGeom>
            <a:avLst/>
            <a:gdLst/>
            <a:ahLst/>
            <a:cxnLst/>
            <a:rect l="l" t="t" r="r" b="b"/>
            <a:pathLst>
              <a:path w="905171" h="2967773">
                <a:moveTo>
                  <a:pt x="0" y="0"/>
                </a:moveTo>
                <a:lnTo>
                  <a:pt x="905171" y="0"/>
                </a:lnTo>
                <a:lnTo>
                  <a:pt x="905171" y="2967773"/>
                </a:lnTo>
                <a:lnTo>
                  <a:pt x="0" y="2967773"/>
                </a:lnTo>
                <a:lnTo>
                  <a:pt x="0" y="0"/>
                </a:lnTo>
                <a:close/>
              </a:path>
            </a:pathLst>
          </a:custGeom>
          <a:blipFill>
            <a:blip r:embed="rId3">
              <a:alphaModFix amt="83000"/>
              <a:extLst>
                <a:ext uri="{96DAC541-7B7A-43D3-8B79-37D633B846F1}">
                  <asvg:svgBlip xmlns:asvg="http://schemas.microsoft.com/office/drawing/2016/SVG/main" r:embed="rId4"/>
                </a:ext>
              </a:extLst>
            </a:blip>
            <a:stretch>
              <a:fillRect/>
            </a:stretch>
          </a:blipFill>
        </p:spPr>
        <p:txBody>
          <a:bodyPr/>
          <a:lstStyle/>
          <a:p>
            <a:endParaRPr lang="ar-SA"/>
          </a:p>
        </p:txBody>
      </p:sp>
      <p:sp>
        <p:nvSpPr>
          <p:cNvPr id="4" name="Freeform 4"/>
          <p:cNvSpPr/>
          <p:nvPr/>
        </p:nvSpPr>
        <p:spPr>
          <a:xfrm rot="-10800000">
            <a:off x="-18769" y="-1"/>
            <a:ext cx="1549537" cy="4110699"/>
          </a:xfrm>
          <a:custGeom>
            <a:avLst/>
            <a:gdLst/>
            <a:ahLst/>
            <a:cxnLst/>
            <a:rect l="l" t="t" r="r" b="b"/>
            <a:pathLst>
              <a:path w="1549537" h="5080448">
                <a:moveTo>
                  <a:pt x="0" y="0"/>
                </a:moveTo>
                <a:lnTo>
                  <a:pt x="1549536" y="0"/>
                </a:lnTo>
                <a:lnTo>
                  <a:pt x="1549536" y="5080448"/>
                </a:lnTo>
                <a:lnTo>
                  <a:pt x="0" y="5080448"/>
                </a:lnTo>
                <a:lnTo>
                  <a:pt x="0" y="0"/>
                </a:lnTo>
                <a:close/>
              </a:path>
            </a:pathLst>
          </a:custGeom>
          <a:blipFill>
            <a:blip r:embed="rId3">
              <a:alphaModFix amt="83000"/>
              <a:extLst>
                <a:ext uri="{96DAC541-7B7A-43D3-8B79-37D633B846F1}">
                  <asvg:svgBlip xmlns:asvg="http://schemas.microsoft.com/office/drawing/2016/SVG/main" r:embed="rId4"/>
                </a:ext>
              </a:extLst>
            </a:blip>
            <a:stretch>
              <a:fillRect b="-23591"/>
            </a:stretch>
          </a:blipFill>
          <a:ln cap="sq">
            <a:noFill/>
            <a:prstDash val="solid"/>
            <a:miter/>
          </a:ln>
        </p:spPr>
        <p:txBody>
          <a:bodyPr/>
          <a:lstStyle/>
          <a:p>
            <a:endParaRPr lang="ar-SA"/>
          </a:p>
        </p:txBody>
      </p:sp>
      <p:pic>
        <p:nvPicPr>
          <p:cNvPr id="12" name="صورة 11">
            <a:extLst>
              <a:ext uri="{FF2B5EF4-FFF2-40B4-BE49-F238E27FC236}">
                <a16:creationId xmlns:a16="http://schemas.microsoft.com/office/drawing/2014/main" id="{0145EE52-2A7F-4596-232C-CC67DE819D0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06793" y="4074391"/>
            <a:ext cx="4542913" cy="254321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4CD40-D69E-B03E-93A4-65842B6CD09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9B2140E-A4A7-3A1D-F24B-83083C0B6816}"/>
              </a:ext>
            </a:extLst>
          </p:cNvPr>
          <p:cNvSpPr/>
          <p:nvPr/>
        </p:nvSpPr>
        <p:spPr>
          <a:xfrm>
            <a:off x="0" y="0"/>
            <a:ext cx="7560000" cy="10692000"/>
          </a:xfrm>
          <a:custGeom>
            <a:avLst/>
            <a:gdLst/>
            <a:ahLst/>
            <a:cxnLst/>
            <a:rect l="l" t="t" r="r" b="b"/>
            <a:pathLst>
              <a:path w="7560000" h="10692000">
                <a:moveTo>
                  <a:pt x="0" y="0"/>
                </a:moveTo>
                <a:lnTo>
                  <a:pt x="7560000" y="0"/>
                </a:lnTo>
                <a:lnTo>
                  <a:pt x="7560000" y="10692000"/>
                </a:lnTo>
                <a:lnTo>
                  <a:pt x="0" y="10692000"/>
                </a:lnTo>
                <a:lnTo>
                  <a:pt x="0" y="0"/>
                </a:lnTo>
                <a:close/>
              </a:path>
            </a:pathLst>
          </a:custGeom>
          <a:blipFill>
            <a:blip r:embed="rId2"/>
            <a:stretch>
              <a:fillRect l="-781" t="-13832" r="-781" b="-13832"/>
            </a:stretch>
          </a:blipFill>
        </p:spPr>
        <p:txBody>
          <a:bodyPr/>
          <a:lstStyle/>
          <a:p>
            <a:endParaRPr lang="ar-SA"/>
          </a:p>
        </p:txBody>
      </p:sp>
      <p:sp>
        <p:nvSpPr>
          <p:cNvPr id="3" name="Freeform 3">
            <a:extLst>
              <a:ext uri="{FF2B5EF4-FFF2-40B4-BE49-F238E27FC236}">
                <a16:creationId xmlns:a16="http://schemas.microsoft.com/office/drawing/2014/main" id="{7DB95E90-DCA2-3DE9-8F5E-B2C49B034791}"/>
              </a:ext>
            </a:extLst>
          </p:cNvPr>
          <p:cNvSpPr/>
          <p:nvPr/>
        </p:nvSpPr>
        <p:spPr>
          <a:xfrm>
            <a:off x="6654829" y="7724227"/>
            <a:ext cx="905171" cy="2967773"/>
          </a:xfrm>
          <a:custGeom>
            <a:avLst/>
            <a:gdLst/>
            <a:ahLst/>
            <a:cxnLst/>
            <a:rect l="l" t="t" r="r" b="b"/>
            <a:pathLst>
              <a:path w="905171" h="2967773">
                <a:moveTo>
                  <a:pt x="0" y="0"/>
                </a:moveTo>
                <a:lnTo>
                  <a:pt x="905171" y="0"/>
                </a:lnTo>
                <a:lnTo>
                  <a:pt x="905171" y="2967773"/>
                </a:lnTo>
                <a:lnTo>
                  <a:pt x="0" y="2967773"/>
                </a:lnTo>
                <a:lnTo>
                  <a:pt x="0" y="0"/>
                </a:lnTo>
                <a:close/>
              </a:path>
            </a:pathLst>
          </a:custGeom>
          <a:blipFill>
            <a:blip r:embed="rId3">
              <a:alphaModFix amt="83000"/>
              <a:extLst>
                <a:ext uri="{96DAC541-7B7A-43D3-8B79-37D633B846F1}">
                  <asvg:svgBlip xmlns:asvg="http://schemas.microsoft.com/office/drawing/2016/SVG/main" r:embed="rId4"/>
                </a:ext>
              </a:extLst>
            </a:blip>
            <a:stretch>
              <a:fillRect/>
            </a:stretch>
          </a:blipFill>
        </p:spPr>
        <p:txBody>
          <a:bodyPr/>
          <a:lstStyle/>
          <a:p>
            <a:endParaRPr lang="ar-SA"/>
          </a:p>
        </p:txBody>
      </p:sp>
      <p:sp>
        <p:nvSpPr>
          <p:cNvPr id="4" name="Freeform 4">
            <a:extLst>
              <a:ext uri="{FF2B5EF4-FFF2-40B4-BE49-F238E27FC236}">
                <a16:creationId xmlns:a16="http://schemas.microsoft.com/office/drawing/2014/main" id="{68E1292E-5485-2B07-FE4E-F2C326E7F12F}"/>
              </a:ext>
            </a:extLst>
          </p:cNvPr>
          <p:cNvSpPr/>
          <p:nvPr/>
        </p:nvSpPr>
        <p:spPr>
          <a:xfrm rot="-10800000">
            <a:off x="-18769" y="-1"/>
            <a:ext cx="1549537" cy="4110699"/>
          </a:xfrm>
          <a:custGeom>
            <a:avLst/>
            <a:gdLst/>
            <a:ahLst/>
            <a:cxnLst/>
            <a:rect l="l" t="t" r="r" b="b"/>
            <a:pathLst>
              <a:path w="1549537" h="5080448">
                <a:moveTo>
                  <a:pt x="0" y="0"/>
                </a:moveTo>
                <a:lnTo>
                  <a:pt x="1549536" y="0"/>
                </a:lnTo>
                <a:lnTo>
                  <a:pt x="1549536" y="5080448"/>
                </a:lnTo>
                <a:lnTo>
                  <a:pt x="0" y="5080448"/>
                </a:lnTo>
                <a:lnTo>
                  <a:pt x="0" y="0"/>
                </a:lnTo>
                <a:close/>
              </a:path>
            </a:pathLst>
          </a:custGeom>
          <a:blipFill>
            <a:blip r:embed="rId3">
              <a:alphaModFix amt="83000"/>
              <a:extLst>
                <a:ext uri="{96DAC541-7B7A-43D3-8B79-37D633B846F1}">
                  <asvg:svgBlip xmlns:asvg="http://schemas.microsoft.com/office/drawing/2016/SVG/main" r:embed="rId4"/>
                </a:ext>
              </a:extLst>
            </a:blip>
            <a:stretch>
              <a:fillRect b="-23591"/>
            </a:stretch>
          </a:blipFill>
          <a:ln cap="sq">
            <a:noFill/>
            <a:prstDash val="solid"/>
            <a:miter/>
          </a:ln>
        </p:spPr>
        <p:txBody>
          <a:bodyPr/>
          <a:lstStyle/>
          <a:p>
            <a:endParaRPr lang="ar-SA"/>
          </a:p>
        </p:txBody>
      </p:sp>
      <p:pic>
        <p:nvPicPr>
          <p:cNvPr id="7" name="صورة 6">
            <a:extLst>
              <a:ext uri="{FF2B5EF4-FFF2-40B4-BE49-F238E27FC236}">
                <a16:creationId xmlns:a16="http://schemas.microsoft.com/office/drawing/2014/main" id="{391F7539-EE2E-2DE9-6859-4665962E884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27604" y="3862113"/>
            <a:ext cx="5301292" cy="2967773"/>
          </a:xfrm>
          <a:prstGeom prst="rect">
            <a:avLst/>
          </a:prstGeom>
        </p:spPr>
      </p:pic>
    </p:spTree>
    <p:extLst>
      <p:ext uri="{BB962C8B-B14F-4D97-AF65-F5344CB8AC3E}">
        <p14:creationId xmlns:p14="http://schemas.microsoft.com/office/powerpoint/2010/main" val="2501791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0846E-75CB-EF35-691C-CB0465034C2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0B4443A-BCAC-2A37-9686-9EE3C1617FA7}"/>
              </a:ext>
            </a:extLst>
          </p:cNvPr>
          <p:cNvSpPr>
            <a:spLocks noGrp="1" noRot="1" noMove="1" noResize="1" noEditPoints="1" noAdjustHandles="1" noChangeArrowheads="1" noChangeShapeType="1"/>
          </p:cNvSpPr>
          <p:nvPr/>
        </p:nvSpPr>
        <p:spPr>
          <a:xfrm>
            <a:off x="0" y="0"/>
            <a:ext cx="7560000" cy="10692000"/>
          </a:xfrm>
          <a:custGeom>
            <a:avLst/>
            <a:gdLst/>
            <a:ahLst/>
            <a:cxnLst/>
            <a:rect l="l" t="t" r="r" b="b"/>
            <a:pathLst>
              <a:path w="7560000" h="10692000">
                <a:moveTo>
                  <a:pt x="0" y="0"/>
                </a:moveTo>
                <a:lnTo>
                  <a:pt x="7560000" y="0"/>
                </a:lnTo>
                <a:lnTo>
                  <a:pt x="7560000" y="10692000"/>
                </a:lnTo>
                <a:lnTo>
                  <a:pt x="0" y="10692000"/>
                </a:lnTo>
                <a:lnTo>
                  <a:pt x="0" y="0"/>
                </a:lnTo>
                <a:close/>
              </a:path>
            </a:pathLst>
          </a:custGeom>
          <a:blipFill>
            <a:blip r:embed="rId2"/>
            <a:stretch>
              <a:fillRect l="-781" t="-13832" r="-781" b="-13832"/>
            </a:stretch>
          </a:blipFill>
        </p:spPr>
        <p:txBody>
          <a:bodyPr/>
          <a:lstStyle/>
          <a:p>
            <a:pPr algn="ctr"/>
            <a:endParaRPr lang="ar-SA" dirty="0">
              <a:latin typeface="Sakkal Majalla" panose="02000000000000000000" pitchFamily="2" charset="-78"/>
              <a:cs typeface="Sakkal Majalla" panose="02000000000000000000" pitchFamily="2" charset="-78"/>
            </a:endParaRPr>
          </a:p>
        </p:txBody>
      </p:sp>
      <p:sp>
        <p:nvSpPr>
          <p:cNvPr id="3" name="Freeform 3">
            <a:extLst>
              <a:ext uri="{FF2B5EF4-FFF2-40B4-BE49-F238E27FC236}">
                <a16:creationId xmlns:a16="http://schemas.microsoft.com/office/drawing/2014/main" id="{C7674C58-33EF-E515-2852-EC661ADA17B4}"/>
              </a:ext>
            </a:extLst>
          </p:cNvPr>
          <p:cNvSpPr>
            <a:spLocks noGrp="1" noRot="1" noMove="1" noResize="1" noEditPoints="1" noAdjustHandles="1" noChangeArrowheads="1" noChangeShapeType="1"/>
          </p:cNvSpPr>
          <p:nvPr/>
        </p:nvSpPr>
        <p:spPr>
          <a:xfrm>
            <a:off x="6654829" y="7724227"/>
            <a:ext cx="905171" cy="2967773"/>
          </a:xfrm>
          <a:custGeom>
            <a:avLst/>
            <a:gdLst/>
            <a:ahLst/>
            <a:cxnLst/>
            <a:rect l="l" t="t" r="r" b="b"/>
            <a:pathLst>
              <a:path w="905171" h="2967773">
                <a:moveTo>
                  <a:pt x="0" y="0"/>
                </a:moveTo>
                <a:lnTo>
                  <a:pt x="905171" y="0"/>
                </a:lnTo>
                <a:lnTo>
                  <a:pt x="905171" y="2967773"/>
                </a:lnTo>
                <a:lnTo>
                  <a:pt x="0" y="2967773"/>
                </a:lnTo>
                <a:lnTo>
                  <a:pt x="0" y="0"/>
                </a:lnTo>
                <a:close/>
              </a:path>
            </a:pathLst>
          </a:custGeom>
          <a:blipFill>
            <a:blip r:embed="rId3">
              <a:alphaModFix amt="83000"/>
              <a:extLst>
                <a:ext uri="{96DAC541-7B7A-43D3-8B79-37D633B846F1}">
                  <asvg:svgBlip xmlns:asvg="http://schemas.microsoft.com/office/drawing/2016/SVG/main" r:embed="rId4"/>
                </a:ext>
              </a:extLst>
            </a:blip>
            <a:stretch>
              <a:fillRect/>
            </a:stretch>
          </a:blipFill>
        </p:spPr>
        <p:txBody>
          <a:bodyPr/>
          <a:lstStyle/>
          <a:p>
            <a:pPr algn="ctr"/>
            <a:endParaRPr lang="ar-SA">
              <a:latin typeface="Sakkal Majalla" panose="02000000000000000000" pitchFamily="2" charset="-78"/>
              <a:cs typeface="Sakkal Majalla" panose="02000000000000000000" pitchFamily="2" charset="-78"/>
            </a:endParaRPr>
          </a:p>
        </p:txBody>
      </p:sp>
      <p:sp>
        <p:nvSpPr>
          <p:cNvPr id="4" name="Freeform 4">
            <a:extLst>
              <a:ext uri="{FF2B5EF4-FFF2-40B4-BE49-F238E27FC236}">
                <a16:creationId xmlns:a16="http://schemas.microsoft.com/office/drawing/2014/main" id="{77B49215-D118-4639-4DAE-B104CEE018B6}"/>
              </a:ext>
            </a:extLst>
          </p:cNvPr>
          <p:cNvSpPr>
            <a:spLocks noGrp="1" noRot="1" noMove="1" noResize="1" noEditPoints="1" noAdjustHandles="1" noChangeArrowheads="1" noChangeShapeType="1"/>
          </p:cNvSpPr>
          <p:nvPr/>
        </p:nvSpPr>
        <p:spPr>
          <a:xfrm rot="-10800000">
            <a:off x="-18769" y="-1"/>
            <a:ext cx="1549537" cy="4110699"/>
          </a:xfrm>
          <a:custGeom>
            <a:avLst/>
            <a:gdLst/>
            <a:ahLst/>
            <a:cxnLst/>
            <a:rect l="l" t="t" r="r" b="b"/>
            <a:pathLst>
              <a:path w="1549537" h="5080448">
                <a:moveTo>
                  <a:pt x="0" y="0"/>
                </a:moveTo>
                <a:lnTo>
                  <a:pt x="1549536" y="0"/>
                </a:lnTo>
                <a:lnTo>
                  <a:pt x="1549536" y="5080448"/>
                </a:lnTo>
                <a:lnTo>
                  <a:pt x="0" y="5080448"/>
                </a:lnTo>
                <a:lnTo>
                  <a:pt x="0" y="0"/>
                </a:lnTo>
                <a:close/>
              </a:path>
            </a:pathLst>
          </a:custGeom>
          <a:blipFill>
            <a:blip r:embed="rId3">
              <a:alphaModFix amt="83000"/>
              <a:extLst>
                <a:ext uri="{96DAC541-7B7A-43D3-8B79-37D633B846F1}">
                  <asvg:svgBlip xmlns:asvg="http://schemas.microsoft.com/office/drawing/2016/SVG/main" r:embed="rId4"/>
                </a:ext>
              </a:extLst>
            </a:blip>
            <a:stretch>
              <a:fillRect b="-23591"/>
            </a:stretch>
          </a:blipFill>
          <a:ln cap="sq">
            <a:noFill/>
            <a:prstDash val="solid"/>
            <a:miter/>
          </a:ln>
        </p:spPr>
        <p:txBody>
          <a:bodyPr/>
          <a:lstStyle/>
          <a:p>
            <a:pPr algn="ctr"/>
            <a:endParaRPr lang="ar-SA">
              <a:latin typeface="Sakkal Majalla" panose="02000000000000000000" pitchFamily="2" charset="-78"/>
              <a:cs typeface="Sakkal Majalla" panose="02000000000000000000" pitchFamily="2" charset="-78"/>
            </a:endParaRPr>
          </a:p>
        </p:txBody>
      </p:sp>
      <p:sp>
        <p:nvSpPr>
          <p:cNvPr id="38" name="مستطيل: زوايا مستديرة 37">
            <a:extLst>
              <a:ext uri="{FF2B5EF4-FFF2-40B4-BE49-F238E27FC236}">
                <a16:creationId xmlns:a16="http://schemas.microsoft.com/office/drawing/2014/main" id="{01581634-256D-63EE-C9BD-D05B894E4812}"/>
              </a:ext>
            </a:extLst>
          </p:cNvPr>
          <p:cNvSpPr/>
          <p:nvPr/>
        </p:nvSpPr>
        <p:spPr>
          <a:xfrm>
            <a:off x="3898427" y="2979178"/>
            <a:ext cx="3036237" cy="550051"/>
          </a:xfrm>
          <a:prstGeom prst="roundRect">
            <a:avLst/>
          </a:prstGeom>
          <a:solidFill>
            <a:srgbClr val="F0EFEA"/>
          </a:solidFill>
          <a:ln w="9525">
            <a:solidFill>
              <a:srgbClr val="5B4155"/>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a:solidFill>
                <a:schemeClr val="tx1"/>
              </a:solidFill>
              <a:latin typeface="Sakkal Majalla" panose="02000000000000000000" pitchFamily="2" charset="-78"/>
              <a:cs typeface="Sakkal Majalla" panose="02000000000000000000" pitchFamily="2" charset="-78"/>
            </a:endParaRPr>
          </a:p>
        </p:txBody>
      </p:sp>
      <p:sp>
        <p:nvSpPr>
          <p:cNvPr id="39" name="مستطيل: زوايا مستديرة 38">
            <a:extLst>
              <a:ext uri="{FF2B5EF4-FFF2-40B4-BE49-F238E27FC236}">
                <a16:creationId xmlns:a16="http://schemas.microsoft.com/office/drawing/2014/main" id="{5AA2F5E8-4506-D2E9-4D38-B41F544BE23D}"/>
              </a:ext>
            </a:extLst>
          </p:cNvPr>
          <p:cNvSpPr/>
          <p:nvPr/>
        </p:nvSpPr>
        <p:spPr>
          <a:xfrm>
            <a:off x="718462" y="2979178"/>
            <a:ext cx="3036237" cy="550051"/>
          </a:xfrm>
          <a:prstGeom prst="roundRect">
            <a:avLst/>
          </a:prstGeom>
          <a:solidFill>
            <a:srgbClr val="F0EFEA"/>
          </a:solidFill>
          <a:ln w="9525">
            <a:solidFill>
              <a:srgbClr val="5B4155"/>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a:solidFill>
                <a:schemeClr val="tx1"/>
              </a:solidFill>
              <a:latin typeface="Sakkal Majalla" panose="02000000000000000000" pitchFamily="2" charset="-78"/>
              <a:cs typeface="Sakkal Majalla" panose="02000000000000000000" pitchFamily="2" charset="-78"/>
            </a:endParaRPr>
          </a:p>
        </p:txBody>
      </p:sp>
      <p:sp>
        <p:nvSpPr>
          <p:cNvPr id="40" name="TextBox 2">
            <a:extLst>
              <a:ext uri="{FF2B5EF4-FFF2-40B4-BE49-F238E27FC236}">
                <a16:creationId xmlns:a16="http://schemas.microsoft.com/office/drawing/2014/main" id="{B73BAF3E-95DE-ABA8-3F20-59CC1BAC4A45}"/>
              </a:ext>
            </a:extLst>
          </p:cNvPr>
          <p:cNvSpPr txBox="1"/>
          <p:nvPr/>
        </p:nvSpPr>
        <p:spPr>
          <a:xfrm>
            <a:off x="2066977" y="2124384"/>
            <a:ext cx="3422545" cy="369332"/>
          </a:xfrm>
          <a:prstGeom prst="rect">
            <a:avLst/>
          </a:prstGeom>
          <a:solidFill>
            <a:srgbClr val="D4C2C6"/>
          </a:solidFill>
          <a:effectLst>
            <a:outerShdw blurRad="76200" dir="18900000" sy="23000" kx="-1200000" algn="bl" rotWithShape="0">
              <a:prstClr val="black">
                <a:alpha val="20000"/>
              </a:prstClr>
            </a:outerShdw>
          </a:effectLst>
        </p:spPr>
        <p:txBody>
          <a:bodyPr wrap="square" lIns="0" tIns="0" rIns="0" bIns="0" rtlCol="0" anchor="t">
            <a:spAutoFit/>
          </a:bodyPr>
          <a:lstStyle>
            <a:defPPr>
              <a:defRPr lang="en-US"/>
            </a:defPPr>
            <a:lvl1pPr lvl="0" indent="0" algn="ctr" rtl="1">
              <a:spcBef>
                <a:spcPct val="0"/>
              </a:spcBef>
              <a:defRPr sz="2400" b="1" u="none" strike="noStrike" spc="-27">
                <a:latin typeface="Sakkal Majalla" panose="02000000000000000000" pitchFamily="2" charset="-78"/>
                <a:ea typeface="GE SS Two Light"/>
                <a:cs typeface="Sakkal Majalla" panose="02000000000000000000" pitchFamily="2" charset="-78"/>
                <a:rtl/>
              </a:defRPr>
            </a:lvl1pPr>
          </a:lstStyle>
          <a:p>
            <a:r>
              <a:rPr lang="ar-EG" dirty="0">
                <a:sym typeface="GE SS Two Light"/>
              </a:rPr>
              <a:t>الفهرس</a:t>
            </a:r>
          </a:p>
        </p:txBody>
      </p:sp>
      <p:sp>
        <p:nvSpPr>
          <p:cNvPr id="41" name="مربع نص 40">
            <a:extLst>
              <a:ext uri="{FF2B5EF4-FFF2-40B4-BE49-F238E27FC236}">
                <a16:creationId xmlns:a16="http://schemas.microsoft.com/office/drawing/2014/main" id="{3FDEBBDB-B763-C0C3-3067-C379F6D08A38}"/>
              </a:ext>
            </a:extLst>
          </p:cNvPr>
          <p:cNvSpPr txBox="1"/>
          <p:nvPr/>
        </p:nvSpPr>
        <p:spPr>
          <a:xfrm>
            <a:off x="4469431" y="3084540"/>
            <a:ext cx="1720850" cy="388696"/>
          </a:xfrm>
          <a:prstGeom prst="rect">
            <a:avLst/>
          </a:prstGeom>
          <a:noFill/>
        </p:spPr>
        <p:txBody>
          <a:bodyPr wrap="square">
            <a:spAutoFit/>
          </a:bodyPr>
          <a:lstStyle/>
          <a:p>
            <a:pPr algn="ctr" rtl="1">
              <a:lnSpc>
                <a:spcPct val="107000"/>
              </a:lnSpc>
              <a:spcAft>
                <a:spcPts val="800"/>
              </a:spcAft>
            </a:pPr>
            <a:r>
              <a:rPr lang="ar-SA" b="0" kern="100" dirty="0">
                <a:effectLst/>
                <a:latin typeface="Sakkal Majalla" panose="02000000000000000000" pitchFamily="2" charset="-78"/>
                <a:ea typeface="GE SS Two Light" panose="020A0503020102020204" pitchFamily="18" charset="-78"/>
                <a:cs typeface="Sakkal Majalla" panose="02000000000000000000" pitchFamily="2" charset="-78"/>
              </a:rPr>
              <a:t>المقدمة</a:t>
            </a:r>
            <a:endParaRPr lang="en-US"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p:txBody>
      </p:sp>
      <p:sp>
        <p:nvSpPr>
          <p:cNvPr id="42" name="مربع نص 41">
            <a:extLst>
              <a:ext uri="{FF2B5EF4-FFF2-40B4-BE49-F238E27FC236}">
                <a16:creationId xmlns:a16="http://schemas.microsoft.com/office/drawing/2014/main" id="{3AA64499-50D1-2C64-35A6-3F10A8511613}"/>
              </a:ext>
            </a:extLst>
          </p:cNvPr>
          <p:cNvSpPr txBox="1"/>
          <p:nvPr/>
        </p:nvSpPr>
        <p:spPr>
          <a:xfrm>
            <a:off x="1374885" y="3072065"/>
            <a:ext cx="1720850" cy="388696"/>
          </a:xfrm>
          <a:prstGeom prst="rect">
            <a:avLst/>
          </a:prstGeom>
          <a:noFill/>
        </p:spPr>
        <p:txBody>
          <a:bodyPr wrap="square">
            <a:spAutoFit/>
          </a:bodyPr>
          <a:lstStyle/>
          <a:p>
            <a:pPr algn="ctr" rtl="1">
              <a:lnSpc>
                <a:spcPct val="107000"/>
              </a:lnSpc>
              <a:spcAft>
                <a:spcPts val="800"/>
              </a:spcAft>
            </a:pPr>
            <a:r>
              <a:rPr lang="ar-SA" b="0" kern="100" dirty="0">
                <a:effectLst/>
                <a:latin typeface="Sakkal Majalla" panose="02000000000000000000" pitchFamily="2" charset="-78"/>
                <a:ea typeface="GE SS Two Light" panose="020A0503020102020204" pitchFamily="18" charset="-78"/>
                <a:cs typeface="Sakkal Majalla" panose="02000000000000000000" pitchFamily="2" charset="-78"/>
              </a:rPr>
              <a:t>الرؤية والرسالة</a:t>
            </a:r>
            <a:endParaRPr lang="en-US"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p:txBody>
      </p:sp>
      <p:sp>
        <p:nvSpPr>
          <p:cNvPr id="43" name="مستطيل: زوايا مستديرة 42">
            <a:extLst>
              <a:ext uri="{FF2B5EF4-FFF2-40B4-BE49-F238E27FC236}">
                <a16:creationId xmlns:a16="http://schemas.microsoft.com/office/drawing/2014/main" id="{C82D868C-69F0-2D39-D5D0-B361013AF94D}"/>
              </a:ext>
            </a:extLst>
          </p:cNvPr>
          <p:cNvSpPr/>
          <p:nvPr/>
        </p:nvSpPr>
        <p:spPr>
          <a:xfrm>
            <a:off x="3898427" y="3648596"/>
            <a:ext cx="3036237" cy="550051"/>
          </a:xfrm>
          <a:prstGeom prst="roundRect">
            <a:avLst/>
          </a:prstGeom>
          <a:solidFill>
            <a:srgbClr val="D4C2C6"/>
          </a:solidFill>
          <a:ln w="9525">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lnSpc>
                <a:spcPct val="107000"/>
              </a:lnSpc>
              <a:spcAft>
                <a:spcPts val="800"/>
              </a:spcAft>
            </a:pPr>
            <a:r>
              <a:rPr lang="ar-SA" b="0" kern="100" dirty="0">
                <a:solidFill>
                  <a:schemeClr val="tx1"/>
                </a:solidFill>
                <a:effectLst/>
                <a:latin typeface="Sakkal Majalla" panose="02000000000000000000" pitchFamily="2" charset="-78"/>
                <a:ea typeface="GE SS Two Light" panose="020A0503020102020204" pitchFamily="18" charset="-78"/>
                <a:cs typeface="Sakkal Majalla" panose="02000000000000000000" pitchFamily="2" charset="-78"/>
              </a:rPr>
              <a:t>أهداف التعليم  في المملكة العربية السعودية</a:t>
            </a:r>
          </a:p>
        </p:txBody>
      </p:sp>
      <p:sp>
        <p:nvSpPr>
          <p:cNvPr id="44" name="مستطيل: زوايا مستديرة 43">
            <a:extLst>
              <a:ext uri="{FF2B5EF4-FFF2-40B4-BE49-F238E27FC236}">
                <a16:creationId xmlns:a16="http://schemas.microsoft.com/office/drawing/2014/main" id="{A38C2717-01BD-E97E-674A-FF883252C0E9}"/>
              </a:ext>
            </a:extLst>
          </p:cNvPr>
          <p:cNvSpPr/>
          <p:nvPr/>
        </p:nvSpPr>
        <p:spPr>
          <a:xfrm>
            <a:off x="718462" y="3648596"/>
            <a:ext cx="3036237" cy="550051"/>
          </a:xfrm>
          <a:prstGeom prst="roundRect">
            <a:avLst/>
          </a:prstGeom>
          <a:solidFill>
            <a:srgbClr val="D4C2C6"/>
          </a:solidFill>
          <a:ln w="9525">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lnSpc>
                <a:spcPct val="107000"/>
              </a:lnSpc>
              <a:spcAft>
                <a:spcPts val="800"/>
              </a:spcAft>
            </a:pPr>
            <a:r>
              <a:rPr lang="ar-SA" kern="100"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ميثاق مهنة التعليم</a:t>
            </a:r>
            <a:endParaRPr lang="en-US" kern="100"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endParaRPr>
          </a:p>
        </p:txBody>
      </p:sp>
      <p:sp>
        <p:nvSpPr>
          <p:cNvPr id="45" name="مستطيل: زوايا مستديرة 44">
            <a:extLst>
              <a:ext uri="{FF2B5EF4-FFF2-40B4-BE49-F238E27FC236}">
                <a16:creationId xmlns:a16="http://schemas.microsoft.com/office/drawing/2014/main" id="{8DFC6CFD-C63A-44C4-4D65-1E3BCB1DA0E0}"/>
              </a:ext>
            </a:extLst>
          </p:cNvPr>
          <p:cNvSpPr/>
          <p:nvPr/>
        </p:nvSpPr>
        <p:spPr>
          <a:xfrm>
            <a:off x="3898427" y="4318014"/>
            <a:ext cx="3036237" cy="550051"/>
          </a:xfrm>
          <a:prstGeom prst="roundRect">
            <a:avLst/>
          </a:prstGeom>
          <a:solidFill>
            <a:srgbClr val="F0EFEA"/>
          </a:solidFill>
          <a:ln w="9525">
            <a:solidFill>
              <a:srgbClr val="5B4155"/>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ar-SA">
                <a:solidFill>
                  <a:schemeClr val="tx1"/>
                </a:solidFill>
                <a:latin typeface="Sakkal Majalla" panose="02000000000000000000" pitchFamily="2" charset="-78"/>
                <a:cs typeface="Sakkal Majalla" panose="02000000000000000000" pitchFamily="2" charset="-78"/>
              </a:rPr>
              <a:t>السيرة الذاتية</a:t>
            </a:r>
            <a:endParaRPr lang="en-US" dirty="0">
              <a:solidFill>
                <a:schemeClr val="tx1"/>
              </a:solidFill>
              <a:latin typeface="Sakkal Majalla" panose="02000000000000000000" pitchFamily="2" charset="-78"/>
              <a:cs typeface="Sakkal Majalla" panose="02000000000000000000" pitchFamily="2" charset="-78"/>
            </a:endParaRPr>
          </a:p>
        </p:txBody>
      </p:sp>
      <p:sp>
        <p:nvSpPr>
          <p:cNvPr id="46" name="مستطيل: زوايا مستديرة 45">
            <a:extLst>
              <a:ext uri="{FF2B5EF4-FFF2-40B4-BE49-F238E27FC236}">
                <a16:creationId xmlns:a16="http://schemas.microsoft.com/office/drawing/2014/main" id="{C80CE041-F797-9018-5A47-988FB88DEB2B}"/>
              </a:ext>
            </a:extLst>
          </p:cNvPr>
          <p:cNvSpPr/>
          <p:nvPr/>
        </p:nvSpPr>
        <p:spPr>
          <a:xfrm>
            <a:off x="718462" y="4318014"/>
            <a:ext cx="3036237" cy="550051"/>
          </a:xfrm>
          <a:prstGeom prst="roundRect">
            <a:avLst/>
          </a:prstGeom>
          <a:solidFill>
            <a:srgbClr val="F0EFEA"/>
          </a:solidFill>
          <a:ln w="9525">
            <a:solidFill>
              <a:srgbClr val="5B4155"/>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ar-SA" dirty="0">
                <a:solidFill>
                  <a:schemeClr val="tx1"/>
                </a:solidFill>
                <a:latin typeface="Sakkal Majalla" panose="02000000000000000000" pitchFamily="2" charset="-78"/>
                <a:cs typeface="Sakkal Majalla" panose="02000000000000000000" pitchFamily="2" charset="-78"/>
              </a:rPr>
              <a:t>أداء الواجبات </a:t>
            </a:r>
            <a:r>
              <a:rPr lang="ar-SA">
                <a:solidFill>
                  <a:schemeClr val="tx1"/>
                </a:solidFill>
                <a:latin typeface="Sakkal Majalla" panose="02000000000000000000" pitchFamily="2" charset="-78"/>
                <a:cs typeface="Sakkal Majalla" panose="02000000000000000000" pitchFamily="2" charset="-78"/>
              </a:rPr>
              <a:t>الوظيفية </a:t>
            </a:r>
            <a:endParaRPr lang="en-US" dirty="0">
              <a:solidFill>
                <a:schemeClr val="tx1"/>
              </a:solidFill>
              <a:latin typeface="Sakkal Majalla" panose="02000000000000000000" pitchFamily="2" charset="-78"/>
              <a:cs typeface="Sakkal Majalla" panose="02000000000000000000" pitchFamily="2" charset="-78"/>
            </a:endParaRPr>
          </a:p>
        </p:txBody>
      </p:sp>
      <p:sp>
        <p:nvSpPr>
          <p:cNvPr id="47" name="مستطيل: زوايا مستديرة 46">
            <a:extLst>
              <a:ext uri="{FF2B5EF4-FFF2-40B4-BE49-F238E27FC236}">
                <a16:creationId xmlns:a16="http://schemas.microsoft.com/office/drawing/2014/main" id="{5E5BE7ED-9B25-2CA6-7953-8B9A2004A218}"/>
              </a:ext>
            </a:extLst>
          </p:cNvPr>
          <p:cNvSpPr/>
          <p:nvPr/>
        </p:nvSpPr>
        <p:spPr>
          <a:xfrm>
            <a:off x="3898427" y="4987432"/>
            <a:ext cx="3036237" cy="550051"/>
          </a:xfrm>
          <a:prstGeom prst="roundRect">
            <a:avLst/>
          </a:prstGeom>
          <a:solidFill>
            <a:srgbClr val="D4C2C6"/>
          </a:solidFill>
          <a:ln w="9525">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lnSpc>
                <a:spcPct val="107000"/>
              </a:lnSpc>
              <a:spcAft>
                <a:spcPts val="800"/>
              </a:spcAft>
            </a:pPr>
            <a:r>
              <a:rPr lang="ar-SA" kern="100"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أداء الواجبات </a:t>
            </a:r>
            <a:r>
              <a:rPr lang="ar-SA" kern="10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الوظيفية </a:t>
            </a:r>
            <a:endParaRPr lang="en-US" kern="100"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endParaRPr>
          </a:p>
        </p:txBody>
      </p:sp>
      <p:sp>
        <p:nvSpPr>
          <p:cNvPr id="48" name="مستطيل: زوايا مستديرة 47">
            <a:extLst>
              <a:ext uri="{FF2B5EF4-FFF2-40B4-BE49-F238E27FC236}">
                <a16:creationId xmlns:a16="http://schemas.microsoft.com/office/drawing/2014/main" id="{E33A438D-7186-E1F9-8640-A85291425748}"/>
              </a:ext>
            </a:extLst>
          </p:cNvPr>
          <p:cNvSpPr/>
          <p:nvPr/>
        </p:nvSpPr>
        <p:spPr>
          <a:xfrm>
            <a:off x="718462" y="4987432"/>
            <a:ext cx="3036237" cy="550051"/>
          </a:xfrm>
          <a:prstGeom prst="roundRect">
            <a:avLst/>
          </a:prstGeom>
          <a:solidFill>
            <a:srgbClr val="D4C2C6"/>
          </a:solidFill>
          <a:ln w="9525">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lnSpc>
                <a:spcPct val="107000"/>
              </a:lnSpc>
              <a:spcAft>
                <a:spcPts val="800"/>
              </a:spcAft>
            </a:pPr>
            <a:r>
              <a:rPr lang="ar-SA" kern="100"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التفاعل مع </a:t>
            </a:r>
            <a:r>
              <a:rPr lang="ar-SA" kern="10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المجتمع الهني</a:t>
            </a:r>
            <a:endParaRPr lang="en-US" kern="100"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endParaRPr>
          </a:p>
        </p:txBody>
      </p:sp>
      <p:sp>
        <p:nvSpPr>
          <p:cNvPr id="49" name="مستطيل: زوايا مستديرة 48">
            <a:extLst>
              <a:ext uri="{FF2B5EF4-FFF2-40B4-BE49-F238E27FC236}">
                <a16:creationId xmlns:a16="http://schemas.microsoft.com/office/drawing/2014/main" id="{B18F193C-2556-EE57-465A-2F405B32A235}"/>
              </a:ext>
            </a:extLst>
          </p:cNvPr>
          <p:cNvSpPr/>
          <p:nvPr/>
        </p:nvSpPr>
        <p:spPr>
          <a:xfrm>
            <a:off x="3898427" y="5639993"/>
            <a:ext cx="3036237" cy="550051"/>
          </a:xfrm>
          <a:prstGeom prst="roundRect">
            <a:avLst/>
          </a:prstGeom>
          <a:solidFill>
            <a:srgbClr val="F0EFEA"/>
          </a:solidFill>
          <a:ln w="9525">
            <a:solidFill>
              <a:srgbClr val="5B4155"/>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ar-SA" dirty="0">
                <a:solidFill>
                  <a:schemeClr val="tx1"/>
                </a:solidFill>
                <a:latin typeface="Sakkal Majalla" panose="02000000000000000000" pitchFamily="2" charset="-78"/>
                <a:cs typeface="Sakkal Majalla" panose="02000000000000000000" pitchFamily="2" charset="-78"/>
              </a:rPr>
              <a:t>التفاعل مع </a:t>
            </a:r>
            <a:r>
              <a:rPr lang="ar-SA">
                <a:solidFill>
                  <a:schemeClr val="tx1"/>
                </a:solidFill>
                <a:latin typeface="Sakkal Majalla" panose="02000000000000000000" pitchFamily="2" charset="-78"/>
                <a:cs typeface="Sakkal Majalla" panose="02000000000000000000" pitchFamily="2" charset="-78"/>
              </a:rPr>
              <a:t>اولياء الأمور</a:t>
            </a:r>
            <a:endParaRPr lang="en-US" dirty="0">
              <a:solidFill>
                <a:schemeClr val="tx1"/>
              </a:solidFill>
              <a:latin typeface="Sakkal Majalla" panose="02000000000000000000" pitchFamily="2" charset="-78"/>
              <a:cs typeface="Sakkal Majalla" panose="02000000000000000000" pitchFamily="2" charset="-78"/>
            </a:endParaRPr>
          </a:p>
        </p:txBody>
      </p:sp>
      <p:sp>
        <p:nvSpPr>
          <p:cNvPr id="50" name="مستطيل: زوايا مستديرة 49">
            <a:extLst>
              <a:ext uri="{FF2B5EF4-FFF2-40B4-BE49-F238E27FC236}">
                <a16:creationId xmlns:a16="http://schemas.microsoft.com/office/drawing/2014/main" id="{E3C389A3-969F-8360-0861-304BC67BEF25}"/>
              </a:ext>
            </a:extLst>
          </p:cNvPr>
          <p:cNvSpPr/>
          <p:nvPr/>
        </p:nvSpPr>
        <p:spPr>
          <a:xfrm>
            <a:off x="718462" y="5639993"/>
            <a:ext cx="3036237" cy="550051"/>
          </a:xfrm>
          <a:prstGeom prst="roundRect">
            <a:avLst/>
          </a:prstGeom>
          <a:solidFill>
            <a:srgbClr val="F0EFEA"/>
          </a:solidFill>
          <a:ln w="9525">
            <a:solidFill>
              <a:srgbClr val="5B4155"/>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ar-SA" dirty="0">
                <a:solidFill>
                  <a:schemeClr val="tx1"/>
                </a:solidFill>
                <a:latin typeface="Sakkal Majalla" panose="02000000000000000000" pitchFamily="2" charset="-78"/>
                <a:cs typeface="Sakkal Majalla" panose="02000000000000000000" pitchFamily="2" charset="-78"/>
              </a:rPr>
              <a:t>التنويع في </a:t>
            </a:r>
            <a:r>
              <a:rPr lang="ar-SA">
                <a:solidFill>
                  <a:schemeClr val="tx1"/>
                </a:solidFill>
                <a:latin typeface="Sakkal Majalla" panose="02000000000000000000" pitchFamily="2" charset="-78"/>
                <a:cs typeface="Sakkal Majalla" panose="02000000000000000000" pitchFamily="2" charset="-78"/>
              </a:rPr>
              <a:t>استراتيجيات التدريس</a:t>
            </a:r>
            <a:endParaRPr lang="en-US" dirty="0">
              <a:solidFill>
                <a:schemeClr val="tx1"/>
              </a:solidFill>
              <a:latin typeface="Sakkal Majalla" panose="02000000000000000000" pitchFamily="2" charset="-78"/>
              <a:cs typeface="Sakkal Majalla" panose="02000000000000000000" pitchFamily="2" charset="-78"/>
            </a:endParaRPr>
          </a:p>
        </p:txBody>
      </p:sp>
      <p:sp>
        <p:nvSpPr>
          <p:cNvPr id="51" name="مستطيل: زوايا مستديرة 50">
            <a:extLst>
              <a:ext uri="{FF2B5EF4-FFF2-40B4-BE49-F238E27FC236}">
                <a16:creationId xmlns:a16="http://schemas.microsoft.com/office/drawing/2014/main" id="{0A466BA8-7D31-F3B3-2AE3-C1F90B4F9827}"/>
              </a:ext>
            </a:extLst>
          </p:cNvPr>
          <p:cNvSpPr/>
          <p:nvPr/>
        </p:nvSpPr>
        <p:spPr>
          <a:xfrm>
            <a:off x="3898427" y="6292554"/>
            <a:ext cx="3036237" cy="550051"/>
          </a:xfrm>
          <a:prstGeom prst="roundRect">
            <a:avLst/>
          </a:prstGeom>
          <a:solidFill>
            <a:srgbClr val="D4C2C6"/>
          </a:solidFill>
          <a:ln w="9525">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lnSpc>
                <a:spcPct val="107000"/>
              </a:lnSpc>
              <a:spcAft>
                <a:spcPts val="800"/>
              </a:spcAft>
            </a:pPr>
            <a:r>
              <a:rPr lang="ar-SA" kern="100"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تحسين </a:t>
            </a:r>
            <a:r>
              <a:rPr lang="ar-SA" kern="10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نتائج المتعلمين</a:t>
            </a:r>
            <a:endParaRPr lang="en-US" kern="100"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endParaRPr>
          </a:p>
        </p:txBody>
      </p:sp>
      <p:sp>
        <p:nvSpPr>
          <p:cNvPr id="52" name="مستطيل: زوايا مستديرة 51">
            <a:extLst>
              <a:ext uri="{FF2B5EF4-FFF2-40B4-BE49-F238E27FC236}">
                <a16:creationId xmlns:a16="http://schemas.microsoft.com/office/drawing/2014/main" id="{E60BDC43-0D26-55DF-1F1B-8BADE9C3EA66}"/>
              </a:ext>
            </a:extLst>
          </p:cNvPr>
          <p:cNvSpPr/>
          <p:nvPr/>
        </p:nvSpPr>
        <p:spPr>
          <a:xfrm>
            <a:off x="718462" y="6292554"/>
            <a:ext cx="3036237" cy="550051"/>
          </a:xfrm>
          <a:prstGeom prst="roundRect">
            <a:avLst/>
          </a:prstGeom>
          <a:solidFill>
            <a:srgbClr val="D4C2C6"/>
          </a:solidFill>
          <a:ln w="9525">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lnSpc>
                <a:spcPct val="107000"/>
              </a:lnSpc>
              <a:spcAft>
                <a:spcPts val="800"/>
              </a:spcAft>
            </a:pPr>
            <a:r>
              <a:rPr lang="ar-SA" kern="100"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إعداد وتنفيذ </a:t>
            </a:r>
            <a:r>
              <a:rPr lang="ar-SA" kern="10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خطة التعلم</a:t>
            </a:r>
            <a:endParaRPr lang="en-US" kern="100"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endParaRPr>
          </a:p>
        </p:txBody>
      </p:sp>
      <p:sp>
        <p:nvSpPr>
          <p:cNvPr id="53" name="مستطيل: زوايا مستديرة 52">
            <a:extLst>
              <a:ext uri="{FF2B5EF4-FFF2-40B4-BE49-F238E27FC236}">
                <a16:creationId xmlns:a16="http://schemas.microsoft.com/office/drawing/2014/main" id="{C5B8A7EC-D965-7505-A6E1-8EBB21413549}"/>
              </a:ext>
            </a:extLst>
          </p:cNvPr>
          <p:cNvSpPr/>
          <p:nvPr/>
        </p:nvSpPr>
        <p:spPr>
          <a:xfrm>
            <a:off x="3898427" y="6945115"/>
            <a:ext cx="3036237" cy="550051"/>
          </a:xfrm>
          <a:prstGeom prst="roundRect">
            <a:avLst/>
          </a:prstGeom>
          <a:solidFill>
            <a:srgbClr val="F0EFEA"/>
          </a:solidFill>
          <a:ln w="9525">
            <a:solidFill>
              <a:srgbClr val="5B4155"/>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ar-SA" dirty="0">
                <a:solidFill>
                  <a:schemeClr val="tx1"/>
                </a:solidFill>
                <a:latin typeface="Sakkal Majalla" panose="02000000000000000000" pitchFamily="2" charset="-78"/>
                <a:cs typeface="Sakkal Majalla" panose="02000000000000000000" pitchFamily="2" charset="-78"/>
              </a:rPr>
              <a:t>توظيف تقنيات ووسائل </a:t>
            </a:r>
            <a:r>
              <a:rPr lang="ar-SA">
                <a:solidFill>
                  <a:schemeClr val="tx1"/>
                </a:solidFill>
                <a:latin typeface="Sakkal Majalla" panose="02000000000000000000" pitchFamily="2" charset="-78"/>
                <a:cs typeface="Sakkal Majalla" panose="02000000000000000000" pitchFamily="2" charset="-78"/>
              </a:rPr>
              <a:t>التعلم المناسبة</a:t>
            </a:r>
            <a:endParaRPr lang="en-US" dirty="0">
              <a:solidFill>
                <a:schemeClr val="tx1"/>
              </a:solidFill>
              <a:latin typeface="Sakkal Majalla" panose="02000000000000000000" pitchFamily="2" charset="-78"/>
              <a:cs typeface="Sakkal Majalla" panose="02000000000000000000" pitchFamily="2" charset="-78"/>
            </a:endParaRPr>
          </a:p>
        </p:txBody>
      </p:sp>
      <p:sp>
        <p:nvSpPr>
          <p:cNvPr id="54" name="مستطيل: زوايا مستديرة 53">
            <a:extLst>
              <a:ext uri="{FF2B5EF4-FFF2-40B4-BE49-F238E27FC236}">
                <a16:creationId xmlns:a16="http://schemas.microsoft.com/office/drawing/2014/main" id="{D8326819-737F-FA41-82D9-C6E2D2D28A93}"/>
              </a:ext>
            </a:extLst>
          </p:cNvPr>
          <p:cNvSpPr/>
          <p:nvPr/>
        </p:nvSpPr>
        <p:spPr>
          <a:xfrm>
            <a:off x="718462" y="6945115"/>
            <a:ext cx="3036237" cy="550051"/>
          </a:xfrm>
          <a:prstGeom prst="roundRect">
            <a:avLst/>
          </a:prstGeom>
          <a:solidFill>
            <a:srgbClr val="F0EFEA"/>
          </a:solidFill>
          <a:ln w="9525">
            <a:solidFill>
              <a:srgbClr val="5B4155"/>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ar-SA" dirty="0">
                <a:solidFill>
                  <a:schemeClr val="tx1"/>
                </a:solidFill>
                <a:latin typeface="Sakkal Majalla" panose="02000000000000000000" pitchFamily="2" charset="-78"/>
                <a:cs typeface="Sakkal Majalla" panose="02000000000000000000" pitchFamily="2" charset="-78"/>
              </a:rPr>
              <a:t>تهيئة </a:t>
            </a:r>
            <a:r>
              <a:rPr lang="ar-SA">
                <a:solidFill>
                  <a:schemeClr val="tx1"/>
                </a:solidFill>
                <a:latin typeface="Sakkal Majalla" panose="02000000000000000000" pitchFamily="2" charset="-78"/>
                <a:cs typeface="Sakkal Majalla" panose="02000000000000000000" pitchFamily="2" charset="-78"/>
              </a:rPr>
              <a:t>بيئة تعليمية</a:t>
            </a:r>
            <a:endParaRPr lang="en-US" dirty="0">
              <a:solidFill>
                <a:schemeClr val="tx1"/>
              </a:solidFill>
              <a:latin typeface="Sakkal Majalla" panose="02000000000000000000" pitchFamily="2" charset="-78"/>
              <a:cs typeface="Sakkal Majalla" panose="02000000000000000000" pitchFamily="2" charset="-78"/>
            </a:endParaRPr>
          </a:p>
        </p:txBody>
      </p:sp>
      <p:sp>
        <p:nvSpPr>
          <p:cNvPr id="55" name="مستطيل: زوايا مستديرة 54">
            <a:extLst>
              <a:ext uri="{FF2B5EF4-FFF2-40B4-BE49-F238E27FC236}">
                <a16:creationId xmlns:a16="http://schemas.microsoft.com/office/drawing/2014/main" id="{558DB3F5-88A4-6623-A32F-F7DF1F65FABD}"/>
              </a:ext>
            </a:extLst>
          </p:cNvPr>
          <p:cNvSpPr/>
          <p:nvPr/>
        </p:nvSpPr>
        <p:spPr>
          <a:xfrm>
            <a:off x="3897157" y="7597676"/>
            <a:ext cx="3036237" cy="550051"/>
          </a:xfrm>
          <a:prstGeom prst="roundRect">
            <a:avLst/>
          </a:prstGeom>
          <a:solidFill>
            <a:srgbClr val="D4C2C6"/>
          </a:solidFill>
          <a:ln w="9525">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lnSpc>
                <a:spcPct val="107000"/>
              </a:lnSpc>
              <a:spcAft>
                <a:spcPts val="800"/>
              </a:spcAft>
            </a:pPr>
            <a:r>
              <a:rPr lang="ar-SA" kern="10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الإدارة الصفية</a:t>
            </a:r>
            <a:endParaRPr lang="en-US" kern="100"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endParaRPr>
          </a:p>
        </p:txBody>
      </p:sp>
      <p:sp>
        <p:nvSpPr>
          <p:cNvPr id="56" name="مستطيل: زوايا مستديرة 55">
            <a:extLst>
              <a:ext uri="{FF2B5EF4-FFF2-40B4-BE49-F238E27FC236}">
                <a16:creationId xmlns:a16="http://schemas.microsoft.com/office/drawing/2014/main" id="{300A24BE-4982-508A-AFEA-27DA3AAF0A34}"/>
              </a:ext>
            </a:extLst>
          </p:cNvPr>
          <p:cNvSpPr/>
          <p:nvPr/>
        </p:nvSpPr>
        <p:spPr>
          <a:xfrm>
            <a:off x="717192" y="7597676"/>
            <a:ext cx="3036237" cy="550051"/>
          </a:xfrm>
          <a:prstGeom prst="roundRect">
            <a:avLst/>
          </a:prstGeom>
          <a:solidFill>
            <a:srgbClr val="D4C2C6"/>
          </a:solidFill>
          <a:ln w="9525">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lnSpc>
                <a:spcPct val="107000"/>
              </a:lnSpc>
              <a:spcAft>
                <a:spcPts val="800"/>
              </a:spcAft>
            </a:pPr>
            <a:r>
              <a:rPr lang="ar-SA" kern="100"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تحليل نتائج المتعلمين </a:t>
            </a:r>
            <a:r>
              <a:rPr lang="ar-SA" kern="10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وتشخيص مستوياتهم</a:t>
            </a:r>
            <a:endParaRPr lang="en-US" kern="100"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endParaRPr>
          </a:p>
        </p:txBody>
      </p:sp>
      <p:sp>
        <p:nvSpPr>
          <p:cNvPr id="57" name="مستطيل: زوايا مستديرة 56">
            <a:extLst>
              <a:ext uri="{FF2B5EF4-FFF2-40B4-BE49-F238E27FC236}">
                <a16:creationId xmlns:a16="http://schemas.microsoft.com/office/drawing/2014/main" id="{7FD3FBC6-190E-6A7E-551D-2CB3CB630CF5}"/>
              </a:ext>
            </a:extLst>
          </p:cNvPr>
          <p:cNvSpPr/>
          <p:nvPr/>
        </p:nvSpPr>
        <p:spPr>
          <a:xfrm>
            <a:off x="3898427" y="8267118"/>
            <a:ext cx="3036237" cy="550051"/>
          </a:xfrm>
          <a:prstGeom prst="roundRect">
            <a:avLst/>
          </a:prstGeom>
          <a:solidFill>
            <a:srgbClr val="F0EFEA"/>
          </a:solidFill>
          <a:ln w="9525">
            <a:solidFill>
              <a:srgbClr val="5B4155"/>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ar-SA" dirty="0">
                <a:solidFill>
                  <a:schemeClr val="tx1"/>
                </a:solidFill>
                <a:latin typeface="Sakkal Majalla" panose="02000000000000000000" pitchFamily="2" charset="-78"/>
                <a:cs typeface="Sakkal Majalla" panose="02000000000000000000" pitchFamily="2" charset="-78"/>
              </a:rPr>
              <a:t>تنوع </a:t>
            </a:r>
            <a:r>
              <a:rPr lang="ar-SA">
                <a:solidFill>
                  <a:schemeClr val="tx1"/>
                </a:solidFill>
                <a:latin typeface="Sakkal Majalla" panose="02000000000000000000" pitchFamily="2" charset="-78"/>
                <a:cs typeface="Sakkal Majalla" panose="02000000000000000000" pitchFamily="2" charset="-78"/>
              </a:rPr>
              <a:t>أساليب التقويم</a:t>
            </a:r>
            <a:endParaRPr lang="en-US" dirty="0">
              <a:solidFill>
                <a:schemeClr val="tx1"/>
              </a:solidFill>
              <a:latin typeface="Sakkal Majalla" panose="02000000000000000000" pitchFamily="2" charset="-78"/>
              <a:cs typeface="Sakkal Majalla" panose="02000000000000000000" pitchFamily="2" charset="-78"/>
            </a:endParaRPr>
          </a:p>
        </p:txBody>
      </p:sp>
      <p:sp>
        <p:nvSpPr>
          <p:cNvPr id="58" name="مستطيل: زوايا مستديرة 57">
            <a:extLst>
              <a:ext uri="{FF2B5EF4-FFF2-40B4-BE49-F238E27FC236}">
                <a16:creationId xmlns:a16="http://schemas.microsoft.com/office/drawing/2014/main" id="{60127D64-EA24-E8E1-7194-7093DDCBDF21}"/>
              </a:ext>
            </a:extLst>
          </p:cNvPr>
          <p:cNvSpPr/>
          <p:nvPr/>
        </p:nvSpPr>
        <p:spPr>
          <a:xfrm>
            <a:off x="718462" y="8267118"/>
            <a:ext cx="3036237" cy="550051"/>
          </a:xfrm>
          <a:prstGeom prst="roundRect">
            <a:avLst/>
          </a:prstGeom>
          <a:solidFill>
            <a:srgbClr val="F0EFEA"/>
          </a:solidFill>
          <a:ln w="9525">
            <a:solidFill>
              <a:srgbClr val="5B4155"/>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ar-SA" dirty="0">
                <a:solidFill>
                  <a:schemeClr val="tx1"/>
                </a:solidFill>
                <a:latin typeface="Sakkal Majalla" panose="02000000000000000000" pitchFamily="2" charset="-78"/>
                <a:cs typeface="Sakkal Majalla" panose="02000000000000000000" pitchFamily="2" charset="-78"/>
              </a:rPr>
              <a:t>الخاتمة</a:t>
            </a:r>
          </a:p>
        </p:txBody>
      </p:sp>
    </p:spTree>
    <p:extLst>
      <p:ext uri="{BB962C8B-B14F-4D97-AF65-F5344CB8AC3E}">
        <p14:creationId xmlns:p14="http://schemas.microsoft.com/office/powerpoint/2010/main" val="8286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DCAC2-9A79-0559-E138-4B16B9A0AA8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79C03BF-1B61-222D-235E-A92DAF92151C}"/>
              </a:ext>
            </a:extLst>
          </p:cNvPr>
          <p:cNvSpPr>
            <a:spLocks noGrp="1" noRot="1" noMove="1" noResize="1" noEditPoints="1" noAdjustHandles="1" noChangeArrowheads="1" noChangeShapeType="1"/>
          </p:cNvSpPr>
          <p:nvPr/>
        </p:nvSpPr>
        <p:spPr>
          <a:xfrm>
            <a:off x="0" y="0"/>
            <a:ext cx="7560000" cy="10692000"/>
          </a:xfrm>
          <a:custGeom>
            <a:avLst/>
            <a:gdLst/>
            <a:ahLst/>
            <a:cxnLst/>
            <a:rect l="l" t="t" r="r" b="b"/>
            <a:pathLst>
              <a:path w="7560000" h="10692000">
                <a:moveTo>
                  <a:pt x="0" y="0"/>
                </a:moveTo>
                <a:lnTo>
                  <a:pt x="7560000" y="0"/>
                </a:lnTo>
                <a:lnTo>
                  <a:pt x="7560000" y="10692000"/>
                </a:lnTo>
                <a:lnTo>
                  <a:pt x="0" y="10692000"/>
                </a:lnTo>
                <a:lnTo>
                  <a:pt x="0" y="0"/>
                </a:lnTo>
                <a:close/>
              </a:path>
            </a:pathLst>
          </a:custGeom>
          <a:blipFill>
            <a:blip r:embed="rId2"/>
            <a:stretch>
              <a:fillRect l="-781" t="-13832" r="-781" b="-13832"/>
            </a:stretch>
          </a:blipFill>
        </p:spPr>
        <p:txBody>
          <a:bodyPr/>
          <a:lstStyle/>
          <a:p>
            <a:endParaRPr lang="ar-SA" dirty="0">
              <a:latin typeface="Sakkal Majalla" panose="02000000000000000000" pitchFamily="2" charset="-78"/>
              <a:cs typeface="Sakkal Majalla" panose="02000000000000000000" pitchFamily="2" charset="-78"/>
            </a:endParaRPr>
          </a:p>
        </p:txBody>
      </p:sp>
      <p:sp>
        <p:nvSpPr>
          <p:cNvPr id="3" name="Freeform 3">
            <a:extLst>
              <a:ext uri="{FF2B5EF4-FFF2-40B4-BE49-F238E27FC236}">
                <a16:creationId xmlns:a16="http://schemas.microsoft.com/office/drawing/2014/main" id="{B8F58E53-8CA9-0083-EF2A-19A0779CA45C}"/>
              </a:ext>
            </a:extLst>
          </p:cNvPr>
          <p:cNvSpPr>
            <a:spLocks noGrp="1" noRot="1" noMove="1" noResize="1" noEditPoints="1" noAdjustHandles="1" noChangeArrowheads="1" noChangeShapeType="1"/>
          </p:cNvSpPr>
          <p:nvPr/>
        </p:nvSpPr>
        <p:spPr>
          <a:xfrm>
            <a:off x="6654829" y="7724227"/>
            <a:ext cx="905171" cy="2967773"/>
          </a:xfrm>
          <a:custGeom>
            <a:avLst/>
            <a:gdLst/>
            <a:ahLst/>
            <a:cxnLst/>
            <a:rect l="l" t="t" r="r" b="b"/>
            <a:pathLst>
              <a:path w="905171" h="2967773">
                <a:moveTo>
                  <a:pt x="0" y="0"/>
                </a:moveTo>
                <a:lnTo>
                  <a:pt x="905171" y="0"/>
                </a:lnTo>
                <a:lnTo>
                  <a:pt x="905171" y="2967773"/>
                </a:lnTo>
                <a:lnTo>
                  <a:pt x="0" y="2967773"/>
                </a:lnTo>
                <a:lnTo>
                  <a:pt x="0" y="0"/>
                </a:lnTo>
                <a:close/>
              </a:path>
            </a:pathLst>
          </a:custGeom>
          <a:blipFill>
            <a:blip r:embed="rId3">
              <a:alphaModFix amt="83000"/>
              <a:extLst>
                <a:ext uri="{96DAC541-7B7A-43D3-8B79-37D633B846F1}">
                  <asvg:svgBlip xmlns:asvg="http://schemas.microsoft.com/office/drawing/2016/SVG/main" r:embed="rId4"/>
                </a:ext>
              </a:extLst>
            </a:blip>
            <a:stretch>
              <a:fillRect/>
            </a:stretch>
          </a:blipFill>
        </p:spPr>
        <p:txBody>
          <a:bodyPr/>
          <a:lstStyle/>
          <a:p>
            <a:endParaRPr lang="ar-SA">
              <a:latin typeface="Sakkal Majalla" panose="02000000000000000000" pitchFamily="2" charset="-78"/>
              <a:cs typeface="Sakkal Majalla" panose="02000000000000000000" pitchFamily="2" charset="-78"/>
            </a:endParaRPr>
          </a:p>
        </p:txBody>
      </p:sp>
      <p:sp>
        <p:nvSpPr>
          <p:cNvPr id="4" name="Freeform 4">
            <a:extLst>
              <a:ext uri="{FF2B5EF4-FFF2-40B4-BE49-F238E27FC236}">
                <a16:creationId xmlns:a16="http://schemas.microsoft.com/office/drawing/2014/main" id="{7BBAFEF8-2AC4-F4A0-C546-5FD5B26391DB}"/>
              </a:ext>
            </a:extLst>
          </p:cNvPr>
          <p:cNvSpPr>
            <a:spLocks noGrp="1" noRot="1" noMove="1" noResize="1" noEditPoints="1" noAdjustHandles="1" noChangeArrowheads="1" noChangeShapeType="1"/>
          </p:cNvSpPr>
          <p:nvPr/>
        </p:nvSpPr>
        <p:spPr>
          <a:xfrm rot="-10800000">
            <a:off x="-18769" y="-1"/>
            <a:ext cx="1549537" cy="4110699"/>
          </a:xfrm>
          <a:custGeom>
            <a:avLst/>
            <a:gdLst/>
            <a:ahLst/>
            <a:cxnLst/>
            <a:rect l="l" t="t" r="r" b="b"/>
            <a:pathLst>
              <a:path w="1549537" h="5080448">
                <a:moveTo>
                  <a:pt x="0" y="0"/>
                </a:moveTo>
                <a:lnTo>
                  <a:pt x="1549536" y="0"/>
                </a:lnTo>
                <a:lnTo>
                  <a:pt x="1549536" y="5080448"/>
                </a:lnTo>
                <a:lnTo>
                  <a:pt x="0" y="5080448"/>
                </a:lnTo>
                <a:lnTo>
                  <a:pt x="0" y="0"/>
                </a:lnTo>
                <a:close/>
              </a:path>
            </a:pathLst>
          </a:custGeom>
          <a:blipFill>
            <a:blip r:embed="rId3">
              <a:alphaModFix amt="83000"/>
              <a:extLst>
                <a:ext uri="{96DAC541-7B7A-43D3-8B79-37D633B846F1}">
                  <asvg:svgBlip xmlns:asvg="http://schemas.microsoft.com/office/drawing/2016/SVG/main" r:embed="rId4"/>
                </a:ext>
              </a:extLst>
            </a:blip>
            <a:stretch>
              <a:fillRect b="-23591"/>
            </a:stretch>
          </a:blipFill>
          <a:ln cap="sq">
            <a:noFill/>
            <a:prstDash val="solid"/>
            <a:miter/>
          </a:ln>
        </p:spPr>
        <p:txBody>
          <a:bodyPr/>
          <a:lstStyle/>
          <a:p>
            <a:endParaRPr lang="ar-SA">
              <a:latin typeface="Sakkal Majalla" panose="02000000000000000000" pitchFamily="2" charset="-78"/>
              <a:cs typeface="Sakkal Majalla" panose="02000000000000000000" pitchFamily="2" charset="-78"/>
            </a:endParaRPr>
          </a:p>
        </p:txBody>
      </p:sp>
      <p:sp>
        <p:nvSpPr>
          <p:cNvPr id="5" name="TextBox 4">
            <a:extLst>
              <a:ext uri="{FF2B5EF4-FFF2-40B4-BE49-F238E27FC236}">
                <a16:creationId xmlns:a16="http://schemas.microsoft.com/office/drawing/2014/main" id="{F151FFD9-1A64-EC0B-4BC8-3C810D3C7F18}"/>
              </a:ext>
            </a:extLst>
          </p:cNvPr>
          <p:cNvSpPr txBox="1"/>
          <p:nvPr/>
        </p:nvSpPr>
        <p:spPr>
          <a:xfrm>
            <a:off x="862028" y="3594100"/>
            <a:ext cx="5867400" cy="4578176"/>
          </a:xfrm>
          <a:prstGeom prst="rect">
            <a:avLst/>
          </a:prstGeom>
        </p:spPr>
        <p:txBody>
          <a:bodyPr wrap="square" lIns="0" tIns="0" rIns="0" bIns="0" rtlCol="0" anchor="t">
            <a:spAutoFit/>
          </a:bodyPr>
          <a:lstStyle>
            <a:defPPr>
              <a:defRPr lang="en-US"/>
            </a:defPPr>
            <a:lvl1pPr lvl="0" indent="0" algn="r" rtl="1">
              <a:lnSpc>
                <a:spcPts val="3161"/>
              </a:lnSpc>
              <a:spcBef>
                <a:spcPct val="0"/>
              </a:spcBef>
              <a:defRPr sz="1400" u="none" strike="noStrike">
                <a:latin typeface="GE SS Two Light"/>
                <a:ea typeface="GE SS Two Light"/>
                <a:cs typeface="GE SS Two Light"/>
                <a:rtl/>
              </a:defRPr>
            </a:lvl1pPr>
            <a:lvl2pPr marL="344711" lvl="1" indent="-172355" algn="r" rtl="1">
              <a:lnSpc>
                <a:spcPts val="3161"/>
              </a:lnSpc>
              <a:buFont typeface="Arial"/>
              <a:buChar char="•"/>
              <a:defRPr sz="1400" u="none" strike="noStrike">
                <a:latin typeface="GE SS Two Light"/>
                <a:ea typeface="GE SS Two Light"/>
                <a:cs typeface="GE SS Two Light"/>
                <a:rtl/>
              </a:defRPr>
            </a:lvl2pPr>
          </a:lstStyle>
          <a:p>
            <a:pPr>
              <a:lnSpc>
                <a:spcPct val="150000"/>
              </a:lnSpc>
            </a:pPr>
            <a:r>
              <a:rPr lang="ar-EG" sz="2000" dirty="0">
                <a:latin typeface="Sakkal Majalla" panose="02000000000000000000" pitchFamily="2" charset="-78"/>
                <a:cs typeface="Sakkal Majalla" panose="02000000000000000000" pitchFamily="2" charset="-78"/>
                <a:sym typeface="GE SS Two Light"/>
              </a:rPr>
              <a:t>تعمل وزارة التعليم على تحقيق أهداف عامة يمكن من خلالها تحسين البيئة ومؤسساتها التعليمية إلى جانب مخرجاتها، تحقيقاً لمبدأ التنافسية العالمية في التعليم والتطوير وذلك وفق الغايات والأهداف العامة التالية:</a:t>
            </a:r>
          </a:p>
          <a:p>
            <a:pPr lvl="1">
              <a:lnSpc>
                <a:spcPct val="150000"/>
              </a:lnSpc>
            </a:pPr>
            <a:r>
              <a:rPr lang="ar-EG" sz="2000" dirty="0">
                <a:latin typeface="Sakkal Majalla" panose="02000000000000000000" pitchFamily="2" charset="-78"/>
                <a:cs typeface="Sakkal Majalla" panose="02000000000000000000" pitchFamily="2" charset="-78"/>
                <a:sym typeface="GE SS Two Light"/>
              </a:rPr>
              <a:t>تعزيز مشاركة الأسرة في التحضير لمستقبل أبنائهم. </a:t>
            </a:r>
          </a:p>
          <a:p>
            <a:pPr lvl="1">
              <a:lnSpc>
                <a:spcPct val="150000"/>
              </a:lnSpc>
            </a:pPr>
            <a:r>
              <a:rPr lang="ar-EG" sz="2000" dirty="0">
                <a:latin typeface="Sakkal Majalla" panose="02000000000000000000" pitchFamily="2" charset="-78"/>
                <a:cs typeface="Sakkal Majalla" panose="02000000000000000000" pitchFamily="2" charset="-78"/>
                <a:sym typeface="GE SS Two Light"/>
              </a:rPr>
              <a:t>بناء رحلة تعليمية متكاملة.</a:t>
            </a:r>
          </a:p>
          <a:p>
            <a:pPr lvl="1">
              <a:lnSpc>
                <a:spcPct val="150000"/>
              </a:lnSpc>
            </a:pPr>
            <a:r>
              <a:rPr lang="ar-EG" sz="2000" dirty="0">
                <a:latin typeface="Sakkal Majalla" panose="02000000000000000000" pitchFamily="2" charset="-78"/>
                <a:cs typeface="Sakkal Majalla" panose="02000000000000000000" pitchFamily="2" charset="-78"/>
                <a:sym typeface="GE SS Two Light"/>
              </a:rPr>
              <a:t>تحسين تكافؤ فرص الحصول على التعليم.</a:t>
            </a:r>
          </a:p>
          <a:p>
            <a:pPr lvl="1">
              <a:lnSpc>
                <a:spcPct val="150000"/>
              </a:lnSpc>
            </a:pPr>
            <a:r>
              <a:rPr lang="ar-EG" sz="2000" dirty="0">
                <a:latin typeface="Sakkal Majalla" panose="02000000000000000000" pitchFamily="2" charset="-78"/>
                <a:cs typeface="Sakkal Majalla" panose="02000000000000000000" pitchFamily="2" charset="-78"/>
                <a:sym typeface="GE SS Two Light"/>
              </a:rPr>
              <a:t>تحسين مخرجات التعليم الأساسية.</a:t>
            </a:r>
          </a:p>
          <a:p>
            <a:pPr lvl="1">
              <a:lnSpc>
                <a:spcPct val="150000"/>
              </a:lnSpc>
            </a:pPr>
            <a:r>
              <a:rPr lang="ar-EG" sz="2000" dirty="0">
                <a:latin typeface="Sakkal Majalla" panose="02000000000000000000" pitchFamily="2" charset="-78"/>
                <a:cs typeface="Sakkal Majalla" panose="02000000000000000000" pitchFamily="2" charset="-78"/>
                <a:sym typeface="GE SS Two Light"/>
              </a:rPr>
              <a:t>تحسين ترتيب المؤسسات التعليمية.</a:t>
            </a:r>
          </a:p>
          <a:p>
            <a:pPr lvl="1">
              <a:lnSpc>
                <a:spcPct val="150000"/>
              </a:lnSpc>
            </a:pPr>
            <a:r>
              <a:rPr lang="ar-EG" sz="2000" dirty="0">
                <a:latin typeface="Sakkal Majalla" panose="02000000000000000000" pitchFamily="2" charset="-78"/>
                <a:cs typeface="Sakkal Majalla" panose="02000000000000000000" pitchFamily="2" charset="-78"/>
                <a:sym typeface="GE SS Two Light"/>
              </a:rPr>
              <a:t>توفير معارف نوعية للمتميزين في المجالات ذات الأولوية.</a:t>
            </a:r>
          </a:p>
          <a:p>
            <a:pPr lvl="1">
              <a:lnSpc>
                <a:spcPct val="150000"/>
              </a:lnSpc>
            </a:pPr>
            <a:r>
              <a:rPr lang="ar-EG" sz="2000" dirty="0">
                <a:latin typeface="Sakkal Majalla" panose="02000000000000000000" pitchFamily="2" charset="-78"/>
                <a:cs typeface="Sakkal Majalla" panose="02000000000000000000" pitchFamily="2" charset="-78"/>
                <a:sym typeface="GE SS Two Light"/>
              </a:rPr>
              <a:t>ضمان المواءمة بين مخرجات التعليم واحتياجات سوق العمل.</a:t>
            </a:r>
          </a:p>
        </p:txBody>
      </p:sp>
      <p:sp>
        <p:nvSpPr>
          <p:cNvPr id="6" name="TextBox 13">
            <a:extLst>
              <a:ext uri="{FF2B5EF4-FFF2-40B4-BE49-F238E27FC236}">
                <a16:creationId xmlns:a16="http://schemas.microsoft.com/office/drawing/2014/main" id="{390F29FE-547A-301F-CE8E-358D4B480909}"/>
              </a:ext>
            </a:extLst>
          </p:cNvPr>
          <p:cNvSpPr txBox="1"/>
          <p:nvPr/>
        </p:nvSpPr>
        <p:spPr>
          <a:xfrm>
            <a:off x="1495812" y="2147945"/>
            <a:ext cx="4564875" cy="738664"/>
          </a:xfrm>
          <a:prstGeom prst="rect">
            <a:avLst/>
          </a:prstGeom>
          <a:solidFill>
            <a:srgbClr val="D4C2C6"/>
          </a:solidFill>
          <a:effectLst>
            <a:outerShdw blurRad="76200" dir="18900000" sy="23000" kx="-1200000" algn="bl" rotWithShape="0">
              <a:prstClr val="black">
                <a:alpha val="20000"/>
              </a:prstClr>
            </a:outerShdw>
          </a:effectLst>
        </p:spPr>
        <p:txBody>
          <a:bodyPr wrap="square" lIns="0" tIns="0" rIns="0" bIns="0" rtlCol="0" anchor="t">
            <a:spAutoFit/>
          </a:bodyPr>
          <a:lstStyle/>
          <a:p>
            <a:pPr marL="0" lvl="0" indent="0" algn="ctr" rtl="1">
              <a:spcBef>
                <a:spcPct val="0"/>
              </a:spcBef>
            </a:pPr>
            <a:r>
              <a:rPr lang="ar-EG" sz="2400" b="1" u="none" strike="noStrike" spc="-27" dirty="0">
                <a:latin typeface="Sakkal Majalla" panose="02000000000000000000" pitchFamily="2" charset="-78"/>
                <a:ea typeface="GE SS Two Light"/>
                <a:cs typeface="Sakkal Majalla" panose="02000000000000000000" pitchFamily="2" charset="-78"/>
                <a:sym typeface="GE SS Two Light"/>
                <a:rtl/>
              </a:rPr>
              <a:t>أهداف التعليم</a:t>
            </a:r>
          </a:p>
          <a:p>
            <a:pPr marL="0" lvl="0" indent="0" algn="ctr" rtl="1">
              <a:spcBef>
                <a:spcPct val="0"/>
              </a:spcBef>
            </a:pPr>
            <a:r>
              <a:rPr lang="ar-EG" sz="2400" b="1" u="none" strike="noStrike" spc="-27" dirty="0">
                <a:latin typeface="Sakkal Majalla" panose="02000000000000000000" pitchFamily="2" charset="-78"/>
                <a:ea typeface="GE SS Two Light"/>
                <a:cs typeface="Sakkal Majalla" panose="02000000000000000000" pitchFamily="2" charset="-78"/>
                <a:sym typeface="GE SS Two Light"/>
                <a:rtl/>
              </a:rPr>
              <a:t> في المملكة العربية السعودية</a:t>
            </a:r>
          </a:p>
        </p:txBody>
      </p:sp>
    </p:spTree>
    <p:extLst>
      <p:ext uri="{BB962C8B-B14F-4D97-AF65-F5344CB8AC3E}">
        <p14:creationId xmlns:p14="http://schemas.microsoft.com/office/powerpoint/2010/main" val="1937571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18EC2-0C16-9DDC-93AB-EC4802D6BE4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3D13952-4895-07A7-1A27-C4C19CA8E7EE}"/>
              </a:ext>
            </a:extLst>
          </p:cNvPr>
          <p:cNvSpPr>
            <a:spLocks noGrp="1" noRot="1" noMove="1" noResize="1" noEditPoints="1" noAdjustHandles="1" noChangeArrowheads="1" noChangeShapeType="1"/>
          </p:cNvSpPr>
          <p:nvPr/>
        </p:nvSpPr>
        <p:spPr>
          <a:xfrm>
            <a:off x="0" y="0"/>
            <a:ext cx="7560000" cy="10692000"/>
          </a:xfrm>
          <a:custGeom>
            <a:avLst/>
            <a:gdLst/>
            <a:ahLst/>
            <a:cxnLst/>
            <a:rect l="l" t="t" r="r" b="b"/>
            <a:pathLst>
              <a:path w="7560000" h="10692000">
                <a:moveTo>
                  <a:pt x="0" y="0"/>
                </a:moveTo>
                <a:lnTo>
                  <a:pt x="7560000" y="0"/>
                </a:lnTo>
                <a:lnTo>
                  <a:pt x="7560000" y="10692000"/>
                </a:lnTo>
                <a:lnTo>
                  <a:pt x="0" y="10692000"/>
                </a:lnTo>
                <a:lnTo>
                  <a:pt x="0" y="0"/>
                </a:lnTo>
                <a:close/>
              </a:path>
            </a:pathLst>
          </a:custGeom>
          <a:blipFill>
            <a:blip r:embed="rId2"/>
            <a:stretch>
              <a:fillRect l="-781" t="-13832" r="-781" b="-13832"/>
            </a:stretch>
          </a:blipFill>
        </p:spPr>
        <p:txBody>
          <a:bodyPr/>
          <a:lstStyle/>
          <a:p>
            <a:endParaRPr lang="ar-SA" dirty="0">
              <a:latin typeface="Sakkal Majalla" panose="02000000000000000000" pitchFamily="2" charset="-78"/>
              <a:cs typeface="Sakkal Majalla" panose="02000000000000000000" pitchFamily="2" charset="-78"/>
            </a:endParaRPr>
          </a:p>
        </p:txBody>
      </p:sp>
      <p:sp>
        <p:nvSpPr>
          <p:cNvPr id="3" name="Freeform 3">
            <a:extLst>
              <a:ext uri="{FF2B5EF4-FFF2-40B4-BE49-F238E27FC236}">
                <a16:creationId xmlns:a16="http://schemas.microsoft.com/office/drawing/2014/main" id="{53AD6B9B-83C0-3B10-0B87-7D322B72DB7F}"/>
              </a:ext>
            </a:extLst>
          </p:cNvPr>
          <p:cNvSpPr>
            <a:spLocks noGrp="1" noRot="1" noMove="1" noResize="1" noEditPoints="1" noAdjustHandles="1" noChangeArrowheads="1" noChangeShapeType="1"/>
          </p:cNvSpPr>
          <p:nvPr/>
        </p:nvSpPr>
        <p:spPr>
          <a:xfrm>
            <a:off x="6654829" y="7724227"/>
            <a:ext cx="905171" cy="2967773"/>
          </a:xfrm>
          <a:custGeom>
            <a:avLst/>
            <a:gdLst/>
            <a:ahLst/>
            <a:cxnLst/>
            <a:rect l="l" t="t" r="r" b="b"/>
            <a:pathLst>
              <a:path w="905171" h="2967773">
                <a:moveTo>
                  <a:pt x="0" y="0"/>
                </a:moveTo>
                <a:lnTo>
                  <a:pt x="905171" y="0"/>
                </a:lnTo>
                <a:lnTo>
                  <a:pt x="905171" y="2967773"/>
                </a:lnTo>
                <a:lnTo>
                  <a:pt x="0" y="2967773"/>
                </a:lnTo>
                <a:lnTo>
                  <a:pt x="0" y="0"/>
                </a:lnTo>
                <a:close/>
              </a:path>
            </a:pathLst>
          </a:custGeom>
          <a:blipFill>
            <a:blip r:embed="rId3">
              <a:alphaModFix amt="83000"/>
              <a:extLst>
                <a:ext uri="{96DAC541-7B7A-43D3-8B79-37D633B846F1}">
                  <asvg:svgBlip xmlns:asvg="http://schemas.microsoft.com/office/drawing/2016/SVG/main" r:embed="rId4"/>
                </a:ext>
              </a:extLst>
            </a:blip>
            <a:stretch>
              <a:fillRect/>
            </a:stretch>
          </a:blipFill>
        </p:spPr>
        <p:txBody>
          <a:bodyPr/>
          <a:lstStyle/>
          <a:p>
            <a:endParaRPr lang="ar-SA">
              <a:latin typeface="Sakkal Majalla" panose="02000000000000000000" pitchFamily="2" charset="-78"/>
              <a:cs typeface="Sakkal Majalla" panose="02000000000000000000" pitchFamily="2" charset="-78"/>
            </a:endParaRPr>
          </a:p>
        </p:txBody>
      </p:sp>
      <p:sp>
        <p:nvSpPr>
          <p:cNvPr id="4" name="Freeform 4">
            <a:extLst>
              <a:ext uri="{FF2B5EF4-FFF2-40B4-BE49-F238E27FC236}">
                <a16:creationId xmlns:a16="http://schemas.microsoft.com/office/drawing/2014/main" id="{452DB28E-4330-73AE-ADAC-61745945FB40}"/>
              </a:ext>
            </a:extLst>
          </p:cNvPr>
          <p:cNvSpPr>
            <a:spLocks noGrp="1" noRot="1" noMove="1" noResize="1" noEditPoints="1" noAdjustHandles="1" noChangeArrowheads="1" noChangeShapeType="1"/>
          </p:cNvSpPr>
          <p:nvPr/>
        </p:nvSpPr>
        <p:spPr>
          <a:xfrm rot="-10800000">
            <a:off x="-18769" y="-1"/>
            <a:ext cx="1549537" cy="4110699"/>
          </a:xfrm>
          <a:custGeom>
            <a:avLst/>
            <a:gdLst/>
            <a:ahLst/>
            <a:cxnLst/>
            <a:rect l="l" t="t" r="r" b="b"/>
            <a:pathLst>
              <a:path w="1549537" h="5080448">
                <a:moveTo>
                  <a:pt x="0" y="0"/>
                </a:moveTo>
                <a:lnTo>
                  <a:pt x="1549536" y="0"/>
                </a:lnTo>
                <a:lnTo>
                  <a:pt x="1549536" y="5080448"/>
                </a:lnTo>
                <a:lnTo>
                  <a:pt x="0" y="5080448"/>
                </a:lnTo>
                <a:lnTo>
                  <a:pt x="0" y="0"/>
                </a:lnTo>
                <a:close/>
              </a:path>
            </a:pathLst>
          </a:custGeom>
          <a:blipFill>
            <a:blip r:embed="rId3">
              <a:alphaModFix amt="83000"/>
              <a:extLst>
                <a:ext uri="{96DAC541-7B7A-43D3-8B79-37D633B846F1}">
                  <asvg:svgBlip xmlns:asvg="http://schemas.microsoft.com/office/drawing/2016/SVG/main" r:embed="rId4"/>
                </a:ext>
              </a:extLst>
            </a:blip>
            <a:stretch>
              <a:fillRect b="-23591"/>
            </a:stretch>
          </a:blipFill>
          <a:ln cap="sq">
            <a:noFill/>
            <a:prstDash val="solid"/>
            <a:miter/>
          </a:ln>
        </p:spPr>
        <p:txBody>
          <a:bodyPr/>
          <a:lstStyle/>
          <a:p>
            <a:endParaRPr lang="ar-SA">
              <a:latin typeface="Sakkal Majalla" panose="02000000000000000000" pitchFamily="2" charset="-78"/>
              <a:cs typeface="Sakkal Majalla" panose="02000000000000000000" pitchFamily="2" charset="-78"/>
            </a:endParaRPr>
          </a:p>
        </p:txBody>
      </p:sp>
      <p:sp>
        <p:nvSpPr>
          <p:cNvPr id="5" name="TextBox 4">
            <a:extLst>
              <a:ext uri="{FF2B5EF4-FFF2-40B4-BE49-F238E27FC236}">
                <a16:creationId xmlns:a16="http://schemas.microsoft.com/office/drawing/2014/main" id="{DD4AF26D-2DF4-123F-4850-8520D9AF1E69}"/>
              </a:ext>
            </a:extLst>
          </p:cNvPr>
          <p:cNvSpPr txBox="1"/>
          <p:nvPr/>
        </p:nvSpPr>
        <p:spPr>
          <a:xfrm>
            <a:off x="844550" y="2365115"/>
            <a:ext cx="5867400" cy="5963171"/>
          </a:xfrm>
          <a:prstGeom prst="rect">
            <a:avLst/>
          </a:prstGeom>
        </p:spPr>
        <p:txBody>
          <a:bodyPr wrap="square" lIns="0" tIns="0" rIns="0" bIns="0" rtlCol="0" anchor="t">
            <a:spAutoFit/>
          </a:bodyPr>
          <a:lstStyle>
            <a:defPPr>
              <a:defRPr lang="en-US"/>
            </a:defPPr>
            <a:lvl1pPr lvl="0" indent="0" algn="r" rtl="1">
              <a:lnSpc>
                <a:spcPts val="3161"/>
              </a:lnSpc>
              <a:spcBef>
                <a:spcPct val="0"/>
              </a:spcBef>
              <a:defRPr sz="1400" u="none" strike="noStrike">
                <a:latin typeface="GE SS Two Light"/>
                <a:ea typeface="GE SS Two Light"/>
                <a:cs typeface="GE SS Two Light"/>
                <a:rtl/>
              </a:defRPr>
            </a:lvl1pPr>
            <a:lvl2pPr marL="344711" lvl="1" indent="-172355" algn="r" rtl="1">
              <a:lnSpc>
                <a:spcPts val="3161"/>
              </a:lnSpc>
              <a:buFont typeface="Arial"/>
              <a:buChar char="•"/>
              <a:defRPr sz="1400" u="none" strike="noStrike">
                <a:latin typeface="GE SS Two Light"/>
                <a:ea typeface="GE SS Two Light"/>
                <a:cs typeface="GE SS Two Light"/>
                <a:rtl/>
              </a:defRPr>
            </a:lvl2pPr>
          </a:lstStyle>
          <a:p>
            <a:pPr>
              <a:lnSpc>
                <a:spcPct val="150000"/>
              </a:lnSpc>
            </a:pPr>
            <a:r>
              <a:rPr lang="ar-EG" sz="2000" b="1" dirty="0">
                <a:latin typeface="Sakkal Majalla" panose="02000000000000000000" pitchFamily="2" charset="-78"/>
                <a:cs typeface="Sakkal Majalla" panose="02000000000000000000" pitchFamily="2" charset="-78"/>
                <a:sym typeface="GE SS Two Light"/>
              </a:rPr>
              <a:t>المادة الأولى: يقصد بالمصطلحات الآتية المعاني الموضحة قرين كل منها. </a:t>
            </a:r>
            <a:endParaRPr lang="ar-SA" sz="2000" b="1" dirty="0">
              <a:latin typeface="Sakkal Majalla" panose="02000000000000000000" pitchFamily="2" charset="-78"/>
              <a:cs typeface="Sakkal Majalla" panose="02000000000000000000" pitchFamily="2" charset="-78"/>
              <a:sym typeface="GE SS Two Light"/>
            </a:endParaRPr>
          </a:p>
          <a:p>
            <a:pPr>
              <a:lnSpc>
                <a:spcPct val="150000"/>
              </a:lnSpc>
            </a:pPr>
            <a:r>
              <a:rPr lang="ar-EG" sz="2000" dirty="0">
                <a:latin typeface="Sakkal Majalla" panose="02000000000000000000" pitchFamily="2" charset="-78"/>
                <a:cs typeface="Sakkal Majalla" panose="02000000000000000000" pitchFamily="2" charset="-78"/>
                <a:sym typeface="GE SS Two Light"/>
              </a:rPr>
              <a:t>أخلاقيات مهنة التعليم: السجايا الحميدة والسلو كيات الفاضلة التي يتعين أن يتحلى بها العاملون في حقل التعليم العام فكراً وسلوكاً أمام الله ثم أمام ولاة الأمر وأمام أنفسهم والآخرين وترتب عليهم واجبات أخلاقية</a:t>
            </a:r>
            <a:endParaRPr lang="ar-SA" sz="2000" dirty="0">
              <a:latin typeface="Sakkal Majalla" panose="02000000000000000000" pitchFamily="2" charset="-78"/>
              <a:cs typeface="Sakkal Majalla" panose="02000000000000000000" pitchFamily="2" charset="-78"/>
              <a:sym typeface="GE SS Two Light"/>
            </a:endParaRPr>
          </a:p>
          <a:p>
            <a:pPr>
              <a:lnSpc>
                <a:spcPct val="150000"/>
              </a:lnSpc>
            </a:pPr>
            <a:r>
              <a:rPr lang="ar-EG" sz="2000" dirty="0">
                <a:latin typeface="Sakkal Majalla" panose="02000000000000000000" pitchFamily="2" charset="-78"/>
                <a:cs typeface="Sakkal Majalla" panose="02000000000000000000" pitchFamily="2" charset="-78"/>
                <a:sym typeface="GE SS Two Light"/>
              </a:rPr>
              <a:t>المعلم: المعلم والمعلمة والقائمون والقائمات على العملية التربوية من مشرفين ومشرفات ومديرين ومديرات ومرشدين ومرشدات ونحوهم. </a:t>
            </a:r>
            <a:endParaRPr lang="ar-SA" sz="2000" dirty="0">
              <a:latin typeface="Sakkal Majalla" panose="02000000000000000000" pitchFamily="2" charset="-78"/>
              <a:cs typeface="Sakkal Majalla" panose="02000000000000000000" pitchFamily="2" charset="-78"/>
              <a:sym typeface="GE SS Two Light"/>
            </a:endParaRPr>
          </a:p>
          <a:p>
            <a:pPr>
              <a:lnSpc>
                <a:spcPct val="150000"/>
              </a:lnSpc>
            </a:pPr>
            <a:r>
              <a:rPr lang="ar-EG" sz="2000" dirty="0">
                <a:latin typeface="Sakkal Majalla" panose="02000000000000000000" pitchFamily="2" charset="-78"/>
                <a:cs typeface="Sakkal Majalla" panose="02000000000000000000" pitchFamily="2" charset="-78"/>
                <a:sym typeface="GE SS Two Light"/>
              </a:rPr>
              <a:t>الطالب: الطالب والطالبة في مدارس التعليم العام وما في مستواها. </a:t>
            </a:r>
            <a:endParaRPr lang="ar-SA" sz="2000" dirty="0">
              <a:latin typeface="Sakkal Majalla" panose="02000000000000000000" pitchFamily="2" charset="-78"/>
              <a:cs typeface="Sakkal Majalla" panose="02000000000000000000" pitchFamily="2" charset="-78"/>
              <a:sym typeface="GE SS Two Light"/>
            </a:endParaRPr>
          </a:p>
          <a:p>
            <a:pPr>
              <a:lnSpc>
                <a:spcPct val="150000"/>
              </a:lnSpc>
            </a:pPr>
            <a:r>
              <a:rPr lang="ar-EG" sz="2000" b="1" dirty="0">
                <a:latin typeface="Sakkal Majalla" panose="02000000000000000000" pitchFamily="2" charset="-78"/>
                <a:cs typeface="Sakkal Majalla" panose="02000000000000000000" pitchFamily="2" charset="-78"/>
                <a:sym typeface="GE SS Two Light"/>
              </a:rPr>
              <a:t>المادة الثانية: أهداف الميثاق.</a:t>
            </a:r>
            <a:endParaRPr lang="ar-SA" sz="2000" b="1" dirty="0">
              <a:latin typeface="Sakkal Majalla" panose="02000000000000000000" pitchFamily="2" charset="-78"/>
              <a:cs typeface="Sakkal Majalla" panose="02000000000000000000" pitchFamily="2" charset="-78"/>
              <a:sym typeface="GE SS Two Light"/>
            </a:endParaRPr>
          </a:p>
          <a:p>
            <a:pPr>
              <a:lnSpc>
                <a:spcPct val="150000"/>
              </a:lnSpc>
            </a:pPr>
            <a:r>
              <a:rPr lang="ar-EG" sz="2000" dirty="0">
                <a:latin typeface="Sakkal Majalla" panose="02000000000000000000" pitchFamily="2" charset="-78"/>
                <a:cs typeface="Sakkal Majalla" panose="02000000000000000000" pitchFamily="2" charset="-78"/>
                <a:sym typeface="GE SS Two Light"/>
              </a:rPr>
              <a:t> يهدف الميثاق إلى تعزيز انتماء المعلم لرسالته ومهنته، والارتقاء بها والإسهام في تطوير المجتمع الذي يعيش فيه وتقدمه، وتحببه لطلابه وجذبهم إليه والإفادة منه وذلك من خلال الآتي</a:t>
            </a:r>
            <a:r>
              <a:rPr lang="ar-SA" sz="2000" dirty="0">
                <a:latin typeface="Sakkal Majalla" panose="02000000000000000000" pitchFamily="2" charset="-78"/>
                <a:cs typeface="Sakkal Majalla" panose="02000000000000000000" pitchFamily="2" charset="-78"/>
                <a:sym typeface="GE SS Two Light"/>
              </a:rPr>
              <a:t> </a:t>
            </a:r>
            <a:r>
              <a:rPr lang="ar-EG" sz="2000" dirty="0">
                <a:latin typeface="Sakkal Majalla" panose="02000000000000000000" pitchFamily="2" charset="-78"/>
                <a:cs typeface="Sakkal Majalla" panose="02000000000000000000" pitchFamily="2" charset="-78"/>
                <a:sym typeface="GE SS Two Light"/>
              </a:rPr>
              <a:t>توعية المعلم بأهميته المهنية ودورها في بناء مستقبل وطنه الإسهام في تعزيز مكانة المعلم العلمية والاجتماعية حفز المعلم على أن يتمثل قيم مهنته وأخلاقها سلوكاً في حياته</a:t>
            </a:r>
          </a:p>
        </p:txBody>
      </p:sp>
      <p:sp>
        <p:nvSpPr>
          <p:cNvPr id="6" name="TextBox 13">
            <a:extLst>
              <a:ext uri="{FF2B5EF4-FFF2-40B4-BE49-F238E27FC236}">
                <a16:creationId xmlns:a16="http://schemas.microsoft.com/office/drawing/2014/main" id="{172EE6AA-7AE6-7F88-51EE-691B55E2F67D}"/>
              </a:ext>
            </a:extLst>
          </p:cNvPr>
          <p:cNvSpPr txBox="1"/>
          <p:nvPr/>
        </p:nvSpPr>
        <p:spPr>
          <a:xfrm>
            <a:off x="1495812" y="1100387"/>
            <a:ext cx="4564875" cy="395173"/>
          </a:xfrm>
          <a:prstGeom prst="rect">
            <a:avLst/>
          </a:prstGeom>
          <a:solidFill>
            <a:srgbClr val="D4C2C6"/>
          </a:solidFill>
          <a:effectLst>
            <a:outerShdw blurRad="76200" dir="18900000" sy="23000" kx="-1200000" algn="bl" rotWithShape="0">
              <a:prstClr val="black">
                <a:alpha val="20000"/>
              </a:prstClr>
            </a:outerShdw>
          </a:effectLst>
        </p:spPr>
        <p:txBody>
          <a:bodyPr wrap="square" lIns="0" tIns="0" rIns="0" bIns="0" rtlCol="0" anchor="t">
            <a:spAutoFit/>
          </a:bodyPr>
          <a:lstStyle/>
          <a:p>
            <a:pPr algn="ctr" rtl="1">
              <a:lnSpc>
                <a:spcPct val="107000"/>
              </a:lnSpc>
              <a:spcAft>
                <a:spcPts val="800"/>
              </a:spcAft>
            </a:pPr>
            <a:r>
              <a:rPr lang="ar-SA" sz="2400" b="1" kern="100"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ميثاق مهنة التعليم</a:t>
            </a:r>
            <a:endParaRPr lang="en-US" sz="2400" b="1" kern="100"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endParaRPr>
          </a:p>
        </p:txBody>
      </p:sp>
    </p:spTree>
    <p:extLst>
      <p:ext uri="{BB962C8B-B14F-4D97-AF65-F5344CB8AC3E}">
        <p14:creationId xmlns:p14="http://schemas.microsoft.com/office/powerpoint/2010/main" val="12737483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1E5BC-7265-2F83-0A2A-DCA2F0C7779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D70A611-F6D9-7BBB-E950-E5FBBB43DEFB}"/>
              </a:ext>
            </a:extLst>
          </p:cNvPr>
          <p:cNvSpPr>
            <a:spLocks noGrp="1" noRot="1" noMove="1" noResize="1" noEditPoints="1" noAdjustHandles="1" noChangeArrowheads="1" noChangeShapeType="1"/>
          </p:cNvSpPr>
          <p:nvPr/>
        </p:nvSpPr>
        <p:spPr>
          <a:xfrm>
            <a:off x="0" y="0"/>
            <a:ext cx="7560000" cy="10692000"/>
          </a:xfrm>
          <a:custGeom>
            <a:avLst/>
            <a:gdLst/>
            <a:ahLst/>
            <a:cxnLst/>
            <a:rect l="l" t="t" r="r" b="b"/>
            <a:pathLst>
              <a:path w="7560000" h="10692000">
                <a:moveTo>
                  <a:pt x="0" y="0"/>
                </a:moveTo>
                <a:lnTo>
                  <a:pt x="7560000" y="0"/>
                </a:lnTo>
                <a:lnTo>
                  <a:pt x="7560000" y="10692000"/>
                </a:lnTo>
                <a:lnTo>
                  <a:pt x="0" y="10692000"/>
                </a:lnTo>
                <a:lnTo>
                  <a:pt x="0" y="0"/>
                </a:lnTo>
                <a:close/>
              </a:path>
            </a:pathLst>
          </a:custGeom>
          <a:blipFill>
            <a:blip r:embed="rId2"/>
            <a:stretch>
              <a:fillRect l="-781" t="-13832" r="-781" b="-13832"/>
            </a:stretch>
          </a:blipFill>
        </p:spPr>
        <p:txBody>
          <a:bodyPr/>
          <a:lstStyle/>
          <a:p>
            <a:endParaRPr lang="ar-SA" dirty="0">
              <a:latin typeface="Sakkal Majalla" panose="02000000000000000000" pitchFamily="2" charset="-78"/>
              <a:cs typeface="Sakkal Majalla" panose="02000000000000000000" pitchFamily="2" charset="-78"/>
            </a:endParaRPr>
          </a:p>
        </p:txBody>
      </p:sp>
      <p:sp>
        <p:nvSpPr>
          <p:cNvPr id="3" name="Freeform 3">
            <a:extLst>
              <a:ext uri="{FF2B5EF4-FFF2-40B4-BE49-F238E27FC236}">
                <a16:creationId xmlns:a16="http://schemas.microsoft.com/office/drawing/2014/main" id="{BCDB3718-ADC3-9D9D-F5E5-54CDD67DD694}"/>
              </a:ext>
            </a:extLst>
          </p:cNvPr>
          <p:cNvSpPr>
            <a:spLocks noGrp="1" noRot="1" noMove="1" noResize="1" noEditPoints="1" noAdjustHandles="1" noChangeArrowheads="1" noChangeShapeType="1"/>
          </p:cNvSpPr>
          <p:nvPr/>
        </p:nvSpPr>
        <p:spPr>
          <a:xfrm>
            <a:off x="6654829" y="7724227"/>
            <a:ext cx="905171" cy="2967773"/>
          </a:xfrm>
          <a:custGeom>
            <a:avLst/>
            <a:gdLst/>
            <a:ahLst/>
            <a:cxnLst/>
            <a:rect l="l" t="t" r="r" b="b"/>
            <a:pathLst>
              <a:path w="905171" h="2967773">
                <a:moveTo>
                  <a:pt x="0" y="0"/>
                </a:moveTo>
                <a:lnTo>
                  <a:pt x="905171" y="0"/>
                </a:lnTo>
                <a:lnTo>
                  <a:pt x="905171" y="2967773"/>
                </a:lnTo>
                <a:lnTo>
                  <a:pt x="0" y="2967773"/>
                </a:lnTo>
                <a:lnTo>
                  <a:pt x="0" y="0"/>
                </a:lnTo>
                <a:close/>
              </a:path>
            </a:pathLst>
          </a:custGeom>
          <a:blipFill>
            <a:blip r:embed="rId3">
              <a:alphaModFix amt="83000"/>
              <a:extLst>
                <a:ext uri="{96DAC541-7B7A-43D3-8B79-37D633B846F1}">
                  <asvg:svgBlip xmlns:asvg="http://schemas.microsoft.com/office/drawing/2016/SVG/main" r:embed="rId4"/>
                </a:ext>
              </a:extLst>
            </a:blip>
            <a:stretch>
              <a:fillRect/>
            </a:stretch>
          </a:blipFill>
        </p:spPr>
        <p:txBody>
          <a:bodyPr/>
          <a:lstStyle/>
          <a:p>
            <a:endParaRPr lang="ar-SA">
              <a:latin typeface="Sakkal Majalla" panose="02000000000000000000" pitchFamily="2" charset="-78"/>
              <a:cs typeface="Sakkal Majalla" panose="02000000000000000000" pitchFamily="2" charset="-78"/>
            </a:endParaRPr>
          </a:p>
        </p:txBody>
      </p:sp>
      <p:sp>
        <p:nvSpPr>
          <p:cNvPr id="4" name="Freeform 4">
            <a:extLst>
              <a:ext uri="{FF2B5EF4-FFF2-40B4-BE49-F238E27FC236}">
                <a16:creationId xmlns:a16="http://schemas.microsoft.com/office/drawing/2014/main" id="{CD7A0CDC-6976-FE11-C51C-1C1102120829}"/>
              </a:ext>
            </a:extLst>
          </p:cNvPr>
          <p:cNvSpPr>
            <a:spLocks noGrp="1" noRot="1" noMove="1" noResize="1" noEditPoints="1" noAdjustHandles="1" noChangeArrowheads="1" noChangeShapeType="1"/>
          </p:cNvSpPr>
          <p:nvPr/>
        </p:nvSpPr>
        <p:spPr>
          <a:xfrm rot="-10800000">
            <a:off x="-18769" y="-1"/>
            <a:ext cx="1549537" cy="4110699"/>
          </a:xfrm>
          <a:custGeom>
            <a:avLst/>
            <a:gdLst/>
            <a:ahLst/>
            <a:cxnLst/>
            <a:rect l="l" t="t" r="r" b="b"/>
            <a:pathLst>
              <a:path w="1549537" h="5080448">
                <a:moveTo>
                  <a:pt x="0" y="0"/>
                </a:moveTo>
                <a:lnTo>
                  <a:pt x="1549536" y="0"/>
                </a:lnTo>
                <a:lnTo>
                  <a:pt x="1549536" y="5080448"/>
                </a:lnTo>
                <a:lnTo>
                  <a:pt x="0" y="5080448"/>
                </a:lnTo>
                <a:lnTo>
                  <a:pt x="0" y="0"/>
                </a:lnTo>
                <a:close/>
              </a:path>
            </a:pathLst>
          </a:custGeom>
          <a:blipFill>
            <a:blip r:embed="rId3">
              <a:alphaModFix amt="83000"/>
              <a:extLst>
                <a:ext uri="{96DAC541-7B7A-43D3-8B79-37D633B846F1}">
                  <asvg:svgBlip xmlns:asvg="http://schemas.microsoft.com/office/drawing/2016/SVG/main" r:embed="rId4"/>
                </a:ext>
              </a:extLst>
            </a:blip>
            <a:stretch>
              <a:fillRect b="-23591"/>
            </a:stretch>
          </a:blipFill>
          <a:ln cap="sq">
            <a:noFill/>
            <a:prstDash val="solid"/>
            <a:miter/>
          </a:ln>
        </p:spPr>
        <p:txBody>
          <a:bodyPr/>
          <a:lstStyle/>
          <a:p>
            <a:endParaRPr lang="ar-SA">
              <a:latin typeface="Sakkal Majalla" panose="02000000000000000000" pitchFamily="2" charset="-78"/>
              <a:cs typeface="Sakkal Majalla" panose="02000000000000000000" pitchFamily="2" charset="-78"/>
            </a:endParaRPr>
          </a:p>
        </p:txBody>
      </p:sp>
      <p:sp>
        <p:nvSpPr>
          <p:cNvPr id="5" name="TextBox 4">
            <a:extLst>
              <a:ext uri="{FF2B5EF4-FFF2-40B4-BE49-F238E27FC236}">
                <a16:creationId xmlns:a16="http://schemas.microsoft.com/office/drawing/2014/main" id="{BF277E19-66A5-B3EA-5C43-D8FA48F19726}"/>
              </a:ext>
            </a:extLst>
          </p:cNvPr>
          <p:cNvSpPr txBox="1"/>
          <p:nvPr/>
        </p:nvSpPr>
        <p:spPr>
          <a:xfrm>
            <a:off x="844550" y="1672618"/>
            <a:ext cx="5867400" cy="7348165"/>
          </a:xfrm>
          <a:prstGeom prst="rect">
            <a:avLst/>
          </a:prstGeom>
        </p:spPr>
        <p:txBody>
          <a:bodyPr wrap="square" lIns="0" tIns="0" rIns="0" bIns="0" rtlCol="0" anchor="t">
            <a:spAutoFit/>
          </a:bodyPr>
          <a:lstStyle>
            <a:defPPr>
              <a:defRPr lang="en-US"/>
            </a:defPPr>
            <a:lvl1pPr lvl="0" indent="0" algn="r" rtl="1">
              <a:lnSpc>
                <a:spcPts val="3161"/>
              </a:lnSpc>
              <a:spcBef>
                <a:spcPct val="0"/>
              </a:spcBef>
              <a:defRPr sz="1400" u="none" strike="noStrike">
                <a:latin typeface="GE SS Two Light"/>
                <a:ea typeface="GE SS Two Light"/>
                <a:cs typeface="GE SS Two Light"/>
                <a:rtl/>
              </a:defRPr>
            </a:lvl1pPr>
            <a:lvl2pPr marL="344711" lvl="1" indent="-172355" algn="r" rtl="1">
              <a:lnSpc>
                <a:spcPts val="3161"/>
              </a:lnSpc>
              <a:buFont typeface="Arial"/>
              <a:buChar char="•"/>
              <a:defRPr sz="1400" u="none" strike="noStrike">
                <a:latin typeface="GE SS Two Light"/>
                <a:ea typeface="GE SS Two Light"/>
                <a:cs typeface="GE SS Two Light"/>
                <a:rtl/>
              </a:defRPr>
            </a:lvl2pPr>
          </a:lstStyle>
          <a:p>
            <a:pPr>
              <a:lnSpc>
                <a:spcPct val="150000"/>
              </a:lnSpc>
            </a:pPr>
            <a:r>
              <a:rPr lang="ar-EG" sz="2000" b="1" dirty="0">
                <a:latin typeface="Sakkal Majalla" panose="02000000000000000000" pitchFamily="2" charset="-78"/>
                <a:cs typeface="Sakkal Majalla" panose="02000000000000000000" pitchFamily="2" charset="-78"/>
                <a:sym typeface="GE SS Two Light"/>
              </a:rPr>
              <a:t>المادة الثالثة: رسالة التعليم.</a:t>
            </a:r>
            <a:endParaRPr lang="ar-SA" sz="2000" b="1" dirty="0">
              <a:latin typeface="Sakkal Majalla" panose="02000000000000000000" pitchFamily="2" charset="-78"/>
              <a:cs typeface="Sakkal Majalla" panose="02000000000000000000" pitchFamily="2" charset="-78"/>
              <a:sym typeface="GE SS Two Light"/>
            </a:endParaRPr>
          </a:p>
          <a:p>
            <a:pPr>
              <a:lnSpc>
                <a:spcPct val="150000"/>
              </a:lnSpc>
            </a:pPr>
            <a:r>
              <a:rPr lang="ar-EG" sz="2000" dirty="0">
                <a:latin typeface="Sakkal Majalla" panose="02000000000000000000" pitchFamily="2" charset="-78"/>
                <a:cs typeface="Sakkal Majalla" panose="02000000000000000000" pitchFamily="2" charset="-78"/>
                <a:sym typeface="GE SS Two Light"/>
              </a:rPr>
              <a:t>التعليم رسالة تستمد أخلاقياتها من هدي شريعتنا ومبادئ حضارتنا وتوجب على القائمين بها أداء حق الانتماء إليها إخلاصاً في العمل وصدقا مع النفس والناس، وعطاء مستمرا لنشر العلم وفضائله  المعلم صاحب رسالة يستشعر عظمتها ويؤمن بأهميتها ويؤدي حقها بمهنية عالية اعتزاز المعلم بمهنته وإدراكه المستمر لرسالته يدعوانه إلى الحرص على نقاء السيرة وطهارة السريرة، حفاظاً على شرف مهنة التعليم</a:t>
            </a:r>
            <a:r>
              <a:rPr lang="ar-SA" sz="2000" dirty="0">
                <a:latin typeface="Sakkal Majalla" panose="02000000000000000000" pitchFamily="2" charset="-78"/>
                <a:cs typeface="Sakkal Majalla" panose="02000000000000000000" pitchFamily="2" charset="-78"/>
                <a:sym typeface="GE SS Two Light"/>
              </a:rPr>
              <a:t>.</a:t>
            </a:r>
          </a:p>
          <a:p>
            <a:pPr>
              <a:lnSpc>
                <a:spcPct val="150000"/>
              </a:lnSpc>
            </a:pPr>
            <a:r>
              <a:rPr lang="ar-EG" sz="2000" b="1" dirty="0">
                <a:latin typeface="Sakkal Majalla" panose="02000000000000000000" pitchFamily="2" charset="-78"/>
                <a:cs typeface="Sakkal Majalla" panose="02000000000000000000" pitchFamily="2" charset="-78"/>
                <a:sym typeface="GE SS Two Light"/>
              </a:rPr>
              <a:t>المادة الرابعة: المعلم وأداؤه المهني </a:t>
            </a:r>
            <a:endParaRPr lang="ar-SA" sz="2000" b="1" dirty="0">
              <a:latin typeface="Sakkal Majalla" panose="02000000000000000000" pitchFamily="2" charset="-78"/>
              <a:cs typeface="Sakkal Majalla" panose="02000000000000000000" pitchFamily="2" charset="-78"/>
              <a:sym typeface="GE SS Two Light"/>
            </a:endParaRPr>
          </a:p>
          <a:p>
            <a:pPr>
              <a:lnSpc>
                <a:spcPct val="150000"/>
              </a:lnSpc>
            </a:pPr>
            <a:r>
              <a:rPr lang="ar-EG" sz="2000" dirty="0">
                <a:latin typeface="Sakkal Majalla" panose="02000000000000000000" pitchFamily="2" charset="-78"/>
                <a:cs typeface="Sakkal Majalla" panose="02000000000000000000" pitchFamily="2" charset="-78"/>
                <a:sym typeface="GE SS Two Light"/>
              </a:rPr>
              <a:t>المعلم مثال للمسلم المعتز بدينه المتأسي برسول الله في جميع أقواله وأفعاله وسطيا في تعاملاته وأحكامه المعلم يدرك أن النمو المهني واجب أساس، والثقافة الذاتية المستمرة منهج في حياته، يطور نفسه وينمي معارفه منتفعاً بكل جديد في مجال تخصصه وفنون التدريس ومهاراته. يدرك المعلم أن الاستقامة والصدق، والأمانة، والحلم، والحزم، والانضباط، والتسامح، وحسن المظهر، وبشاشة الوجه سمات رئيسة في تكوين شخصيته. المعلم يدرك ان الرقيب الحقيقي على سلوكه، بعد الله - سبحانه وتعالى –، هو ضمير يقظ وحس ناقد، وأن الرقابة الخارجية مهما تنوعت الأساليب لا ترقى إلى الرقابة الذاتية. يسهم المعلم في ترسيخ مفهوم المواطنة لدى الطلاب، وغرس أهمية مبدأ الاعتدال والتسامح والتعايش بعيداً عن الغلو والتطرف.</a:t>
            </a:r>
          </a:p>
        </p:txBody>
      </p:sp>
      <p:sp>
        <p:nvSpPr>
          <p:cNvPr id="7" name="TextBox 13">
            <a:extLst>
              <a:ext uri="{FF2B5EF4-FFF2-40B4-BE49-F238E27FC236}">
                <a16:creationId xmlns:a16="http://schemas.microsoft.com/office/drawing/2014/main" id="{96C3315B-B1D1-23CD-442D-3C2356F71219}"/>
              </a:ext>
            </a:extLst>
          </p:cNvPr>
          <p:cNvSpPr txBox="1"/>
          <p:nvPr/>
        </p:nvSpPr>
        <p:spPr>
          <a:xfrm>
            <a:off x="1495812" y="1100387"/>
            <a:ext cx="4564875" cy="395173"/>
          </a:xfrm>
          <a:prstGeom prst="rect">
            <a:avLst/>
          </a:prstGeom>
          <a:solidFill>
            <a:srgbClr val="D4C2C6"/>
          </a:solidFill>
          <a:effectLst>
            <a:outerShdw blurRad="76200" dir="18900000" sy="23000" kx="-1200000" algn="bl" rotWithShape="0">
              <a:prstClr val="black">
                <a:alpha val="20000"/>
              </a:prstClr>
            </a:outerShdw>
          </a:effectLst>
        </p:spPr>
        <p:txBody>
          <a:bodyPr wrap="square" lIns="0" tIns="0" rIns="0" bIns="0" rtlCol="0" anchor="t">
            <a:spAutoFit/>
          </a:bodyPr>
          <a:lstStyle/>
          <a:p>
            <a:pPr algn="ctr" rtl="1">
              <a:lnSpc>
                <a:spcPct val="107000"/>
              </a:lnSpc>
              <a:spcAft>
                <a:spcPts val="800"/>
              </a:spcAft>
            </a:pPr>
            <a:r>
              <a:rPr lang="ar-SA" sz="2400" b="1" kern="100"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ميثاق مهنة التعليم</a:t>
            </a:r>
            <a:endParaRPr lang="en-US" sz="2400" b="1" kern="100"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endParaRPr>
          </a:p>
        </p:txBody>
      </p:sp>
    </p:spTree>
    <p:extLst>
      <p:ext uri="{BB962C8B-B14F-4D97-AF65-F5344CB8AC3E}">
        <p14:creationId xmlns:p14="http://schemas.microsoft.com/office/powerpoint/2010/main" val="32869634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C72D2-DCBD-22B5-4282-3F99D08A99E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8376D61-30A3-47E9-6392-CF84BCF1FD46}"/>
              </a:ext>
            </a:extLst>
          </p:cNvPr>
          <p:cNvSpPr>
            <a:spLocks noGrp="1" noRot="1" noMove="1" noResize="1" noEditPoints="1" noAdjustHandles="1" noChangeArrowheads="1" noChangeShapeType="1"/>
          </p:cNvSpPr>
          <p:nvPr/>
        </p:nvSpPr>
        <p:spPr>
          <a:xfrm>
            <a:off x="0" y="0"/>
            <a:ext cx="7560000" cy="10692000"/>
          </a:xfrm>
          <a:custGeom>
            <a:avLst/>
            <a:gdLst/>
            <a:ahLst/>
            <a:cxnLst/>
            <a:rect l="l" t="t" r="r" b="b"/>
            <a:pathLst>
              <a:path w="7560000" h="10692000">
                <a:moveTo>
                  <a:pt x="0" y="0"/>
                </a:moveTo>
                <a:lnTo>
                  <a:pt x="7560000" y="0"/>
                </a:lnTo>
                <a:lnTo>
                  <a:pt x="7560000" y="10692000"/>
                </a:lnTo>
                <a:lnTo>
                  <a:pt x="0" y="10692000"/>
                </a:lnTo>
                <a:lnTo>
                  <a:pt x="0" y="0"/>
                </a:lnTo>
                <a:close/>
              </a:path>
            </a:pathLst>
          </a:custGeom>
          <a:blipFill>
            <a:blip r:embed="rId2"/>
            <a:stretch>
              <a:fillRect l="-781" t="-13832" r="-781" b="-13832"/>
            </a:stretch>
          </a:blipFill>
        </p:spPr>
        <p:txBody>
          <a:bodyPr/>
          <a:lstStyle/>
          <a:p>
            <a:endParaRPr lang="ar-SA" dirty="0">
              <a:latin typeface="Sakkal Majalla" panose="02000000000000000000" pitchFamily="2" charset="-78"/>
              <a:cs typeface="Sakkal Majalla" panose="02000000000000000000" pitchFamily="2" charset="-78"/>
            </a:endParaRPr>
          </a:p>
        </p:txBody>
      </p:sp>
      <p:sp>
        <p:nvSpPr>
          <p:cNvPr id="3" name="Freeform 3">
            <a:extLst>
              <a:ext uri="{FF2B5EF4-FFF2-40B4-BE49-F238E27FC236}">
                <a16:creationId xmlns:a16="http://schemas.microsoft.com/office/drawing/2014/main" id="{2FB14536-5C3B-CBAD-2AC5-BB88B024D995}"/>
              </a:ext>
            </a:extLst>
          </p:cNvPr>
          <p:cNvSpPr>
            <a:spLocks noGrp="1" noRot="1" noMove="1" noResize="1" noEditPoints="1" noAdjustHandles="1" noChangeArrowheads="1" noChangeShapeType="1"/>
          </p:cNvSpPr>
          <p:nvPr/>
        </p:nvSpPr>
        <p:spPr>
          <a:xfrm>
            <a:off x="6654829" y="7724227"/>
            <a:ext cx="905171" cy="2967773"/>
          </a:xfrm>
          <a:custGeom>
            <a:avLst/>
            <a:gdLst/>
            <a:ahLst/>
            <a:cxnLst/>
            <a:rect l="l" t="t" r="r" b="b"/>
            <a:pathLst>
              <a:path w="905171" h="2967773">
                <a:moveTo>
                  <a:pt x="0" y="0"/>
                </a:moveTo>
                <a:lnTo>
                  <a:pt x="905171" y="0"/>
                </a:lnTo>
                <a:lnTo>
                  <a:pt x="905171" y="2967773"/>
                </a:lnTo>
                <a:lnTo>
                  <a:pt x="0" y="2967773"/>
                </a:lnTo>
                <a:lnTo>
                  <a:pt x="0" y="0"/>
                </a:lnTo>
                <a:close/>
              </a:path>
            </a:pathLst>
          </a:custGeom>
          <a:blipFill>
            <a:blip r:embed="rId3">
              <a:alphaModFix amt="83000"/>
              <a:extLst>
                <a:ext uri="{96DAC541-7B7A-43D3-8B79-37D633B846F1}">
                  <asvg:svgBlip xmlns:asvg="http://schemas.microsoft.com/office/drawing/2016/SVG/main" r:embed="rId4"/>
                </a:ext>
              </a:extLst>
            </a:blip>
            <a:stretch>
              <a:fillRect/>
            </a:stretch>
          </a:blipFill>
        </p:spPr>
        <p:txBody>
          <a:bodyPr/>
          <a:lstStyle/>
          <a:p>
            <a:endParaRPr lang="ar-SA">
              <a:latin typeface="Sakkal Majalla" panose="02000000000000000000" pitchFamily="2" charset="-78"/>
              <a:cs typeface="Sakkal Majalla" panose="02000000000000000000" pitchFamily="2" charset="-78"/>
            </a:endParaRPr>
          </a:p>
        </p:txBody>
      </p:sp>
      <p:sp>
        <p:nvSpPr>
          <p:cNvPr id="4" name="Freeform 4">
            <a:extLst>
              <a:ext uri="{FF2B5EF4-FFF2-40B4-BE49-F238E27FC236}">
                <a16:creationId xmlns:a16="http://schemas.microsoft.com/office/drawing/2014/main" id="{993FD14E-A4A1-2181-F427-A7B5EB555A27}"/>
              </a:ext>
            </a:extLst>
          </p:cNvPr>
          <p:cNvSpPr>
            <a:spLocks noGrp="1" noRot="1" noMove="1" noResize="1" noEditPoints="1" noAdjustHandles="1" noChangeArrowheads="1" noChangeShapeType="1"/>
          </p:cNvSpPr>
          <p:nvPr/>
        </p:nvSpPr>
        <p:spPr>
          <a:xfrm rot="-10800000">
            <a:off x="-18769" y="-1"/>
            <a:ext cx="1549537" cy="4110699"/>
          </a:xfrm>
          <a:custGeom>
            <a:avLst/>
            <a:gdLst/>
            <a:ahLst/>
            <a:cxnLst/>
            <a:rect l="l" t="t" r="r" b="b"/>
            <a:pathLst>
              <a:path w="1549537" h="5080448">
                <a:moveTo>
                  <a:pt x="0" y="0"/>
                </a:moveTo>
                <a:lnTo>
                  <a:pt x="1549536" y="0"/>
                </a:lnTo>
                <a:lnTo>
                  <a:pt x="1549536" y="5080448"/>
                </a:lnTo>
                <a:lnTo>
                  <a:pt x="0" y="5080448"/>
                </a:lnTo>
                <a:lnTo>
                  <a:pt x="0" y="0"/>
                </a:lnTo>
                <a:close/>
              </a:path>
            </a:pathLst>
          </a:custGeom>
          <a:blipFill>
            <a:blip r:embed="rId3">
              <a:alphaModFix amt="83000"/>
              <a:extLst>
                <a:ext uri="{96DAC541-7B7A-43D3-8B79-37D633B846F1}">
                  <asvg:svgBlip xmlns:asvg="http://schemas.microsoft.com/office/drawing/2016/SVG/main" r:embed="rId4"/>
                </a:ext>
              </a:extLst>
            </a:blip>
            <a:stretch>
              <a:fillRect b="-23591"/>
            </a:stretch>
          </a:blipFill>
          <a:ln cap="sq">
            <a:noFill/>
            <a:prstDash val="solid"/>
            <a:miter/>
          </a:ln>
        </p:spPr>
        <p:txBody>
          <a:bodyPr/>
          <a:lstStyle/>
          <a:p>
            <a:endParaRPr lang="ar-SA">
              <a:latin typeface="Sakkal Majalla" panose="02000000000000000000" pitchFamily="2" charset="-78"/>
              <a:cs typeface="Sakkal Majalla" panose="02000000000000000000" pitchFamily="2" charset="-78"/>
            </a:endParaRPr>
          </a:p>
        </p:txBody>
      </p:sp>
      <p:sp>
        <p:nvSpPr>
          <p:cNvPr id="5" name="TextBox 4">
            <a:extLst>
              <a:ext uri="{FF2B5EF4-FFF2-40B4-BE49-F238E27FC236}">
                <a16:creationId xmlns:a16="http://schemas.microsoft.com/office/drawing/2014/main" id="{89135416-4466-0419-7319-5845AEE5AB87}"/>
              </a:ext>
            </a:extLst>
          </p:cNvPr>
          <p:cNvSpPr txBox="1"/>
          <p:nvPr/>
        </p:nvSpPr>
        <p:spPr>
          <a:xfrm>
            <a:off x="844549" y="979420"/>
            <a:ext cx="5867400" cy="8733160"/>
          </a:xfrm>
          <a:prstGeom prst="rect">
            <a:avLst/>
          </a:prstGeom>
        </p:spPr>
        <p:txBody>
          <a:bodyPr wrap="square" lIns="0" tIns="0" rIns="0" bIns="0" rtlCol="0" anchor="t">
            <a:spAutoFit/>
          </a:bodyPr>
          <a:lstStyle>
            <a:defPPr>
              <a:defRPr lang="en-US"/>
            </a:defPPr>
            <a:lvl1pPr lvl="0" indent="0" algn="r" rtl="1">
              <a:lnSpc>
                <a:spcPts val="3161"/>
              </a:lnSpc>
              <a:spcBef>
                <a:spcPct val="0"/>
              </a:spcBef>
              <a:defRPr sz="1400" u="none" strike="noStrike">
                <a:latin typeface="GE SS Two Light"/>
                <a:ea typeface="GE SS Two Light"/>
                <a:cs typeface="GE SS Two Light"/>
                <a:rtl/>
              </a:defRPr>
            </a:lvl1pPr>
            <a:lvl2pPr marL="344711" lvl="1" indent="-172355" algn="r" rtl="1">
              <a:lnSpc>
                <a:spcPts val="3161"/>
              </a:lnSpc>
              <a:buFont typeface="Arial"/>
              <a:buChar char="•"/>
              <a:defRPr sz="1400" u="none" strike="noStrike">
                <a:latin typeface="GE SS Two Light"/>
                <a:ea typeface="GE SS Two Light"/>
                <a:cs typeface="GE SS Two Light"/>
                <a:rtl/>
              </a:defRPr>
            </a:lvl2pPr>
          </a:lstStyle>
          <a:p>
            <a:pPr>
              <a:lnSpc>
                <a:spcPct val="150000"/>
              </a:lnSpc>
            </a:pPr>
            <a:r>
              <a:rPr lang="ar-EG" sz="2000" b="1" dirty="0">
                <a:latin typeface="Sakkal Majalla" panose="02000000000000000000" pitchFamily="2" charset="-78"/>
                <a:cs typeface="Sakkal Majalla" panose="02000000000000000000" pitchFamily="2" charset="-78"/>
                <a:sym typeface="GE SS Two Light"/>
              </a:rPr>
              <a:t>المادة الخامسة: المعلم وطلابه.</a:t>
            </a:r>
            <a:endParaRPr lang="ar-SA" sz="2000" b="1" dirty="0">
              <a:latin typeface="Sakkal Majalla" panose="02000000000000000000" pitchFamily="2" charset="-78"/>
              <a:cs typeface="Sakkal Majalla" panose="02000000000000000000" pitchFamily="2" charset="-78"/>
              <a:sym typeface="GE SS Two Light"/>
            </a:endParaRPr>
          </a:p>
          <a:p>
            <a:pPr>
              <a:lnSpc>
                <a:spcPct val="150000"/>
              </a:lnSpc>
            </a:pPr>
            <a:r>
              <a:rPr lang="ar-EG" sz="2000" dirty="0">
                <a:latin typeface="Sakkal Majalla" panose="02000000000000000000" pitchFamily="2" charset="-78"/>
                <a:cs typeface="Sakkal Majalla" panose="02000000000000000000" pitchFamily="2" charset="-78"/>
                <a:sym typeface="GE SS Two Light"/>
              </a:rPr>
              <a:t> العلاقة بين المعلم وطلابه، والمعلمة وطالباتها لحمتها الرغبة في نفعهم، وسداها الشفقة عليهم والبر بهم وأساسها المودة الحانية، وحارسها الحزم الضروري.</a:t>
            </a:r>
            <a:endParaRPr lang="ar-SA" sz="2000" dirty="0">
              <a:latin typeface="Sakkal Majalla" panose="02000000000000000000" pitchFamily="2" charset="-78"/>
              <a:cs typeface="Sakkal Majalla" panose="02000000000000000000" pitchFamily="2" charset="-78"/>
              <a:sym typeface="GE SS Two Light"/>
            </a:endParaRPr>
          </a:p>
          <a:p>
            <a:pPr>
              <a:lnSpc>
                <a:spcPct val="150000"/>
              </a:lnSpc>
            </a:pPr>
            <a:r>
              <a:rPr lang="ar-EG" sz="2000" dirty="0">
                <a:latin typeface="Sakkal Majalla" panose="02000000000000000000" pitchFamily="2" charset="-78"/>
                <a:cs typeface="Sakkal Majalla" panose="02000000000000000000" pitchFamily="2" charset="-78"/>
                <a:sym typeface="GE SS Two Light"/>
              </a:rPr>
              <a:t>المعلم قدوة لطلابه خاصة، وللمجتمع عامة وهو حريص على أن يكون أثره في الناس حميداً باقياً.</a:t>
            </a:r>
            <a:endParaRPr lang="ar-SA" sz="2000" dirty="0">
              <a:latin typeface="Sakkal Majalla" panose="02000000000000000000" pitchFamily="2" charset="-78"/>
              <a:cs typeface="Sakkal Majalla" panose="02000000000000000000" pitchFamily="2" charset="-78"/>
              <a:sym typeface="GE SS Two Light"/>
            </a:endParaRPr>
          </a:p>
          <a:p>
            <a:pPr>
              <a:lnSpc>
                <a:spcPct val="150000"/>
              </a:lnSpc>
            </a:pPr>
            <a:r>
              <a:rPr lang="ar-EG" sz="2000" dirty="0">
                <a:latin typeface="Sakkal Majalla" panose="02000000000000000000" pitchFamily="2" charset="-78"/>
                <a:cs typeface="Sakkal Majalla" panose="02000000000000000000" pitchFamily="2" charset="-78"/>
                <a:sym typeface="GE SS Two Light"/>
              </a:rPr>
              <a:t>يحسن المعلم الظن بطلابه ويعلمهم أن يكونوا كذلك في حياتهم العامة والخاصة، ليلتمسوا العذر لغيرهم قبل التماس الخطأ، ويروا عيوب أنفسهم قبل رؤية عيوب الآخرين.</a:t>
            </a:r>
            <a:endParaRPr lang="ar-SA" sz="2000" dirty="0">
              <a:latin typeface="Sakkal Majalla" panose="02000000000000000000" pitchFamily="2" charset="-78"/>
              <a:cs typeface="Sakkal Majalla" panose="02000000000000000000" pitchFamily="2" charset="-78"/>
              <a:sym typeface="GE SS Two Light"/>
            </a:endParaRPr>
          </a:p>
          <a:p>
            <a:pPr>
              <a:lnSpc>
                <a:spcPct val="150000"/>
              </a:lnSpc>
            </a:pPr>
            <a:r>
              <a:rPr lang="ar-EG" sz="2000" dirty="0">
                <a:latin typeface="Sakkal Majalla" panose="02000000000000000000" pitchFamily="2" charset="-78"/>
                <a:cs typeface="Sakkal Majalla" panose="02000000000000000000" pitchFamily="2" charset="-78"/>
                <a:sym typeface="GE SS Two Light"/>
              </a:rPr>
              <a:t>المعلم أحرص الناس على نفع طلابه، يبذل جهده كله في تعليمهم، وتربيتهم، وتوجيههم، يدلهم على طريق الخير ويرغبهم فيه ويبين لهم طريق الشر ويذودهم عنه.</a:t>
            </a:r>
            <a:endParaRPr lang="ar-SA" sz="2000" dirty="0">
              <a:latin typeface="Sakkal Majalla" panose="02000000000000000000" pitchFamily="2" charset="-78"/>
              <a:cs typeface="Sakkal Majalla" panose="02000000000000000000" pitchFamily="2" charset="-78"/>
              <a:sym typeface="GE SS Two Light"/>
            </a:endParaRPr>
          </a:p>
          <a:p>
            <a:pPr>
              <a:lnSpc>
                <a:spcPct val="150000"/>
              </a:lnSpc>
            </a:pPr>
            <a:r>
              <a:rPr lang="ar-EG" sz="2000" dirty="0">
                <a:latin typeface="Sakkal Majalla" panose="02000000000000000000" pitchFamily="2" charset="-78"/>
                <a:cs typeface="Sakkal Majalla" panose="02000000000000000000" pitchFamily="2" charset="-78"/>
                <a:sym typeface="GE SS Two Light"/>
              </a:rPr>
              <a:t>المعلم يعدل بين طلابه في عطائه وتعامله ورقابته وتقويمه لأدائهم، ويصون كرامتهم، ويعي حقوقهم ويستثمر أوقاتهم بكل مفيد وهو بذلك لا يسمح باتخاذ دروسهم ساحة لغير ما يعنى بتعليمهم في مجال تخصصهم.</a:t>
            </a:r>
            <a:endParaRPr lang="ar-SA" sz="2000" dirty="0">
              <a:latin typeface="Sakkal Majalla" panose="02000000000000000000" pitchFamily="2" charset="-78"/>
              <a:cs typeface="Sakkal Majalla" panose="02000000000000000000" pitchFamily="2" charset="-78"/>
              <a:sym typeface="GE SS Two Light"/>
            </a:endParaRPr>
          </a:p>
          <a:p>
            <a:pPr>
              <a:lnSpc>
                <a:spcPct val="150000"/>
              </a:lnSpc>
            </a:pPr>
            <a:r>
              <a:rPr lang="ar-EG" sz="2000" dirty="0">
                <a:latin typeface="Sakkal Majalla" panose="02000000000000000000" pitchFamily="2" charset="-78"/>
                <a:cs typeface="Sakkal Majalla" panose="02000000000000000000" pitchFamily="2" charset="-78"/>
                <a:sym typeface="GE SS Two Light"/>
              </a:rPr>
              <a:t>المعلم نموذج للحكمة والرفق، يمارسهما ويأمر بهما، ويتجنب العنف وينهى عنه ويعود طلابه على التفكير السليم والحوار البناء.</a:t>
            </a:r>
            <a:endParaRPr lang="ar-SA" sz="2000" dirty="0">
              <a:latin typeface="Sakkal Majalla" panose="02000000000000000000" pitchFamily="2" charset="-78"/>
              <a:cs typeface="Sakkal Majalla" panose="02000000000000000000" pitchFamily="2" charset="-78"/>
              <a:sym typeface="GE SS Two Light"/>
            </a:endParaRPr>
          </a:p>
          <a:p>
            <a:pPr>
              <a:lnSpc>
                <a:spcPct val="150000"/>
              </a:lnSpc>
            </a:pPr>
            <a:r>
              <a:rPr lang="ar-EG" sz="2000" dirty="0">
                <a:latin typeface="Sakkal Majalla" panose="02000000000000000000" pitchFamily="2" charset="-78"/>
                <a:cs typeface="Sakkal Majalla" panose="02000000000000000000" pitchFamily="2" charset="-78"/>
                <a:sym typeface="GE SS Two Light"/>
              </a:rPr>
              <a:t>يعي المعلم أن الطالب ينفر من المدرسة التي يستخدم فيها العقاب البدني والنفسي، لذا فإن المربي القدير يتجنبهما وينهى عنهما.</a:t>
            </a:r>
            <a:endParaRPr lang="ar-SA" sz="2000" dirty="0">
              <a:latin typeface="Sakkal Majalla" panose="02000000000000000000" pitchFamily="2" charset="-78"/>
              <a:cs typeface="Sakkal Majalla" panose="02000000000000000000" pitchFamily="2" charset="-78"/>
              <a:sym typeface="GE SS Two Light"/>
            </a:endParaRPr>
          </a:p>
          <a:p>
            <a:pPr>
              <a:lnSpc>
                <a:spcPct val="150000"/>
              </a:lnSpc>
            </a:pPr>
            <a:r>
              <a:rPr lang="ar-EG" sz="2000" dirty="0">
                <a:latin typeface="Sakkal Majalla" panose="02000000000000000000" pitchFamily="2" charset="-78"/>
                <a:cs typeface="Sakkal Majalla" panose="02000000000000000000" pitchFamily="2" charset="-78"/>
                <a:sym typeface="GE SS Two Light"/>
              </a:rPr>
              <a:t>يسعى المعلم لإكساب الطالب المهارات العقلية والعلمية التي تنمي لديه التفكير العلمي الناقد وحب التعلم الذاتي المستمر وممارسته.</a:t>
            </a:r>
          </a:p>
        </p:txBody>
      </p:sp>
      <p:sp>
        <p:nvSpPr>
          <p:cNvPr id="7" name="TextBox 13">
            <a:extLst>
              <a:ext uri="{FF2B5EF4-FFF2-40B4-BE49-F238E27FC236}">
                <a16:creationId xmlns:a16="http://schemas.microsoft.com/office/drawing/2014/main" id="{27FDD704-2F07-A1A7-6D66-6E382D201158}"/>
              </a:ext>
            </a:extLst>
          </p:cNvPr>
          <p:cNvSpPr txBox="1"/>
          <p:nvPr/>
        </p:nvSpPr>
        <p:spPr>
          <a:xfrm>
            <a:off x="1495811" y="386660"/>
            <a:ext cx="4564875" cy="395173"/>
          </a:xfrm>
          <a:prstGeom prst="rect">
            <a:avLst/>
          </a:prstGeom>
          <a:solidFill>
            <a:srgbClr val="D4C2C6"/>
          </a:solidFill>
          <a:effectLst>
            <a:outerShdw blurRad="76200" dir="18900000" sy="23000" kx="-1200000" algn="bl" rotWithShape="0">
              <a:prstClr val="black">
                <a:alpha val="20000"/>
              </a:prstClr>
            </a:outerShdw>
          </a:effectLst>
        </p:spPr>
        <p:txBody>
          <a:bodyPr wrap="square" lIns="0" tIns="0" rIns="0" bIns="0" rtlCol="0" anchor="t">
            <a:spAutoFit/>
          </a:bodyPr>
          <a:lstStyle/>
          <a:p>
            <a:pPr algn="ctr" rtl="1">
              <a:lnSpc>
                <a:spcPct val="107000"/>
              </a:lnSpc>
              <a:spcAft>
                <a:spcPts val="800"/>
              </a:spcAft>
            </a:pPr>
            <a:r>
              <a:rPr lang="ar-SA" sz="2400" b="1" kern="100"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ميثاق مهنة التعليم</a:t>
            </a:r>
            <a:endParaRPr lang="en-US" sz="2400" b="1" kern="100"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endParaRPr>
          </a:p>
        </p:txBody>
      </p:sp>
    </p:spTree>
    <p:extLst>
      <p:ext uri="{BB962C8B-B14F-4D97-AF65-F5344CB8AC3E}">
        <p14:creationId xmlns:p14="http://schemas.microsoft.com/office/powerpoint/2010/main" val="758994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4A65B-3136-F349-83BF-F253C0A0012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08B9497-37E6-7C30-BD42-E1F63F78247F}"/>
              </a:ext>
            </a:extLst>
          </p:cNvPr>
          <p:cNvSpPr>
            <a:spLocks noGrp="1" noRot="1" noMove="1" noResize="1" noEditPoints="1" noAdjustHandles="1" noChangeArrowheads="1" noChangeShapeType="1"/>
          </p:cNvSpPr>
          <p:nvPr/>
        </p:nvSpPr>
        <p:spPr>
          <a:xfrm>
            <a:off x="0" y="0"/>
            <a:ext cx="7560000" cy="10692000"/>
          </a:xfrm>
          <a:custGeom>
            <a:avLst/>
            <a:gdLst/>
            <a:ahLst/>
            <a:cxnLst/>
            <a:rect l="l" t="t" r="r" b="b"/>
            <a:pathLst>
              <a:path w="7560000" h="10692000">
                <a:moveTo>
                  <a:pt x="0" y="0"/>
                </a:moveTo>
                <a:lnTo>
                  <a:pt x="7560000" y="0"/>
                </a:lnTo>
                <a:lnTo>
                  <a:pt x="7560000" y="10692000"/>
                </a:lnTo>
                <a:lnTo>
                  <a:pt x="0" y="10692000"/>
                </a:lnTo>
                <a:lnTo>
                  <a:pt x="0" y="0"/>
                </a:lnTo>
                <a:close/>
              </a:path>
            </a:pathLst>
          </a:custGeom>
          <a:blipFill>
            <a:blip r:embed="rId2"/>
            <a:stretch>
              <a:fillRect l="-781" t="-13832" r="-781" b="-13832"/>
            </a:stretch>
          </a:blipFill>
        </p:spPr>
        <p:txBody>
          <a:bodyPr/>
          <a:lstStyle/>
          <a:p>
            <a:endParaRPr lang="ar-SA" dirty="0">
              <a:latin typeface="Sakkal Majalla" panose="02000000000000000000" pitchFamily="2" charset="-78"/>
              <a:cs typeface="Sakkal Majalla" panose="02000000000000000000" pitchFamily="2" charset="-78"/>
            </a:endParaRPr>
          </a:p>
        </p:txBody>
      </p:sp>
      <p:sp>
        <p:nvSpPr>
          <p:cNvPr id="3" name="Freeform 3">
            <a:extLst>
              <a:ext uri="{FF2B5EF4-FFF2-40B4-BE49-F238E27FC236}">
                <a16:creationId xmlns:a16="http://schemas.microsoft.com/office/drawing/2014/main" id="{16CAB8EB-7C6C-4838-3049-BC92AD78EBDB}"/>
              </a:ext>
            </a:extLst>
          </p:cNvPr>
          <p:cNvSpPr>
            <a:spLocks noGrp="1" noRot="1" noMove="1" noResize="1" noEditPoints="1" noAdjustHandles="1" noChangeArrowheads="1" noChangeShapeType="1"/>
          </p:cNvSpPr>
          <p:nvPr/>
        </p:nvSpPr>
        <p:spPr>
          <a:xfrm>
            <a:off x="6654829" y="7724227"/>
            <a:ext cx="905171" cy="2967773"/>
          </a:xfrm>
          <a:custGeom>
            <a:avLst/>
            <a:gdLst/>
            <a:ahLst/>
            <a:cxnLst/>
            <a:rect l="l" t="t" r="r" b="b"/>
            <a:pathLst>
              <a:path w="905171" h="2967773">
                <a:moveTo>
                  <a:pt x="0" y="0"/>
                </a:moveTo>
                <a:lnTo>
                  <a:pt x="905171" y="0"/>
                </a:lnTo>
                <a:lnTo>
                  <a:pt x="905171" y="2967773"/>
                </a:lnTo>
                <a:lnTo>
                  <a:pt x="0" y="2967773"/>
                </a:lnTo>
                <a:lnTo>
                  <a:pt x="0" y="0"/>
                </a:lnTo>
                <a:close/>
              </a:path>
            </a:pathLst>
          </a:custGeom>
          <a:blipFill>
            <a:blip r:embed="rId3">
              <a:alphaModFix amt="83000"/>
              <a:extLst>
                <a:ext uri="{96DAC541-7B7A-43D3-8B79-37D633B846F1}">
                  <asvg:svgBlip xmlns:asvg="http://schemas.microsoft.com/office/drawing/2016/SVG/main" r:embed="rId4"/>
                </a:ext>
              </a:extLst>
            </a:blip>
            <a:stretch>
              <a:fillRect/>
            </a:stretch>
          </a:blipFill>
        </p:spPr>
        <p:txBody>
          <a:bodyPr/>
          <a:lstStyle/>
          <a:p>
            <a:endParaRPr lang="ar-SA">
              <a:latin typeface="Sakkal Majalla" panose="02000000000000000000" pitchFamily="2" charset="-78"/>
              <a:cs typeface="Sakkal Majalla" panose="02000000000000000000" pitchFamily="2" charset="-78"/>
            </a:endParaRPr>
          </a:p>
        </p:txBody>
      </p:sp>
      <p:sp>
        <p:nvSpPr>
          <p:cNvPr id="4" name="Freeform 4">
            <a:extLst>
              <a:ext uri="{FF2B5EF4-FFF2-40B4-BE49-F238E27FC236}">
                <a16:creationId xmlns:a16="http://schemas.microsoft.com/office/drawing/2014/main" id="{FB2C72D9-37E0-3540-12A4-B5E245B30212}"/>
              </a:ext>
            </a:extLst>
          </p:cNvPr>
          <p:cNvSpPr>
            <a:spLocks noGrp="1" noRot="1" noMove="1" noResize="1" noEditPoints="1" noAdjustHandles="1" noChangeArrowheads="1" noChangeShapeType="1"/>
          </p:cNvSpPr>
          <p:nvPr/>
        </p:nvSpPr>
        <p:spPr>
          <a:xfrm rot="-10800000">
            <a:off x="-18769" y="-1"/>
            <a:ext cx="1549537" cy="4110699"/>
          </a:xfrm>
          <a:custGeom>
            <a:avLst/>
            <a:gdLst/>
            <a:ahLst/>
            <a:cxnLst/>
            <a:rect l="l" t="t" r="r" b="b"/>
            <a:pathLst>
              <a:path w="1549537" h="5080448">
                <a:moveTo>
                  <a:pt x="0" y="0"/>
                </a:moveTo>
                <a:lnTo>
                  <a:pt x="1549536" y="0"/>
                </a:lnTo>
                <a:lnTo>
                  <a:pt x="1549536" y="5080448"/>
                </a:lnTo>
                <a:lnTo>
                  <a:pt x="0" y="5080448"/>
                </a:lnTo>
                <a:lnTo>
                  <a:pt x="0" y="0"/>
                </a:lnTo>
                <a:close/>
              </a:path>
            </a:pathLst>
          </a:custGeom>
          <a:blipFill>
            <a:blip r:embed="rId3">
              <a:alphaModFix amt="83000"/>
              <a:extLst>
                <a:ext uri="{96DAC541-7B7A-43D3-8B79-37D633B846F1}">
                  <asvg:svgBlip xmlns:asvg="http://schemas.microsoft.com/office/drawing/2016/SVG/main" r:embed="rId4"/>
                </a:ext>
              </a:extLst>
            </a:blip>
            <a:stretch>
              <a:fillRect b="-23591"/>
            </a:stretch>
          </a:blipFill>
          <a:ln cap="sq">
            <a:noFill/>
            <a:prstDash val="solid"/>
            <a:miter/>
          </a:ln>
        </p:spPr>
        <p:txBody>
          <a:bodyPr/>
          <a:lstStyle/>
          <a:p>
            <a:endParaRPr lang="ar-SA">
              <a:latin typeface="Sakkal Majalla" panose="02000000000000000000" pitchFamily="2" charset="-78"/>
              <a:cs typeface="Sakkal Majalla" panose="02000000000000000000" pitchFamily="2" charset="-78"/>
            </a:endParaRPr>
          </a:p>
        </p:txBody>
      </p:sp>
      <p:sp>
        <p:nvSpPr>
          <p:cNvPr id="5" name="TextBox 4">
            <a:extLst>
              <a:ext uri="{FF2B5EF4-FFF2-40B4-BE49-F238E27FC236}">
                <a16:creationId xmlns:a16="http://schemas.microsoft.com/office/drawing/2014/main" id="{857F1908-22C7-7346-83D4-77AEA7E495DC}"/>
              </a:ext>
            </a:extLst>
          </p:cNvPr>
          <p:cNvSpPr txBox="1"/>
          <p:nvPr/>
        </p:nvSpPr>
        <p:spPr>
          <a:xfrm>
            <a:off x="844550" y="1441785"/>
            <a:ext cx="5867400" cy="7809830"/>
          </a:xfrm>
          <a:prstGeom prst="rect">
            <a:avLst/>
          </a:prstGeom>
        </p:spPr>
        <p:txBody>
          <a:bodyPr wrap="square" lIns="0" tIns="0" rIns="0" bIns="0" rtlCol="0" anchor="t">
            <a:spAutoFit/>
          </a:bodyPr>
          <a:lstStyle>
            <a:defPPr>
              <a:defRPr lang="en-US"/>
            </a:defPPr>
            <a:lvl1pPr lvl="0" indent="0" algn="r" rtl="1">
              <a:lnSpc>
                <a:spcPts val="3161"/>
              </a:lnSpc>
              <a:spcBef>
                <a:spcPct val="0"/>
              </a:spcBef>
              <a:defRPr sz="1400" u="none" strike="noStrike">
                <a:latin typeface="GE SS Two Light"/>
                <a:ea typeface="GE SS Two Light"/>
                <a:cs typeface="GE SS Two Light"/>
                <a:rtl/>
              </a:defRPr>
            </a:lvl1pPr>
            <a:lvl2pPr marL="344711" lvl="1" indent="-172355" algn="r" rtl="1">
              <a:lnSpc>
                <a:spcPts val="3161"/>
              </a:lnSpc>
              <a:buFont typeface="Arial"/>
              <a:buChar char="•"/>
              <a:defRPr sz="1400" u="none" strike="noStrike">
                <a:latin typeface="GE SS Two Light"/>
                <a:ea typeface="GE SS Two Light"/>
                <a:cs typeface="GE SS Two Light"/>
                <a:rtl/>
              </a:defRPr>
            </a:lvl2pPr>
          </a:lstStyle>
          <a:p>
            <a:pPr>
              <a:lnSpc>
                <a:spcPct val="150000"/>
              </a:lnSpc>
            </a:pPr>
            <a:r>
              <a:rPr lang="ar-EG" sz="2000" b="1" dirty="0">
                <a:latin typeface="Sakkal Majalla" panose="02000000000000000000" pitchFamily="2" charset="-78"/>
                <a:cs typeface="Sakkal Majalla" panose="02000000000000000000" pitchFamily="2" charset="-78"/>
                <a:sym typeface="GE SS Two Light"/>
              </a:rPr>
              <a:t>المادة السادسة: المعلم والمجتمع</a:t>
            </a:r>
            <a:endParaRPr lang="ar-SA" sz="2000" b="1" dirty="0">
              <a:latin typeface="Sakkal Majalla" panose="02000000000000000000" pitchFamily="2" charset="-78"/>
              <a:cs typeface="Sakkal Majalla" panose="02000000000000000000" pitchFamily="2" charset="-78"/>
              <a:sym typeface="GE SS Two Light"/>
            </a:endParaRPr>
          </a:p>
          <a:p>
            <a:pPr>
              <a:lnSpc>
                <a:spcPct val="150000"/>
              </a:lnSpc>
            </a:pPr>
            <a:r>
              <a:rPr lang="ar-EG" sz="2000" dirty="0">
                <a:latin typeface="Sakkal Majalla" panose="02000000000000000000" pitchFamily="2" charset="-78"/>
                <a:cs typeface="Sakkal Majalla" panose="02000000000000000000" pitchFamily="2" charset="-78"/>
                <a:sym typeface="GE SS Two Light"/>
              </a:rPr>
              <a:t>يعزز المعلم لدى الطلاب الإحساس بالانتماء لدينهم ووطنهم كما ينمي لديهم أهمية التفاعل الإيجابي مع الثقافات الأخرى، فالحكمة ضالة المؤمن أنى وجدها فهو أحق الناس بها.</a:t>
            </a:r>
            <a:endParaRPr lang="ar-SA" sz="2000" dirty="0">
              <a:latin typeface="Sakkal Majalla" panose="02000000000000000000" pitchFamily="2" charset="-78"/>
              <a:cs typeface="Sakkal Majalla" panose="02000000000000000000" pitchFamily="2" charset="-78"/>
              <a:sym typeface="GE SS Two Light"/>
            </a:endParaRPr>
          </a:p>
          <a:p>
            <a:pPr>
              <a:lnSpc>
                <a:spcPct val="150000"/>
              </a:lnSpc>
            </a:pPr>
            <a:r>
              <a:rPr lang="ar-EG" sz="2000" dirty="0">
                <a:latin typeface="Sakkal Majalla" panose="02000000000000000000" pitchFamily="2" charset="-78"/>
                <a:cs typeface="Sakkal Majalla" panose="02000000000000000000" pitchFamily="2" charset="-78"/>
                <a:sym typeface="GE SS Two Light"/>
              </a:rPr>
              <a:t>المعلم أمين على كيان الوطن ووحدته وتعاون أبنائه، يعمل جاهداً لتسود المحبة المثمرة والاحترام الصادق بين المواطنين جميعاً وبينهم وبين أولي الأمر منهم، تحقيقاً لأمن الوطن واستقراره، وتمكيناً لنمائه وازدهاره، وحرصاً على سمعته ومكانته بين المجتمعات الإنسانية الراقية.</a:t>
            </a:r>
            <a:endParaRPr lang="ar-SA" sz="2000" dirty="0">
              <a:latin typeface="Sakkal Majalla" panose="02000000000000000000" pitchFamily="2" charset="-78"/>
              <a:cs typeface="Sakkal Majalla" panose="02000000000000000000" pitchFamily="2" charset="-78"/>
              <a:sym typeface="GE SS Two Light"/>
            </a:endParaRPr>
          </a:p>
          <a:p>
            <a:pPr>
              <a:lnSpc>
                <a:spcPct val="150000"/>
              </a:lnSpc>
            </a:pPr>
            <a:r>
              <a:rPr lang="ar-EG" sz="2000" dirty="0">
                <a:latin typeface="Sakkal Majalla" panose="02000000000000000000" pitchFamily="2" charset="-78"/>
                <a:cs typeface="Sakkal Majalla" panose="02000000000000000000" pitchFamily="2" charset="-78"/>
                <a:sym typeface="GE SS Two Light"/>
              </a:rPr>
              <a:t>المعلم موضع تقدير المجتمع، واحترامه، وهو لذلك حريص على أن يكون في مستوى هذه الثقة وذلك التقدير والاحترام، ويحرص على ألا يؤثر عنه إلا ما يؤكد ثقة المجتمع به واحترامه له.</a:t>
            </a:r>
            <a:endParaRPr lang="ar-SA" sz="2000" dirty="0">
              <a:latin typeface="Sakkal Majalla" panose="02000000000000000000" pitchFamily="2" charset="-78"/>
              <a:cs typeface="Sakkal Majalla" panose="02000000000000000000" pitchFamily="2" charset="-78"/>
              <a:sym typeface="GE SS Two Light"/>
            </a:endParaRPr>
          </a:p>
          <a:p>
            <a:pPr>
              <a:lnSpc>
                <a:spcPct val="150000"/>
              </a:lnSpc>
            </a:pPr>
            <a:r>
              <a:rPr lang="ar-EG" sz="2000" dirty="0">
                <a:latin typeface="Sakkal Majalla" panose="02000000000000000000" pitchFamily="2" charset="-78"/>
                <a:cs typeface="Sakkal Majalla" panose="02000000000000000000" pitchFamily="2" charset="-78"/>
                <a:sym typeface="GE SS Two Light"/>
              </a:rPr>
              <a:t>المعلم عضو مؤثر في مجتمعه، تعلق عليه الآمال في التقدم المعرفي والارتقاء العلمي والإبداع الفكري والإسهام الحضاري ونشر هذه الشمائل الحميدة بين طلابه.</a:t>
            </a:r>
            <a:endParaRPr lang="ar-SA" sz="2000" dirty="0">
              <a:latin typeface="Sakkal Majalla" panose="02000000000000000000" pitchFamily="2" charset="-78"/>
              <a:cs typeface="Sakkal Majalla" panose="02000000000000000000" pitchFamily="2" charset="-78"/>
              <a:sym typeface="GE SS Two Light"/>
            </a:endParaRPr>
          </a:p>
          <a:p>
            <a:pPr>
              <a:lnSpc>
                <a:spcPct val="150000"/>
              </a:lnSpc>
            </a:pPr>
            <a:r>
              <a:rPr lang="ar-EG" sz="2000" dirty="0">
                <a:latin typeface="Sakkal Majalla" panose="02000000000000000000" pitchFamily="2" charset="-78"/>
                <a:cs typeface="Sakkal Majalla" panose="02000000000000000000" pitchFamily="2" charset="-78"/>
                <a:sym typeface="GE SS Two Light"/>
              </a:rPr>
              <a:t>المعلم صورة صادقة للمثقف المنتمي الى دينه ووطنه، الأمر الذي يلزمه توسيع نطاق ثقافته وتنويع مصادرها، ليكون قادراً على تكوين رأي ناضج مبني على العلم والمعرفة والخبرة الواسعة ُيعين به طلابه على سعة الأفق ورؤية وجهات النظر المتباينة باعتبارها مكونات ثقافية تتكامل وتتعاون في بناء الحضارة الإنسانية.</a:t>
            </a:r>
          </a:p>
        </p:txBody>
      </p:sp>
      <p:sp>
        <p:nvSpPr>
          <p:cNvPr id="7" name="TextBox 13">
            <a:extLst>
              <a:ext uri="{FF2B5EF4-FFF2-40B4-BE49-F238E27FC236}">
                <a16:creationId xmlns:a16="http://schemas.microsoft.com/office/drawing/2014/main" id="{AF74270A-BC74-36E6-B0F9-97548CCFB794}"/>
              </a:ext>
            </a:extLst>
          </p:cNvPr>
          <p:cNvSpPr txBox="1"/>
          <p:nvPr/>
        </p:nvSpPr>
        <p:spPr>
          <a:xfrm>
            <a:off x="1495812" y="698500"/>
            <a:ext cx="4564875" cy="395173"/>
          </a:xfrm>
          <a:prstGeom prst="rect">
            <a:avLst/>
          </a:prstGeom>
          <a:solidFill>
            <a:srgbClr val="D4C2C6"/>
          </a:solidFill>
          <a:effectLst>
            <a:outerShdw blurRad="76200" dir="18900000" sy="23000" kx="-1200000" algn="bl" rotWithShape="0">
              <a:prstClr val="black">
                <a:alpha val="20000"/>
              </a:prstClr>
            </a:outerShdw>
          </a:effectLst>
        </p:spPr>
        <p:txBody>
          <a:bodyPr wrap="square" lIns="0" tIns="0" rIns="0" bIns="0" rtlCol="0" anchor="t">
            <a:spAutoFit/>
          </a:bodyPr>
          <a:lstStyle/>
          <a:p>
            <a:pPr algn="ctr" rtl="1">
              <a:lnSpc>
                <a:spcPct val="107000"/>
              </a:lnSpc>
              <a:spcAft>
                <a:spcPts val="800"/>
              </a:spcAft>
            </a:pPr>
            <a:r>
              <a:rPr lang="ar-SA" sz="2400" b="1" kern="100"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ميثاق مهنة التعليم</a:t>
            </a:r>
            <a:endParaRPr lang="en-US" sz="2400" b="1" kern="100"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endParaRPr>
          </a:p>
        </p:txBody>
      </p:sp>
    </p:spTree>
    <p:extLst>
      <p:ext uri="{BB962C8B-B14F-4D97-AF65-F5344CB8AC3E}">
        <p14:creationId xmlns:p14="http://schemas.microsoft.com/office/powerpoint/2010/main" val="679761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0FC97-66B1-5158-A007-85FA06FD24A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D872CA1-CD19-AA9D-ED43-3EF7E0F22F15}"/>
              </a:ext>
            </a:extLst>
          </p:cNvPr>
          <p:cNvSpPr>
            <a:spLocks noGrp="1" noRot="1" noMove="1" noResize="1" noEditPoints="1" noAdjustHandles="1" noChangeArrowheads="1" noChangeShapeType="1"/>
          </p:cNvSpPr>
          <p:nvPr/>
        </p:nvSpPr>
        <p:spPr>
          <a:xfrm>
            <a:off x="0" y="0"/>
            <a:ext cx="7560000" cy="10692000"/>
          </a:xfrm>
          <a:custGeom>
            <a:avLst/>
            <a:gdLst/>
            <a:ahLst/>
            <a:cxnLst/>
            <a:rect l="l" t="t" r="r" b="b"/>
            <a:pathLst>
              <a:path w="7560000" h="10692000">
                <a:moveTo>
                  <a:pt x="0" y="0"/>
                </a:moveTo>
                <a:lnTo>
                  <a:pt x="7560000" y="0"/>
                </a:lnTo>
                <a:lnTo>
                  <a:pt x="7560000" y="10692000"/>
                </a:lnTo>
                <a:lnTo>
                  <a:pt x="0" y="10692000"/>
                </a:lnTo>
                <a:lnTo>
                  <a:pt x="0" y="0"/>
                </a:lnTo>
                <a:close/>
              </a:path>
            </a:pathLst>
          </a:custGeom>
          <a:blipFill>
            <a:blip r:embed="rId2"/>
            <a:stretch>
              <a:fillRect l="-781" t="-13832" r="-781" b="-13832"/>
            </a:stretch>
          </a:blipFill>
        </p:spPr>
        <p:txBody>
          <a:bodyPr/>
          <a:lstStyle/>
          <a:p>
            <a:endParaRPr lang="ar-SA" dirty="0">
              <a:latin typeface="Sakkal Majalla" panose="02000000000000000000" pitchFamily="2" charset="-78"/>
              <a:cs typeface="Sakkal Majalla" panose="02000000000000000000" pitchFamily="2" charset="-78"/>
            </a:endParaRPr>
          </a:p>
        </p:txBody>
      </p:sp>
      <p:sp>
        <p:nvSpPr>
          <p:cNvPr id="3" name="Freeform 3">
            <a:extLst>
              <a:ext uri="{FF2B5EF4-FFF2-40B4-BE49-F238E27FC236}">
                <a16:creationId xmlns:a16="http://schemas.microsoft.com/office/drawing/2014/main" id="{4F3F693D-6E3E-8170-5DB3-F66F93C1736A}"/>
              </a:ext>
            </a:extLst>
          </p:cNvPr>
          <p:cNvSpPr>
            <a:spLocks noGrp="1" noRot="1" noMove="1" noResize="1" noEditPoints="1" noAdjustHandles="1" noChangeArrowheads="1" noChangeShapeType="1"/>
          </p:cNvSpPr>
          <p:nvPr/>
        </p:nvSpPr>
        <p:spPr>
          <a:xfrm>
            <a:off x="6654829" y="7724227"/>
            <a:ext cx="905171" cy="2967773"/>
          </a:xfrm>
          <a:custGeom>
            <a:avLst/>
            <a:gdLst/>
            <a:ahLst/>
            <a:cxnLst/>
            <a:rect l="l" t="t" r="r" b="b"/>
            <a:pathLst>
              <a:path w="905171" h="2967773">
                <a:moveTo>
                  <a:pt x="0" y="0"/>
                </a:moveTo>
                <a:lnTo>
                  <a:pt x="905171" y="0"/>
                </a:lnTo>
                <a:lnTo>
                  <a:pt x="905171" y="2967773"/>
                </a:lnTo>
                <a:lnTo>
                  <a:pt x="0" y="2967773"/>
                </a:lnTo>
                <a:lnTo>
                  <a:pt x="0" y="0"/>
                </a:lnTo>
                <a:close/>
              </a:path>
            </a:pathLst>
          </a:custGeom>
          <a:blipFill>
            <a:blip r:embed="rId3">
              <a:alphaModFix amt="83000"/>
              <a:extLst>
                <a:ext uri="{96DAC541-7B7A-43D3-8B79-37D633B846F1}">
                  <asvg:svgBlip xmlns:asvg="http://schemas.microsoft.com/office/drawing/2016/SVG/main" r:embed="rId4"/>
                </a:ext>
              </a:extLst>
            </a:blip>
            <a:stretch>
              <a:fillRect/>
            </a:stretch>
          </a:blipFill>
        </p:spPr>
        <p:txBody>
          <a:bodyPr/>
          <a:lstStyle/>
          <a:p>
            <a:endParaRPr lang="ar-SA">
              <a:latin typeface="Sakkal Majalla" panose="02000000000000000000" pitchFamily="2" charset="-78"/>
              <a:cs typeface="Sakkal Majalla" panose="02000000000000000000" pitchFamily="2" charset="-78"/>
            </a:endParaRPr>
          </a:p>
        </p:txBody>
      </p:sp>
      <p:sp>
        <p:nvSpPr>
          <p:cNvPr id="4" name="Freeform 4">
            <a:extLst>
              <a:ext uri="{FF2B5EF4-FFF2-40B4-BE49-F238E27FC236}">
                <a16:creationId xmlns:a16="http://schemas.microsoft.com/office/drawing/2014/main" id="{991BAC4F-5F0D-2BC5-D7CD-8433486E7D6E}"/>
              </a:ext>
            </a:extLst>
          </p:cNvPr>
          <p:cNvSpPr>
            <a:spLocks noGrp="1" noRot="1" noMove="1" noResize="1" noEditPoints="1" noAdjustHandles="1" noChangeArrowheads="1" noChangeShapeType="1"/>
          </p:cNvSpPr>
          <p:nvPr/>
        </p:nvSpPr>
        <p:spPr>
          <a:xfrm rot="-10800000">
            <a:off x="-18769" y="-1"/>
            <a:ext cx="1549537" cy="4110699"/>
          </a:xfrm>
          <a:custGeom>
            <a:avLst/>
            <a:gdLst/>
            <a:ahLst/>
            <a:cxnLst/>
            <a:rect l="l" t="t" r="r" b="b"/>
            <a:pathLst>
              <a:path w="1549537" h="5080448">
                <a:moveTo>
                  <a:pt x="0" y="0"/>
                </a:moveTo>
                <a:lnTo>
                  <a:pt x="1549536" y="0"/>
                </a:lnTo>
                <a:lnTo>
                  <a:pt x="1549536" y="5080448"/>
                </a:lnTo>
                <a:lnTo>
                  <a:pt x="0" y="5080448"/>
                </a:lnTo>
                <a:lnTo>
                  <a:pt x="0" y="0"/>
                </a:lnTo>
                <a:close/>
              </a:path>
            </a:pathLst>
          </a:custGeom>
          <a:blipFill>
            <a:blip r:embed="rId3">
              <a:alphaModFix amt="83000"/>
              <a:extLst>
                <a:ext uri="{96DAC541-7B7A-43D3-8B79-37D633B846F1}">
                  <asvg:svgBlip xmlns:asvg="http://schemas.microsoft.com/office/drawing/2016/SVG/main" r:embed="rId4"/>
                </a:ext>
              </a:extLst>
            </a:blip>
            <a:stretch>
              <a:fillRect b="-23591"/>
            </a:stretch>
          </a:blipFill>
          <a:ln cap="sq">
            <a:noFill/>
            <a:prstDash val="solid"/>
            <a:miter/>
          </a:ln>
        </p:spPr>
        <p:txBody>
          <a:bodyPr/>
          <a:lstStyle/>
          <a:p>
            <a:endParaRPr lang="ar-SA">
              <a:latin typeface="Sakkal Majalla" panose="02000000000000000000" pitchFamily="2" charset="-78"/>
              <a:cs typeface="Sakkal Majalla" panose="02000000000000000000" pitchFamily="2" charset="-78"/>
            </a:endParaRPr>
          </a:p>
        </p:txBody>
      </p:sp>
      <p:sp>
        <p:nvSpPr>
          <p:cNvPr id="5" name="TextBox 4">
            <a:extLst>
              <a:ext uri="{FF2B5EF4-FFF2-40B4-BE49-F238E27FC236}">
                <a16:creationId xmlns:a16="http://schemas.microsoft.com/office/drawing/2014/main" id="{960F0B63-A7CA-DAD9-327C-014FC8A09FBB}"/>
              </a:ext>
            </a:extLst>
          </p:cNvPr>
          <p:cNvSpPr txBox="1"/>
          <p:nvPr/>
        </p:nvSpPr>
        <p:spPr>
          <a:xfrm>
            <a:off x="844550" y="2134282"/>
            <a:ext cx="5867400" cy="6424836"/>
          </a:xfrm>
          <a:prstGeom prst="rect">
            <a:avLst/>
          </a:prstGeom>
        </p:spPr>
        <p:txBody>
          <a:bodyPr wrap="square" lIns="0" tIns="0" rIns="0" bIns="0" rtlCol="0" anchor="t">
            <a:spAutoFit/>
          </a:bodyPr>
          <a:lstStyle>
            <a:defPPr>
              <a:defRPr lang="en-US"/>
            </a:defPPr>
            <a:lvl1pPr lvl="0" indent="0" algn="r" rtl="1">
              <a:lnSpc>
                <a:spcPts val="3161"/>
              </a:lnSpc>
              <a:spcBef>
                <a:spcPct val="0"/>
              </a:spcBef>
              <a:defRPr sz="1400" u="none" strike="noStrike">
                <a:latin typeface="GE SS Two Light"/>
                <a:ea typeface="GE SS Two Light"/>
                <a:cs typeface="GE SS Two Light"/>
                <a:rtl/>
              </a:defRPr>
            </a:lvl1pPr>
            <a:lvl2pPr marL="344711" lvl="1" indent="-172355" algn="r" rtl="1">
              <a:lnSpc>
                <a:spcPts val="3161"/>
              </a:lnSpc>
              <a:buFont typeface="Arial"/>
              <a:buChar char="•"/>
              <a:defRPr sz="1400" u="none" strike="noStrike">
                <a:latin typeface="GE SS Two Light"/>
                <a:ea typeface="GE SS Two Light"/>
                <a:cs typeface="GE SS Two Light"/>
                <a:rtl/>
              </a:defRPr>
            </a:lvl2pPr>
          </a:lstStyle>
          <a:p>
            <a:pPr>
              <a:lnSpc>
                <a:spcPct val="150000"/>
              </a:lnSpc>
            </a:pPr>
            <a:r>
              <a:rPr lang="ar-EG" sz="2000" b="1" dirty="0">
                <a:latin typeface="Sakkal Majalla" panose="02000000000000000000" pitchFamily="2" charset="-78"/>
                <a:cs typeface="Sakkal Majalla" panose="02000000000000000000" pitchFamily="2" charset="-78"/>
                <a:sym typeface="GE SS Two Light"/>
              </a:rPr>
              <a:t>المادة السابعة: المعلم والمجتمع المدرسي</a:t>
            </a:r>
            <a:endParaRPr lang="ar-SA" sz="2000" b="1" dirty="0">
              <a:latin typeface="Sakkal Majalla" panose="02000000000000000000" pitchFamily="2" charset="-78"/>
              <a:cs typeface="Sakkal Majalla" panose="02000000000000000000" pitchFamily="2" charset="-78"/>
              <a:sym typeface="GE SS Two Light"/>
            </a:endParaRPr>
          </a:p>
          <a:p>
            <a:pPr>
              <a:lnSpc>
                <a:spcPct val="150000"/>
              </a:lnSpc>
            </a:pPr>
            <a:r>
              <a:rPr lang="ar-EG" sz="2000" dirty="0">
                <a:latin typeface="Sakkal Majalla" panose="02000000000000000000" pitchFamily="2" charset="-78"/>
                <a:cs typeface="Sakkal Majalla" panose="02000000000000000000" pitchFamily="2" charset="-78"/>
                <a:sym typeface="GE SS Two Light"/>
              </a:rPr>
              <a:t>الثقة المتبادلة والعمل بروح الفريق الواحد هي أساس العلاقة بين المعلم وزملائه وبين المعلمين والإدارة التربوية</a:t>
            </a:r>
            <a:endParaRPr lang="ar-SA" sz="2000" dirty="0">
              <a:latin typeface="Sakkal Majalla" panose="02000000000000000000" pitchFamily="2" charset="-78"/>
              <a:cs typeface="Sakkal Majalla" panose="02000000000000000000" pitchFamily="2" charset="-78"/>
              <a:sym typeface="GE SS Two Light"/>
            </a:endParaRPr>
          </a:p>
          <a:p>
            <a:pPr>
              <a:lnSpc>
                <a:spcPct val="150000"/>
              </a:lnSpc>
            </a:pPr>
            <a:r>
              <a:rPr lang="ar-EG" sz="2000" dirty="0">
                <a:latin typeface="Sakkal Majalla" panose="02000000000000000000" pitchFamily="2" charset="-78"/>
                <a:cs typeface="Sakkal Majalla" panose="02000000000000000000" pitchFamily="2" charset="-78"/>
                <a:sym typeface="GE SS Two Light"/>
              </a:rPr>
              <a:t>يدرك المعلم أن احترام قواعد السلوك الوظيفي والالتزام بالأنظمة والتعليمات وتنفيذها والمشاركة في نشاطات المدرسة وفعاليتها المختلفة ، أركان أساسية في تحقيق أهداف المؤسسة التعليمية</a:t>
            </a:r>
            <a:endParaRPr lang="ar-SA" sz="2000" dirty="0">
              <a:latin typeface="Sakkal Majalla" panose="02000000000000000000" pitchFamily="2" charset="-78"/>
              <a:cs typeface="Sakkal Majalla" panose="02000000000000000000" pitchFamily="2" charset="-78"/>
              <a:sym typeface="GE SS Two Light"/>
            </a:endParaRPr>
          </a:p>
          <a:p>
            <a:pPr>
              <a:lnSpc>
                <a:spcPct val="150000"/>
              </a:lnSpc>
            </a:pPr>
            <a:r>
              <a:rPr lang="ar-EG" sz="2000" b="1" dirty="0">
                <a:latin typeface="Sakkal Majalla" panose="02000000000000000000" pitchFamily="2" charset="-78"/>
                <a:cs typeface="Sakkal Majalla" panose="02000000000000000000" pitchFamily="2" charset="-78"/>
                <a:sym typeface="GE SS Two Light"/>
              </a:rPr>
              <a:t>المادة الثامنة :المعلم والأسرة</a:t>
            </a:r>
            <a:endParaRPr lang="ar-SA" sz="2000" b="1" dirty="0">
              <a:latin typeface="Sakkal Majalla" panose="02000000000000000000" pitchFamily="2" charset="-78"/>
              <a:cs typeface="Sakkal Majalla" panose="02000000000000000000" pitchFamily="2" charset="-78"/>
              <a:sym typeface="GE SS Two Light"/>
            </a:endParaRPr>
          </a:p>
          <a:p>
            <a:pPr>
              <a:lnSpc>
                <a:spcPct val="150000"/>
              </a:lnSpc>
            </a:pPr>
            <a:r>
              <a:rPr lang="ar-EG" sz="2000" dirty="0">
                <a:latin typeface="Sakkal Majalla" panose="02000000000000000000" pitchFamily="2" charset="-78"/>
                <a:cs typeface="Sakkal Majalla" panose="02000000000000000000" pitchFamily="2" charset="-78"/>
                <a:sym typeface="GE SS Two Light"/>
              </a:rPr>
              <a:t>المعلم شريك الوالدين في التربية والتنشئة ، فهو حريص على توطيد أواصر الثقة بين البيت والمدرسة</a:t>
            </a:r>
            <a:endParaRPr lang="ar-SA" sz="2000" dirty="0">
              <a:latin typeface="Sakkal Majalla" panose="02000000000000000000" pitchFamily="2" charset="-78"/>
              <a:cs typeface="Sakkal Majalla" panose="02000000000000000000" pitchFamily="2" charset="-78"/>
              <a:sym typeface="GE SS Two Light"/>
            </a:endParaRPr>
          </a:p>
          <a:p>
            <a:pPr>
              <a:lnSpc>
                <a:spcPct val="150000"/>
              </a:lnSpc>
            </a:pPr>
            <a:r>
              <a:rPr lang="ar-EG" sz="2000" dirty="0">
                <a:latin typeface="Sakkal Majalla" panose="02000000000000000000" pitchFamily="2" charset="-78"/>
                <a:cs typeface="Sakkal Majalla" panose="02000000000000000000" pitchFamily="2" charset="-78"/>
                <a:sym typeface="GE SS Two Light"/>
              </a:rPr>
              <a:t>المعلم يعي أن التشاور مع الأسرة بشأن كل أمر يهم مستقبل الطلاب أو يؤثر في مسيرتهم العلمية وفي كل تغير يطرأ على سلوكهم أمر بالغ النفع والأهمية</a:t>
            </a:r>
            <a:endParaRPr lang="ar-SA" sz="2000" dirty="0">
              <a:latin typeface="Sakkal Majalla" panose="02000000000000000000" pitchFamily="2" charset="-78"/>
              <a:cs typeface="Sakkal Majalla" panose="02000000000000000000" pitchFamily="2" charset="-78"/>
              <a:sym typeface="GE SS Two Light"/>
            </a:endParaRPr>
          </a:p>
          <a:p>
            <a:pPr>
              <a:lnSpc>
                <a:spcPct val="150000"/>
              </a:lnSpc>
            </a:pPr>
            <a:r>
              <a:rPr lang="ar-EG" sz="2000" dirty="0">
                <a:latin typeface="Sakkal Majalla" panose="02000000000000000000" pitchFamily="2" charset="-78"/>
                <a:cs typeface="Sakkal Majalla" panose="02000000000000000000" pitchFamily="2" charset="-78"/>
                <a:sym typeface="GE SS Two Light"/>
              </a:rPr>
              <a:t>يؤدي العاملون في مهنة التعليم واجباتهم كافة ويصبغون سلوكهم كله بروح المبادئ التي تضمنتها هذه الأخلاقيات ويعملون على نشرها وترسيخها وتأصيلها والالتزام بها بين زملائهم وفي المجتمع بوجه عام</a:t>
            </a:r>
          </a:p>
        </p:txBody>
      </p:sp>
      <p:sp>
        <p:nvSpPr>
          <p:cNvPr id="7" name="TextBox 13">
            <a:extLst>
              <a:ext uri="{FF2B5EF4-FFF2-40B4-BE49-F238E27FC236}">
                <a16:creationId xmlns:a16="http://schemas.microsoft.com/office/drawing/2014/main" id="{CDCF1400-D502-5AE4-D391-95B83993144E}"/>
              </a:ext>
            </a:extLst>
          </p:cNvPr>
          <p:cNvSpPr txBox="1"/>
          <p:nvPr/>
        </p:nvSpPr>
        <p:spPr>
          <a:xfrm>
            <a:off x="1495812" y="1308100"/>
            <a:ext cx="4564875" cy="395173"/>
          </a:xfrm>
          <a:prstGeom prst="rect">
            <a:avLst/>
          </a:prstGeom>
          <a:solidFill>
            <a:srgbClr val="D4C2C6"/>
          </a:solidFill>
          <a:effectLst>
            <a:outerShdw blurRad="76200" dir="18900000" sy="23000" kx="-1200000" algn="bl" rotWithShape="0">
              <a:prstClr val="black">
                <a:alpha val="20000"/>
              </a:prstClr>
            </a:outerShdw>
          </a:effectLst>
        </p:spPr>
        <p:txBody>
          <a:bodyPr wrap="square" lIns="0" tIns="0" rIns="0" bIns="0" rtlCol="0" anchor="t">
            <a:spAutoFit/>
          </a:bodyPr>
          <a:lstStyle/>
          <a:p>
            <a:pPr algn="ctr" rtl="1">
              <a:lnSpc>
                <a:spcPct val="107000"/>
              </a:lnSpc>
              <a:spcAft>
                <a:spcPts val="800"/>
              </a:spcAft>
            </a:pPr>
            <a:r>
              <a:rPr lang="ar-SA" sz="2400" b="1" kern="100"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ميثاق مهنة التعليم</a:t>
            </a:r>
            <a:endParaRPr lang="en-US" sz="2400" b="1" kern="100"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endParaRPr>
          </a:p>
        </p:txBody>
      </p:sp>
    </p:spTree>
    <p:extLst>
      <p:ext uri="{BB962C8B-B14F-4D97-AF65-F5344CB8AC3E}">
        <p14:creationId xmlns:p14="http://schemas.microsoft.com/office/powerpoint/2010/main" val="6785538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7278C-8753-C993-1E2A-47F625556DE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0B4E01A-673C-0B70-02B6-12253387B7C0}"/>
              </a:ext>
            </a:extLst>
          </p:cNvPr>
          <p:cNvSpPr>
            <a:spLocks noGrp="1" noRot="1" noMove="1" noResize="1" noEditPoints="1" noAdjustHandles="1" noChangeArrowheads="1" noChangeShapeType="1"/>
          </p:cNvSpPr>
          <p:nvPr/>
        </p:nvSpPr>
        <p:spPr>
          <a:xfrm>
            <a:off x="0" y="0"/>
            <a:ext cx="7560000" cy="10692000"/>
          </a:xfrm>
          <a:custGeom>
            <a:avLst/>
            <a:gdLst/>
            <a:ahLst/>
            <a:cxnLst/>
            <a:rect l="l" t="t" r="r" b="b"/>
            <a:pathLst>
              <a:path w="7560000" h="10692000">
                <a:moveTo>
                  <a:pt x="0" y="0"/>
                </a:moveTo>
                <a:lnTo>
                  <a:pt x="7560000" y="0"/>
                </a:lnTo>
                <a:lnTo>
                  <a:pt x="7560000" y="10692000"/>
                </a:lnTo>
                <a:lnTo>
                  <a:pt x="0" y="10692000"/>
                </a:lnTo>
                <a:lnTo>
                  <a:pt x="0" y="0"/>
                </a:lnTo>
                <a:close/>
              </a:path>
            </a:pathLst>
          </a:custGeom>
          <a:blipFill>
            <a:blip r:embed="rId2"/>
            <a:stretch>
              <a:fillRect l="-781" t="-13832" r="-781" b="-13832"/>
            </a:stretch>
          </a:blipFill>
        </p:spPr>
        <p:txBody>
          <a:bodyPr/>
          <a:lstStyle/>
          <a:p>
            <a:endParaRPr lang="ar-SA" sz="2400" dirty="0">
              <a:latin typeface="Sakkal Majalla" panose="02000000000000000000" pitchFamily="2" charset="-78"/>
              <a:cs typeface="Sakkal Majalla" panose="02000000000000000000" pitchFamily="2" charset="-78"/>
            </a:endParaRPr>
          </a:p>
        </p:txBody>
      </p:sp>
      <p:sp>
        <p:nvSpPr>
          <p:cNvPr id="3" name="Freeform 3">
            <a:extLst>
              <a:ext uri="{FF2B5EF4-FFF2-40B4-BE49-F238E27FC236}">
                <a16:creationId xmlns:a16="http://schemas.microsoft.com/office/drawing/2014/main" id="{C4EC73F3-57F5-041A-68A8-69FC3DCB04EB}"/>
              </a:ext>
            </a:extLst>
          </p:cNvPr>
          <p:cNvSpPr>
            <a:spLocks noGrp="1" noRot="1" noMove="1" noResize="1" noEditPoints="1" noAdjustHandles="1" noChangeArrowheads="1" noChangeShapeType="1"/>
          </p:cNvSpPr>
          <p:nvPr/>
        </p:nvSpPr>
        <p:spPr>
          <a:xfrm>
            <a:off x="6654829" y="7724227"/>
            <a:ext cx="905171" cy="2967773"/>
          </a:xfrm>
          <a:custGeom>
            <a:avLst/>
            <a:gdLst/>
            <a:ahLst/>
            <a:cxnLst/>
            <a:rect l="l" t="t" r="r" b="b"/>
            <a:pathLst>
              <a:path w="905171" h="2967773">
                <a:moveTo>
                  <a:pt x="0" y="0"/>
                </a:moveTo>
                <a:lnTo>
                  <a:pt x="905171" y="0"/>
                </a:lnTo>
                <a:lnTo>
                  <a:pt x="905171" y="2967773"/>
                </a:lnTo>
                <a:lnTo>
                  <a:pt x="0" y="2967773"/>
                </a:lnTo>
                <a:lnTo>
                  <a:pt x="0" y="0"/>
                </a:lnTo>
                <a:close/>
              </a:path>
            </a:pathLst>
          </a:custGeom>
          <a:blipFill>
            <a:blip r:embed="rId3">
              <a:alphaModFix amt="83000"/>
              <a:extLst>
                <a:ext uri="{96DAC541-7B7A-43D3-8B79-37D633B846F1}">
                  <asvg:svgBlip xmlns:asvg="http://schemas.microsoft.com/office/drawing/2016/SVG/main" r:embed="rId4"/>
                </a:ext>
              </a:extLst>
            </a:blip>
            <a:stretch>
              <a:fillRect/>
            </a:stretch>
          </a:blipFill>
        </p:spPr>
        <p:txBody>
          <a:bodyPr/>
          <a:lstStyle/>
          <a:p>
            <a:endParaRPr lang="ar-SA" sz="2400">
              <a:latin typeface="Sakkal Majalla" panose="02000000000000000000" pitchFamily="2" charset="-78"/>
              <a:cs typeface="Sakkal Majalla" panose="02000000000000000000" pitchFamily="2" charset="-78"/>
            </a:endParaRPr>
          </a:p>
        </p:txBody>
      </p:sp>
      <p:sp>
        <p:nvSpPr>
          <p:cNvPr id="4" name="Freeform 4">
            <a:extLst>
              <a:ext uri="{FF2B5EF4-FFF2-40B4-BE49-F238E27FC236}">
                <a16:creationId xmlns:a16="http://schemas.microsoft.com/office/drawing/2014/main" id="{0719961D-8369-D986-0973-716BF78EA2B5}"/>
              </a:ext>
            </a:extLst>
          </p:cNvPr>
          <p:cNvSpPr>
            <a:spLocks noGrp="1" noRot="1" noMove="1" noResize="1" noEditPoints="1" noAdjustHandles="1" noChangeArrowheads="1" noChangeShapeType="1"/>
          </p:cNvSpPr>
          <p:nvPr/>
        </p:nvSpPr>
        <p:spPr>
          <a:xfrm rot="-10800000">
            <a:off x="-18769" y="-1"/>
            <a:ext cx="1549537" cy="4110699"/>
          </a:xfrm>
          <a:custGeom>
            <a:avLst/>
            <a:gdLst/>
            <a:ahLst/>
            <a:cxnLst/>
            <a:rect l="l" t="t" r="r" b="b"/>
            <a:pathLst>
              <a:path w="1549537" h="5080448">
                <a:moveTo>
                  <a:pt x="0" y="0"/>
                </a:moveTo>
                <a:lnTo>
                  <a:pt x="1549536" y="0"/>
                </a:lnTo>
                <a:lnTo>
                  <a:pt x="1549536" y="5080448"/>
                </a:lnTo>
                <a:lnTo>
                  <a:pt x="0" y="5080448"/>
                </a:lnTo>
                <a:lnTo>
                  <a:pt x="0" y="0"/>
                </a:lnTo>
                <a:close/>
              </a:path>
            </a:pathLst>
          </a:custGeom>
          <a:blipFill>
            <a:blip r:embed="rId3">
              <a:alphaModFix amt="83000"/>
              <a:extLst>
                <a:ext uri="{96DAC541-7B7A-43D3-8B79-37D633B846F1}">
                  <asvg:svgBlip xmlns:asvg="http://schemas.microsoft.com/office/drawing/2016/SVG/main" r:embed="rId4"/>
                </a:ext>
              </a:extLst>
            </a:blip>
            <a:stretch>
              <a:fillRect b="-23591"/>
            </a:stretch>
          </a:blipFill>
          <a:ln cap="sq">
            <a:noFill/>
            <a:prstDash val="solid"/>
            <a:miter/>
          </a:ln>
        </p:spPr>
        <p:txBody>
          <a:bodyPr/>
          <a:lstStyle/>
          <a:p>
            <a:endParaRPr lang="ar-SA" sz="2400">
              <a:latin typeface="Sakkal Majalla" panose="02000000000000000000" pitchFamily="2" charset="-78"/>
              <a:cs typeface="Sakkal Majalla" panose="02000000000000000000" pitchFamily="2" charset="-78"/>
            </a:endParaRPr>
          </a:p>
        </p:txBody>
      </p:sp>
      <p:sp>
        <p:nvSpPr>
          <p:cNvPr id="5" name="TextBox 3">
            <a:extLst>
              <a:ext uri="{FF2B5EF4-FFF2-40B4-BE49-F238E27FC236}">
                <a16:creationId xmlns:a16="http://schemas.microsoft.com/office/drawing/2014/main" id="{F31FBE4C-8A16-488A-4F04-71318F2DE5B7}"/>
              </a:ext>
            </a:extLst>
          </p:cNvPr>
          <p:cNvSpPr txBox="1"/>
          <p:nvPr/>
        </p:nvSpPr>
        <p:spPr>
          <a:xfrm>
            <a:off x="2219599" y="1982830"/>
            <a:ext cx="3117301" cy="369332"/>
          </a:xfrm>
          <a:prstGeom prst="rect">
            <a:avLst/>
          </a:prstGeom>
          <a:solidFill>
            <a:srgbClr val="D4C2C6"/>
          </a:solidFill>
          <a:effectLst>
            <a:outerShdw blurRad="76200" dir="18900000" sy="23000" kx="-1200000" algn="bl" rotWithShape="0">
              <a:prstClr val="black">
                <a:alpha val="20000"/>
              </a:prstClr>
            </a:outerShdw>
          </a:effectLst>
        </p:spPr>
        <p:txBody>
          <a:bodyPr wrap="square" lIns="0" tIns="0" rIns="0" bIns="0" rtlCol="0" anchor="t">
            <a:spAutoFit/>
          </a:bodyPr>
          <a:lstStyle>
            <a:defPPr>
              <a:defRPr lang="en-US"/>
            </a:defPPr>
            <a:lvl1pPr lvl="0" indent="0" algn="ctr" rtl="1">
              <a:lnSpc>
                <a:spcPts val="3500"/>
              </a:lnSpc>
              <a:spcBef>
                <a:spcPct val="0"/>
              </a:spcBef>
              <a:defRPr u="none" strike="noStrike" spc="-27">
                <a:latin typeface="GE SS Two Light"/>
                <a:ea typeface="GE SS Two Light"/>
                <a:cs typeface="GE SS Two Light"/>
                <a:rtl/>
              </a:defRPr>
            </a:lvl1pPr>
          </a:lstStyle>
          <a:p>
            <a:pPr>
              <a:lnSpc>
                <a:spcPct val="100000"/>
              </a:lnSpc>
            </a:pPr>
            <a:r>
              <a:rPr lang="ar-EG" sz="2400" b="1" dirty="0">
                <a:latin typeface="Sakkal Majalla" panose="02000000000000000000" pitchFamily="2" charset="-78"/>
                <a:cs typeface="Sakkal Majalla" panose="02000000000000000000" pitchFamily="2" charset="-78"/>
                <a:sym typeface="GE SS Two Light"/>
              </a:rPr>
              <a:t>رؤية </a:t>
            </a:r>
            <a:r>
              <a:rPr lang="en-US" sz="2400" b="1" dirty="0">
                <a:latin typeface="Sakkal Majalla" panose="02000000000000000000" pitchFamily="2" charset="-78"/>
                <a:cs typeface="Sakkal Majalla" panose="02000000000000000000" pitchFamily="2" charset="-78"/>
                <a:sym typeface="GE SS Two Light"/>
              </a:rPr>
              <a:t>2030</a:t>
            </a:r>
            <a:r>
              <a:rPr lang="ar-EG" sz="2400" b="1" dirty="0">
                <a:latin typeface="Sakkal Majalla" panose="02000000000000000000" pitchFamily="2" charset="-78"/>
                <a:cs typeface="Sakkal Majalla" panose="02000000000000000000" pitchFamily="2" charset="-78"/>
                <a:sym typeface="GE SS Two Light"/>
              </a:rPr>
              <a:t> في التعليم</a:t>
            </a:r>
          </a:p>
        </p:txBody>
      </p:sp>
      <p:sp>
        <p:nvSpPr>
          <p:cNvPr id="6" name="TextBox 4">
            <a:extLst>
              <a:ext uri="{FF2B5EF4-FFF2-40B4-BE49-F238E27FC236}">
                <a16:creationId xmlns:a16="http://schemas.microsoft.com/office/drawing/2014/main" id="{22B0E40E-0C2F-BB77-CD9A-B2CA94D2FB30}"/>
              </a:ext>
            </a:extLst>
          </p:cNvPr>
          <p:cNvSpPr txBox="1"/>
          <p:nvPr/>
        </p:nvSpPr>
        <p:spPr>
          <a:xfrm>
            <a:off x="806450" y="2936425"/>
            <a:ext cx="6019799" cy="5963171"/>
          </a:xfrm>
          <a:prstGeom prst="rect">
            <a:avLst/>
          </a:prstGeom>
        </p:spPr>
        <p:txBody>
          <a:bodyPr wrap="square" lIns="0" tIns="0" rIns="0" bIns="0" rtlCol="0" anchor="t">
            <a:spAutoFit/>
          </a:bodyPr>
          <a:lstStyle>
            <a:defPPr>
              <a:defRPr lang="en-US"/>
            </a:defPPr>
            <a:lvl1pPr lvl="0" indent="0" algn="r" rtl="1">
              <a:lnSpc>
                <a:spcPts val="3161"/>
              </a:lnSpc>
              <a:spcBef>
                <a:spcPct val="0"/>
              </a:spcBef>
              <a:defRPr sz="1400" u="none" strike="noStrike">
                <a:latin typeface="GE SS Two Light"/>
                <a:ea typeface="GE SS Two Light"/>
                <a:cs typeface="GE SS Two Light"/>
                <a:rtl/>
              </a:defRPr>
            </a:lvl1pPr>
            <a:lvl2pPr marL="344711" lvl="1" indent="-172355" algn="r" rtl="1">
              <a:lnSpc>
                <a:spcPts val="3161"/>
              </a:lnSpc>
              <a:buFont typeface="Arial"/>
              <a:buChar char="•"/>
              <a:defRPr sz="1400" u="none" strike="noStrike">
                <a:latin typeface="GE SS Two Light"/>
                <a:ea typeface="GE SS Two Light"/>
                <a:cs typeface="GE SS Two Light"/>
                <a:rtl/>
              </a:defRPr>
            </a:lvl2pPr>
          </a:lstStyle>
          <a:p>
            <a:pPr>
              <a:lnSpc>
                <a:spcPct val="150000"/>
              </a:lnSpc>
            </a:pPr>
            <a:r>
              <a:rPr lang="ar-EG" sz="2000" dirty="0">
                <a:latin typeface="Sakkal Majalla" panose="02000000000000000000" pitchFamily="2" charset="-78"/>
                <a:cs typeface="Sakkal Majalla" panose="02000000000000000000" pitchFamily="2" charset="-78"/>
                <a:sym typeface="GE SS Two Light"/>
              </a:rPr>
              <a:t>تضمنت رؤية </a:t>
            </a:r>
            <a:r>
              <a:rPr lang="en-US" sz="2000" dirty="0">
                <a:latin typeface="Sakkal Majalla" panose="02000000000000000000" pitchFamily="2" charset="-78"/>
                <a:cs typeface="Sakkal Majalla" panose="02000000000000000000" pitchFamily="2" charset="-78"/>
                <a:sym typeface="GE SS Two Light"/>
              </a:rPr>
              <a:t>2030</a:t>
            </a:r>
            <a:r>
              <a:rPr lang="ar-EG" sz="2000" dirty="0">
                <a:latin typeface="Sakkal Majalla" panose="02000000000000000000" pitchFamily="2" charset="-78"/>
                <a:cs typeface="Sakkal Majalla" panose="02000000000000000000" pitchFamily="2" charset="-78"/>
                <a:sym typeface="GE SS Two Light"/>
              </a:rPr>
              <a:t> في التعليم عدة مبادئ أساسية</a:t>
            </a:r>
            <a:r>
              <a:rPr lang="ar-SA" sz="2000" dirty="0">
                <a:latin typeface="Sakkal Majalla" panose="02000000000000000000" pitchFamily="2" charset="-78"/>
                <a:cs typeface="Sakkal Majalla" panose="02000000000000000000" pitchFamily="2" charset="-78"/>
                <a:sym typeface="GE SS Two Light"/>
              </a:rPr>
              <a:t> </a:t>
            </a:r>
            <a:r>
              <a:rPr lang="ar-EG" sz="2000" dirty="0">
                <a:latin typeface="Sakkal Majalla" panose="02000000000000000000" pitchFamily="2" charset="-78"/>
                <a:cs typeface="Sakkal Majalla" panose="02000000000000000000" pitchFamily="2" charset="-78"/>
                <a:sym typeface="GE SS Two Light"/>
              </a:rPr>
              <a:t>لتجعل من التعليم في المملكة العربية السعودية نموذجا رائدا يحتذى به وتمثلت الرؤية في: </a:t>
            </a:r>
          </a:p>
          <a:p>
            <a:pPr lvl="1">
              <a:lnSpc>
                <a:spcPct val="150000"/>
              </a:lnSpc>
            </a:pPr>
            <a:r>
              <a:rPr lang="ar-EG" sz="2000" dirty="0">
                <a:latin typeface="Sakkal Majalla" panose="02000000000000000000" pitchFamily="2" charset="-78"/>
                <a:cs typeface="Sakkal Majalla" panose="02000000000000000000" pitchFamily="2" charset="-78"/>
                <a:sym typeface="GE SS Two Light"/>
              </a:rPr>
              <a:t>توفير فرص التعليم الملائم لمختلف الطلاب والطالبات.</a:t>
            </a:r>
          </a:p>
          <a:p>
            <a:pPr lvl="1">
              <a:lnSpc>
                <a:spcPct val="150000"/>
              </a:lnSpc>
            </a:pPr>
            <a:r>
              <a:rPr lang="ar-EG" sz="2000" dirty="0">
                <a:latin typeface="Sakkal Majalla" panose="02000000000000000000" pitchFamily="2" charset="-78"/>
                <a:cs typeface="Sakkal Majalla" panose="02000000000000000000" pitchFamily="2" charset="-78"/>
                <a:sym typeface="GE SS Two Light"/>
              </a:rPr>
              <a:t>توفير فرص التعلم مدى الحياة. </a:t>
            </a:r>
          </a:p>
          <a:p>
            <a:pPr lvl="1">
              <a:lnSpc>
                <a:spcPct val="150000"/>
              </a:lnSpc>
            </a:pPr>
            <a:r>
              <a:rPr lang="ar-EG" sz="2000" dirty="0">
                <a:latin typeface="Sakkal Majalla" panose="02000000000000000000" pitchFamily="2" charset="-78"/>
                <a:cs typeface="Sakkal Majalla" panose="02000000000000000000" pitchFamily="2" charset="-78"/>
                <a:sym typeface="GE SS Two Light"/>
              </a:rPr>
              <a:t>رفع معدل الرغبة في الالتحاق بوظيفة التدريس. </a:t>
            </a:r>
          </a:p>
          <a:p>
            <a:pPr lvl="1">
              <a:lnSpc>
                <a:spcPct val="150000"/>
              </a:lnSpc>
            </a:pPr>
            <a:r>
              <a:rPr lang="ar-EG" sz="2000" dirty="0">
                <a:latin typeface="Sakkal Majalla" panose="02000000000000000000" pitchFamily="2" charset="-78"/>
                <a:cs typeface="Sakkal Majalla" panose="02000000000000000000" pitchFamily="2" charset="-78"/>
                <a:sym typeface="GE SS Two Light"/>
              </a:rPr>
              <a:t>تأهيل المدرسين وتأهيلهم على أعلى مستوى.  </a:t>
            </a:r>
          </a:p>
          <a:p>
            <a:pPr lvl="1">
              <a:lnSpc>
                <a:spcPct val="150000"/>
              </a:lnSpc>
            </a:pPr>
            <a:r>
              <a:rPr lang="ar-EG" sz="2000" dirty="0">
                <a:latin typeface="Sakkal Majalla" panose="02000000000000000000" pitchFamily="2" charset="-78"/>
                <a:cs typeface="Sakkal Majalla" panose="02000000000000000000" pitchFamily="2" charset="-78"/>
                <a:sym typeface="GE SS Two Light"/>
              </a:rPr>
              <a:t>توفير بيئة تعليمية محفزة على الإبداع. </a:t>
            </a:r>
          </a:p>
          <a:p>
            <a:pPr lvl="1">
              <a:lnSpc>
                <a:spcPct val="150000"/>
              </a:lnSpc>
            </a:pPr>
            <a:r>
              <a:rPr lang="ar-EG" sz="2000" dirty="0">
                <a:latin typeface="Sakkal Majalla" panose="02000000000000000000" pitchFamily="2" charset="-78"/>
                <a:cs typeface="Sakkal Majalla" panose="02000000000000000000" pitchFamily="2" charset="-78"/>
                <a:sym typeface="GE SS Two Light"/>
              </a:rPr>
              <a:t>رفع الكفاءة المالية الخاصة بقطاع التعليم.</a:t>
            </a:r>
          </a:p>
          <a:p>
            <a:pPr lvl="1">
              <a:lnSpc>
                <a:spcPct val="150000"/>
              </a:lnSpc>
            </a:pPr>
            <a:r>
              <a:rPr lang="ar-EG" sz="2000" dirty="0">
                <a:latin typeface="Sakkal Majalla" panose="02000000000000000000" pitchFamily="2" charset="-78"/>
                <a:cs typeface="Sakkal Majalla" panose="02000000000000000000" pitchFamily="2" charset="-78"/>
                <a:sym typeface="GE SS Two Light"/>
              </a:rPr>
              <a:t>تحسين معدل مشاركة القطاعين الأهلي والخاص في التعليم.</a:t>
            </a:r>
          </a:p>
          <a:p>
            <a:pPr lvl="1">
              <a:lnSpc>
                <a:spcPct val="150000"/>
              </a:lnSpc>
            </a:pPr>
            <a:r>
              <a:rPr lang="ar-EG" sz="2000" dirty="0">
                <a:latin typeface="Sakkal Majalla" panose="02000000000000000000" pitchFamily="2" charset="-78"/>
                <a:cs typeface="Sakkal Majalla" panose="02000000000000000000" pitchFamily="2" charset="-78"/>
                <a:sym typeface="GE SS Two Light"/>
              </a:rPr>
              <a:t>تحقيق التوافق بين مخرجات التعليم وبين احتياجات سوق العمل.</a:t>
            </a:r>
          </a:p>
          <a:p>
            <a:pPr lvl="1">
              <a:lnSpc>
                <a:spcPct val="150000"/>
              </a:lnSpc>
            </a:pPr>
            <a:r>
              <a:rPr lang="ar-EG" sz="2000" dirty="0">
                <a:latin typeface="Sakkal Majalla" panose="02000000000000000000" pitchFamily="2" charset="-78"/>
                <a:cs typeface="Sakkal Majalla" panose="02000000000000000000" pitchFamily="2" charset="-78"/>
                <a:sym typeface="GE SS Two Light"/>
              </a:rPr>
              <a:t>تنمية وصقل مهارات المتعلمين. </a:t>
            </a:r>
          </a:p>
          <a:p>
            <a:pPr lvl="1">
              <a:lnSpc>
                <a:spcPct val="150000"/>
              </a:lnSpc>
            </a:pPr>
            <a:r>
              <a:rPr lang="ar-EG" sz="2000" dirty="0">
                <a:latin typeface="Sakkal Majalla" panose="02000000000000000000" pitchFamily="2" charset="-78"/>
                <a:cs typeface="Sakkal Majalla" panose="02000000000000000000" pitchFamily="2" charset="-78"/>
                <a:sym typeface="GE SS Two Light"/>
              </a:rPr>
              <a:t>تطوير المناهج التعليمية والطرق المتبعة في تدريسها بالإضافة إلى طرق تقويم المتعلمين</a:t>
            </a:r>
          </a:p>
        </p:txBody>
      </p:sp>
      <p:sp>
        <p:nvSpPr>
          <p:cNvPr id="7" name="Freeform 5">
            <a:extLst>
              <a:ext uri="{FF2B5EF4-FFF2-40B4-BE49-F238E27FC236}">
                <a16:creationId xmlns:a16="http://schemas.microsoft.com/office/drawing/2014/main" id="{4989E182-B63B-6C79-8B07-F2018671BA4B}"/>
              </a:ext>
            </a:extLst>
          </p:cNvPr>
          <p:cNvSpPr/>
          <p:nvPr/>
        </p:nvSpPr>
        <p:spPr>
          <a:xfrm>
            <a:off x="5489355" y="696068"/>
            <a:ext cx="1336894" cy="895906"/>
          </a:xfrm>
          <a:custGeom>
            <a:avLst/>
            <a:gdLst/>
            <a:ahLst/>
            <a:cxnLst/>
            <a:rect l="l" t="t" r="r" b="b"/>
            <a:pathLst>
              <a:path w="1137004" h="789908">
                <a:moveTo>
                  <a:pt x="0" y="0"/>
                </a:moveTo>
                <a:lnTo>
                  <a:pt x="1137004" y="0"/>
                </a:lnTo>
                <a:lnTo>
                  <a:pt x="1137004" y="789908"/>
                </a:lnTo>
                <a:lnTo>
                  <a:pt x="0" y="789908"/>
                </a:lnTo>
                <a:lnTo>
                  <a:pt x="0" y="0"/>
                </a:lnTo>
                <a:close/>
              </a:path>
            </a:pathLst>
          </a:custGeom>
          <a:blipFill>
            <a:blip r:embed="rId5"/>
            <a:stretch>
              <a:fillRect t="-19702" b="-24239"/>
            </a:stretch>
          </a:blipFill>
        </p:spPr>
        <p:txBody>
          <a:bodyPr/>
          <a:lstStyle/>
          <a:p>
            <a:endParaRPr lang="ar-SA" sz="2400"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9021445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B7854-C588-9ACF-5655-29148E72C58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CE2DE3E-5683-6E32-6963-1B052DF9917D}"/>
              </a:ext>
            </a:extLst>
          </p:cNvPr>
          <p:cNvSpPr>
            <a:spLocks noGrp="1" noRot="1" noMove="1" noResize="1" noEditPoints="1" noAdjustHandles="1" noChangeArrowheads="1" noChangeShapeType="1"/>
          </p:cNvSpPr>
          <p:nvPr/>
        </p:nvSpPr>
        <p:spPr>
          <a:xfrm>
            <a:off x="0" y="0"/>
            <a:ext cx="7560000" cy="10692000"/>
          </a:xfrm>
          <a:custGeom>
            <a:avLst/>
            <a:gdLst/>
            <a:ahLst/>
            <a:cxnLst/>
            <a:rect l="l" t="t" r="r" b="b"/>
            <a:pathLst>
              <a:path w="7560000" h="10692000">
                <a:moveTo>
                  <a:pt x="0" y="0"/>
                </a:moveTo>
                <a:lnTo>
                  <a:pt x="7560000" y="0"/>
                </a:lnTo>
                <a:lnTo>
                  <a:pt x="7560000" y="10692000"/>
                </a:lnTo>
                <a:lnTo>
                  <a:pt x="0" y="10692000"/>
                </a:lnTo>
                <a:lnTo>
                  <a:pt x="0" y="0"/>
                </a:lnTo>
                <a:close/>
              </a:path>
            </a:pathLst>
          </a:custGeom>
          <a:blipFill>
            <a:blip r:embed="rId2"/>
            <a:stretch>
              <a:fillRect l="-781" t="-13832" r="-781" b="-13832"/>
            </a:stretch>
          </a:blipFill>
        </p:spPr>
        <p:txBody>
          <a:bodyPr/>
          <a:lstStyle/>
          <a:p>
            <a:endParaRPr lang="ar-SA" dirty="0">
              <a:latin typeface="Sakkal Majalla" panose="02000000000000000000" pitchFamily="2" charset="-78"/>
              <a:cs typeface="Sakkal Majalla" panose="02000000000000000000" pitchFamily="2" charset="-78"/>
            </a:endParaRPr>
          </a:p>
        </p:txBody>
      </p:sp>
      <p:sp>
        <p:nvSpPr>
          <p:cNvPr id="3" name="Freeform 3">
            <a:extLst>
              <a:ext uri="{FF2B5EF4-FFF2-40B4-BE49-F238E27FC236}">
                <a16:creationId xmlns:a16="http://schemas.microsoft.com/office/drawing/2014/main" id="{8D24C69A-F91C-C28F-33E1-864C04ED0B05}"/>
              </a:ext>
            </a:extLst>
          </p:cNvPr>
          <p:cNvSpPr>
            <a:spLocks noGrp="1" noRot="1" noMove="1" noResize="1" noEditPoints="1" noAdjustHandles="1" noChangeArrowheads="1" noChangeShapeType="1"/>
          </p:cNvSpPr>
          <p:nvPr/>
        </p:nvSpPr>
        <p:spPr>
          <a:xfrm>
            <a:off x="6654829" y="7724227"/>
            <a:ext cx="905171" cy="2967773"/>
          </a:xfrm>
          <a:custGeom>
            <a:avLst/>
            <a:gdLst/>
            <a:ahLst/>
            <a:cxnLst/>
            <a:rect l="l" t="t" r="r" b="b"/>
            <a:pathLst>
              <a:path w="905171" h="2967773">
                <a:moveTo>
                  <a:pt x="0" y="0"/>
                </a:moveTo>
                <a:lnTo>
                  <a:pt x="905171" y="0"/>
                </a:lnTo>
                <a:lnTo>
                  <a:pt x="905171" y="2967773"/>
                </a:lnTo>
                <a:lnTo>
                  <a:pt x="0" y="2967773"/>
                </a:lnTo>
                <a:lnTo>
                  <a:pt x="0" y="0"/>
                </a:lnTo>
                <a:close/>
              </a:path>
            </a:pathLst>
          </a:custGeom>
          <a:blipFill>
            <a:blip r:embed="rId3">
              <a:alphaModFix amt="83000"/>
              <a:extLst>
                <a:ext uri="{96DAC541-7B7A-43D3-8B79-37D633B846F1}">
                  <asvg:svgBlip xmlns:asvg="http://schemas.microsoft.com/office/drawing/2016/SVG/main" r:embed="rId4"/>
                </a:ext>
              </a:extLst>
            </a:blip>
            <a:stretch>
              <a:fillRect/>
            </a:stretch>
          </a:blipFill>
        </p:spPr>
        <p:txBody>
          <a:bodyPr/>
          <a:lstStyle/>
          <a:p>
            <a:endParaRPr lang="ar-SA">
              <a:latin typeface="Sakkal Majalla" panose="02000000000000000000" pitchFamily="2" charset="-78"/>
              <a:cs typeface="Sakkal Majalla" panose="02000000000000000000" pitchFamily="2" charset="-78"/>
            </a:endParaRPr>
          </a:p>
        </p:txBody>
      </p:sp>
      <p:sp>
        <p:nvSpPr>
          <p:cNvPr id="4" name="Freeform 4">
            <a:extLst>
              <a:ext uri="{FF2B5EF4-FFF2-40B4-BE49-F238E27FC236}">
                <a16:creationId xmlns:a16="http://schemas.microsoft.com/office/drawing/2014/main" id="{4A26EE80-8907-502B-B335-9B2E77A714DB}"/>
              </a:ext>
            </a:extLst>
          </p:cNvPr>
          <p:cNvSpPr>
            <a:spLocks noGrp="1" noRot="1" noMove="1" noResize="1" noEditPoints="1" noAdjustHandles="1" noChangeArrowheads="1" noChangeShapeType="1"/>
          </p:cNvSpPr>
          <p:nvPr/>
        </p:nvSpPr>
        <p:spPr>
          <a:xfrm rot="-10800000">
            <a:off x="-18769" y="-1"/>
            <a:ext cx="1549537" cy="4110699"/>
          </a:xfrm>
          <a:custGeom>
            <a:avLst/>
            <a:gdLst/>
            <a:ahLst/>
            <a:cxnLst/>
            <a:rect l="l" t="t" r="r" b="b"/>
            <a:pathLst>
              <a:path w="1549537" h="5080448">
                <a:moveTo>
                  <a:pt x="0" y="0"/>
                </a:moveTo>
                <a:lnTo>
                  <a:pt x="1549536" y="0"/>
                </a:lnTo>
                <a:lnTo>
                  <a:pt x="1549536" y="5080448"/>
                </a:lnTo>
                <a:lnTo>
                  <a:pt x="0" y="5080448"/>
                </a:lnTo>
                <a:lnTo>
                  <a:pt x="0" y="0"/>
                </a:lnTo>
                <a:close/>
              </a:path>
            </a:pathLst>
          </a:custGeom>
          <a:blipFill>
            <a:blip r:embed="rId3">
              <a:alphaModFix amt="83000"/>
              <a:extLst>
                <a:ext uri="{96DAC541-7B7A-43D3-8B79-37D633B846F1}">
                  <asvg:svgBlip xmlns:asvg="http://schemas.microsoft.com/office/drawing/2016/SVG/main" r:embed="rId4"/>
                </a:ext>
              </a:extLst>
            </a:blip>
            <a:stretch>
              <a:fillRect b="-23591"/>
            </a:stretch>
          </a:blipFill>
          <a:ln cap="sq">
            <a:noFill/>
            <a:prstDash val="solid"/>
            <a:miter/>
          </a:ln>
        </p:spPr>
        <p:txBody>
          <a:bodyPr/>
          <a:lstStyle/>
          <a:p>
            <a:endParaRPr lang="ar-SA">
              <a:latin typeface="Sakkal Majalla" panose="02000000000000000000" pitchFamily="2" charset="-78"/>
              <a:cs typeface="Sakkal Majalla" panose="02000000000000000000" pitchFamily="2" charset="-78"/>
            </a:endParaRPr>
          </a:p>
        </p:txBody>
      </p:sp>
      <p:sp>
        <p:nvSpPr>
          <p:cNvPr id="5" name="Freeform 4">
            <a:extLst>
              <a:ext uri="{FF2B5EF4-FFF2-40B4-BE49-F238E27FC236}">
                <a16:creationId xmlns:a16="http://schemas.microsoft.com/office/drawing/2014/main" id="{DC2FD63F-2293-B826-5C70-7CC124643E31}"/>
              </a:ext>
            </a:extLst>
          </p:cNvPr>
          <p:cNvSpPr/>
          <p:nvPr/>
        </p:nvSpPr>
        <p:spPr>
          <a:xfrm>
            <a:off x="5299097" y="3643719"/>
            <a:ext cx="1021126" cy="933957"/>
          </a:xfrm>
          <a:custGeom>
            <a:avLst/>
            <a:gdLst/>
            <a:ahLst/>
            <a:cxnLst/>
            <a:rect l="l" t="t" r="r" b="b"/>
            <a:pathLst>
              <a:path w="1817275" h="1817275">
                <a:moveTo>
                  <a:pt x="0" y="0"/>
                </a:moveTo>
                <a:lnTo>
                  <a:pt x="1817275" y="0"/>
                </a:lnTo>
                <a:lnTo>
                  <a:pt x="1817275" y="1817276"/>
                </a:lnTo>
                <a:lnTo>
                  <a:pt x="0" y="181727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ar-SA">
              <a:latin typeface="Sakkal Majalla" panose="02000000000000000000" pitchFamily="2" charset="-78"/>
              <a:cs typeface="Sakkal Majalla" panose="02000000000000000000" pitchFamily="2" charset="-78"/>
            </a:endParaRPr>
          </a:p>
        </p:txBody>
      </p:sp>
      <p:sp>
        <p:nvSpPr>
          <p:cNvPr id="6" name="TextBox 6">
            <a:extLst>
              <a:ext uri="{FF2B5EF4-FFF2-40B4-BE49-F238E27FC236}">
                <a16:creationId xmlns:a16="http://schemas.microsoft.com/office/drawing/2014/main" id="{E8BD0AF1-FCC0-0A90-F390-F8349F2E1EEA}"/>
              </a:ext>
            </a:extLst>
          </p:cNvPr>
          <p:cNvSpPr txBox="1"/>
          <p:nvPr/>
        </p:nvSpPr>
        <p:spPr>
          <a:xfrm>
            <a:off x="1255048" y="3785577"/>
            <a:ext cx="5046405" cy="1692771"/>
          </a:xfrm>
          <a:prstGeom prst="rect">
            <a:avLst/>
          </a:prstGeom>
        </p:spPr>
        <p:txBody>
          <a:bodyPr wrap="square" lIns="0" tIns="0" rIns="0" bIns="0" rtlCol="0" anchor="t">
            <a:spAutoFit/>
          </a:bodyPr>
          <a:lstStyle/>
          <a:p>
            <a:pPr marL="345439" lvl="1" indent="-172720" algn="just" rtl="1">
              <a:lnSpc>
                <a:spcPts val="2239"/>
              </a:lnSpc>
              <a:buFont typeface="Arial"/>
              <a:buChar char="•"/>
            </a:pPr>
            <a:r>
              <a:rPr lang="ar-EG" dirty="0">
                <a:latin typeface="Sakkal Majalla" panose="02000000000000000000" pitchFamily="2" charset="-78"/>
                <a:ea typeface="GE SS Two Light"/>
                <a:cs typeface="Sakkal Majalla" panose="02000000000000000000" pitchFamily="2" charset="-78"/>
                <a:sym typeface="GE SS Two Light"/>
                <a:rtl/>
              </a:rPr>
              <a:t>الارتقاء </a:t>
            </a:r>
            <a:r>
              <a:rPr lang="ar-EG" u="none" strike="noStrike" dirty="0">
                <a:latin typeface="Sakkal Majalla" panose="02000000000000000000" pitchFamily="2" charset="-78"/>
                <a:ea typeface="GE SS Two Light"/>
                <a:cs typeface="Sakkal Majalla" panose="02000000000000000000" pitchFamily="2" charset="-78"/>
                <a:sym typeface="GE SS Two Light"/>
                <a:rtl/>
              </a:rPr>
              <a:t>بالأداء التعليمي للطالبات من خلال تحديث الأساليب وتطويرها.</a:t>
            </a:r>
          </a:p>
          <a:p>
            <a:pPr marL="345439" lvl="1" indent="-172720" algn="just" rtl="1">
              <a:lnSpc>
                <a:spcPts val="2239"/>
              </a:lnSpc>
              <a:buFont typeface="Arial"/>
              <a:buChar char="•"/>
            </a:pPr>
            <a:r>
              <a:rPr lang="ar-EG" u="none" strike="noStrike" dirty="0">
                <a:latin typeface="Sakkal Majalla" panose="02000000000000000000" pitchFamily="2" charset="-78"/>
                <a:ea typeface="GE SS Two Light"/>
                <a:cs typeface="Sakkal Majalla" panose="02000000000000000000" pitchFamily="2" charset="-78"/>
                <a:sym typeface="GE SS Two Light"/>
                <a:rtl/>
              </a:rPr>
              <a:t>دعم مشاركة الطالبات الفعالة في كافة الأنشطة التعليمية والمبادرات.</a:t>
            </a:r>
          </a:p>
          <a:p>
            <a:pPr marL="345439" lvl="1" indent="-172720" algn="just" rtl="1">
              <a:lnSpc>
                <a:spcPts val="2239"/>
              </a:lnSpc>
              <a:buFont typeface="Arial"/>
              <a:buChar char="•"/>
            </a:pPr>
            <a:r>
              <a:rPr lang="ar-EG" u="none" strike="noStrike" dirty="0">
                <a:latin typeface="Sakkal Majalla" panose="02000000000000000000" pitchFamily="2" charset="-78"/>
                <a:ea typeface="GE SS Two Light"/>
                <a:cs typeface="Sakkal Majalla" panose="02000000000000000000" pitchFamily="2" charset="-78"/>
                <a:sym typeface="GE SS Two Light"/>
                <a:rtl/>
              </a:rPr>
              <a:t>تطوير العلاقات الاجتماعية بما يحقق التنمية والنمو المعرفي.</a:t>
            </a:r>
          </a:p>
          <a:p>
            <a:pPr marL="345439" lvl="1" indent="-172720" algn="just" rtl="1">
              <a:lnSpc>
                <a:spcPts val="2239"/>
              </a:lnSpc>
              <a:buFont typeface="Arial"/>
              <a:buChar char="•"/>
            </a:pPr>
            <a:r>
              <a:rPr lang="ar-EG" u="none" strike="noStrike" dirty="0">
                <a:latin typeface="Sakkal Majalla" panose="02000000000000000000" pitchFamily="2" charset="-78"/>
                <a:ea typeface="GE SS Two Light"/>
                <a:cs typeface="Sakkal Majalla" panose="02000000000000000000" pitchFamily="2" charset="-78"/>
                <a:sym typeface="GE SS Two Light"/>
                <a:rtl/>
              </a:rPr>
              <a:t>تسهيل الخدمات للطالبات وأولياء الأمور وتشجيع الأنشطة والمشاريع البناءة.</a:t>
            </a:r>
          </a:p>
          <a:p>
            <a:pPr marL="345439" lvl="1" indent="-172720" algn="just" rtl="1">
              <a:lnSpc>
                <a:spcPts val="2239"/>
              </a:lnSpc>
              <a:buFont typeface="Arial"/>
              <a:buChar char="•"/>
            </a:pPr>
            <a:r>
              <a:rPr lang="ar-EG" u="none" strike="noStrike" dirty="0">
                <a:latin typeface="Sakkal Majalla" panose="02000000000000000000" pitchFamily="2" charset="-78"/>
                <a:ea typeface="GE SS Two Light"/>
                <a:cs typeface="Sakkal Majalla" panose="02000000000000000000" pitchFamily="2" charset="-78"/>
                <a:sym typeface="GE SS Two Light"/>
                <a:rtl/>
              </a:rPr>
              <a:t>القيام بدور تحفيزي فاعل بما يحقق التنافس الإيجابي بين الطالبات.</a:t>
            </a:r>
          </a:p>
        </p:txBody>
      </p:sp>
      <p:sp>
        <p:nvSpPr>
          <p:cNvPr id="7" name="Freeform 7">
            <a:extLst>
              <a:ext uri="{FF2B5EF4-FFF2-40B4-BE49-F238E27FC236}">
                <a16:creationId xmlns:a16="http://schemas.microsoft.com/office/drawing/2014/main" id="{62A9C2C2-DA98-1498-D357-D8EFF6E9B97E}"/>
              </a:ext>
            </a:extLst>
          </p:cNvPr>
          <p:cNvSpPr/>
          <p:nvPr/>
        </p:nvSpPr>
        <p:spPr>
          <a:xfrm flipH="1" flipV="1">
            <a:off x="1035050" y="4652862"/>
            <a:ext cx="1245534" cy="933957"/>
          </a:xfrm>
          <a:custGeom>
            <a:avLst/>
            <a:gdLst/>
            <a:ahLst/>
            <a:cxnLst/>
            <a:rect l="l" t="t" r="r" b="b"/>
            <a:pathLst>
              <a:path w="1817275" h="1817275">
                <a:moveTo>
                  <a:pt x="1817275" y="1817275"/>
                </a:moveTo>
                <a:lnTo>
                  <a:pt x="0" y="1817275"/>
                </a:lnTo>
                <a:lnTo>
                  <a:pt x="0" y="0"/>
                </a:lnTo>
                <a:lnTo>
                  <a:pt x="1817275" y="0"/>
                </a:lnTo>
                <a:lnTo>
                  <a:pt x="1817275" y="1817275"/>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ar-SA" dirty="0">
              <a:latin typeface="Sakkal Majalla" panose="02000000000000000000" pitchFamily="2" charset="-78"/>
              <a:cs typeface="Sakkal Majalla" panose="02000000000000000000" pitchFamily="2" charset="-78"/>
            </a:endParaRPr>
          </a:p>
        </p:txBody>
      </p:sp>
      <p:sp>
        <p:nvSpPr>
          <p:cNvPr id="8" name="TextBox 13">
            <a:extLst>
              <a:ext uri="{FF2B5EF4-FFF2-40B4-BE49-F238E27FC236}">
                <a16:creationId xmlns:a16="http://schemas.microsoft.com/office/drawing/2014/main" id="{9511BFA7-1FF4-C620-82C2-3F2D64069A58}"/>
              </a:ext>
            </a:extLst>
          </p:cNvPr>
          <p:cNvSpPr txBox="1"/>
          <p:nvPr/>
        </p:nvSpPr>
        <p:spPr>
          <a:xfrm>
            <a:off x="2419757" y="2801879"/>
            <a:ext cx="2623794" cy="369332"/>
          </a:xfrm>
          <a:prstGeom prst="rect">
            <a:avLst/>
          </a:prstGeom>
          <a:solidFill>
            <a:srgbClr val="D4C2C6"/>
          </a:solidFill>
          <a:effectLst>
            <a:outerShdw blurRad="76200" dir="18900000" sy="23000" kx="-1200000" algn="bl" rotWithShape="0">
              <a:prstClr val="black">
                <a:alpha val="20000"/>
              </a:prstClr>
            </a:outerShdw>
          </a:effectLst>
        </p:spPr>
        <p:txBody>
          <a:bodyPr wrap="square" lIns="0" tIns="0" rIns="0" bIns="0" rtlCol="0" anchor="t">
            <a:spAutoFit/>
          </a:bodyPr>
          <a:lstStyle/>
          <a:p>
            <a:pPr marL="0" lvl="0" indent="0" algn="ctr" rtl="1">
              <a:spcBef>
                <a:spcPct val="0"/>
              </a:spcBef>
            </a:pPr>
            <a:r>
              <a:rPr lang="ar-EG" sz="2400" b="1" u="none" strike="noStrike" spc="-33" dirty="0">
                <a:latin typeface="Sakkal Majalla" panose="02000000000000000000" pitchFamily="2" charset="-78"/>
                <a:ea typeface="GE SS Two Light"/>
                <a:cs typeface="Sakkal Majalla" panose="02000000000000000000" pitchFamily="2" charset="-78"/>
                <a:sym typeface="GE SS Two Light"/>
                <a:rtl/>
              </a:rPr>
              <a:t>الرؤية</a:t>
            </a:r>
          </a:p>
        </p:txBody>
      </p:sp>
      <p:sp>
        <p:nvSpPr>
          <p:cNvPr id="9" name="Freeform 10">
            <a:extLst>
              <a:ext uri="{FF2B5EF4-FFF2-40B4-BE49-F238E27FC236}">
                <a16:creationId xmlns:a16="http://schemas.microsoft.com/office/drawing/2014/main" id="{80A67E2C-14EF-DB33-F8C7-31C794824CAA}"/>
              </a:ext>
            </a:extLst>
          </p:cNvPr>
          <p:cNvSpPr/>
          <p:nvPr/>
        </p:nvSpPr>
        <p:spPr>
          <a:xfrm>
            <a:off x="2787650" y="2769453"/>
            <a:ext cx="409175" cy="401758"/>
          </a:xfrm>
          <a:custGeom>
            <a:avLst/>
            <a:gdLst/>
            <a:ahLst/>
            <a:cxnLst/>
            <a:rect l="l" t="t" r="r" b="b"/>
            <a:pathLst>
              <a:path w="502207" h="496557">
                <a:moveTo>
                  <a:pt x="0" y="0"/>
                </a:moveTo>
                <a:lnTo>
                  <a:pt x="502207" y="0"/>
                </a:lnTo>
                <a:lnTo>
                  <a:pt x="502207" y="496557"/>
                </a:lnTo>
                <a:lnTo>
                  <a:pt x="0" y="49655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ar-SA" dirty="0">
              <a:latin typeface="Sakkal Majalla" panose="02000000000000000000" pitchFamily="2" charset="-78"/>
              <a:cs typeface="Sakkal Majalla" panose="02000000000000000000" pitchFamily="2" charset="-78"/>
            </a:endParaRPr>
          </a:p>
        </p:txBody>
      </p:sp>
      <p:sp>
        <p:nvSpPr>
          <p:cNvPr id="11" name="TextBox 13">
            <a:extLst>
              <a:ext uri="{FF2B5EF4-FFF2-40B4-BE49-F238E27FC236}">
                <a16:creationId xmlns:a16="http://schemas.microsoft.com/office/drawing/2014/main" id="{2D30B867-A80B-828D-8B39-023A9885181F}"/>
              </a:ext>
            </a:extLst>
          </p:cNvPr>
          <p:cNvSpPr txBox="1"/>
          <p:nvPr/>
        </p:nvSpPr>
        <p:spPr>
          <a:xfrm>
            <a:off x="2419757" y="6067314"/>
            <a:ext cx="2623794" cy="369332"/>
          </a:xfrm>
          <a:prstGeom prst="rect">
            <a:avLst/>
          </a:prstGeom>
          <a:solidFill>
            <a:srgbClr val="D4C2C6"/>
          </a:solidFill>
          <a:effectLst>
            <a:outerShdw blurRad="76200" dir="18900000" sy="23000" kx="-1200000" algn="bl" rotWithShape="0">
              <a:prstClr val="black">
                <a:alpha val="20000"/>
              </a:prstClr>
            </a:outerShdw>
          </a:effectLst>
        </p:spPr>
        <p:txBody>
          <a:bodyPr wrap="square" lIns="0" tIns="0" rIns="0" bIns="0" rtlCol="0" anchor="t">
            <a:spAutoFit/>
          </a:bodyPr>
          <a:lstStyle>
            <a:defPPr>
              <a:defRPr lang="en-US"/>
            </a:defPPr>
            <a:lvl1pPr lvl="0" indent="0" algn="ctr" rtl="1">
              <a:spcBef>
                <a:spcPct val="0"/>
              </a:spcBef>
              <a:defRPr sz="2400" b="1" u="none" strike="noStrike" spc="-33">
                <a:latin typeface="Sakkal Majalla" panose="02000000000000000000" pitchFamily="2" charset="-78"/>
                <a:ea typeface="GE SS Two Light"/>
                <a:cs typeface="Sakkal Majalla" panose="02000000000000000000" pitchFamily="2" charset="-78"/>
                <a:rtl/>
              </a:defRPr>
            </a:lvl1pPr>
          </a:lstStyle>
          <a:p>
            <a:r>
              <a:rPr lang="ar-SA">
                <a:sym typeface="GE SS Two Light"/>
              </a:rPr>
              <a:t>الرسالة</a:t>
            </a:r>
            <a:endParaRPr lang="ar-EG" dirty="0">
              <a:sym typeface="GE SS Two Light"/>
            </a:endParaRPr>
          </a:p>
        </p:txBody>
      </p:sp>
      <p:sp>
        <p:nvSpPr>
          <p:cNvPr id="12" name="TextBox 5">
            <a:extLst>
              <a:ext uri="{FF2B5EF4-FFF2-40B4-BE49-F238E27FC236}">
                <a16:creationId xmlns:a16="http://schemas.microsoft.com/office/drawing/2014/main" id="{D8CAB99C-3551-8041-8EC2-D7F11322EA19}"/>
              </a:ext>
            </a:extLst>
          </p:cNvPr>
          <p:cNvSpPr txBox="1"/>
          <p:nvPr/>
        </p:nvSpPr>
        <p:spPr>
          <a:xfrm>
            <a:off x="1291877" y="7259344"/>
            <a:ext cx="4764675" cy="553998"/>
          </a:xfrm>
          <a:prstGeom prst="rect">
            <a:avLst/>
          </a:prstGeom>
        </p:spPr>
        <p:txBody>
          <a:bodyPr wrap="square" lIns="0" tIns="0" rIns="0" bIns="0" rtlCol="0" anchor="t">
            <a:spAutoFit/>
          </a:bodyPr>
          <a:lstStyle>
            <a:defPPr>
              <a:defRPr lang="en-US"/>
            </a:defPPr>
            <a:lvl2pPr marL="345439" lvl="1" indent="-172720" algn="just" rtl="1">
              <a:lnSpc>
                <a:spcPts val="2239"/>
              </a:lnSpc>
              <a:buFont typeface="Arial"/>
              <a:buChar char="•"/>
              <a:defRPr>
                <a:latin typeface="Sakkal Majalla" panose="02000000000000000000" pitchFamily="2" charset="-78"/>
                <a:ea typeface="GE SS Two Light"/>
                <a:cs typeface="Sakkal Majalla" panose="02000000000000000000" pitchFamily="2" charset="-78"/>
                <a:rtl/>
              </a:defRPr>
            </a:lvl2pPr>
          </a:lstStyle>
          <a:p>
            <a:pPr algn="ctr" rtl="1"/>
            <a:r>
              <a:rPr lang="ar-EG" dirty="0">
                <a:latin typeface="Sakkal Majalla" panose="02000000000000000000" pitchFamily="2" charset="-78"/>
                <a:cs typeface="Sakkal Majalla" panose="02000000000000000000" pitchFamily="2" charset="-78"/>
                <a:sym typeface="GE SS Two Light"/>
              </a:rPr>
              <a:t>أسعى لتحقيق مستوى أفضل من منظور عملي متوازن وضمان المشاركة الفعالة في كافة المجالات التربوية والتعليمية</a:t>
            </a:r>
          </a:p>
        </p:txBody>
      </p:sp>
      <p:sp>
        <p:nvSpPr>
          <p:cNvPr id="13" name="Freeform 8">
            <a:extLst>
              <a:ext uri="{FF2B5EF4-FFF2-40B4-BE49-F238E27FC236}">
                <a16:creationId xmlns:a16="http://schemas.microsoft.com/office/drawing/2014/main" id="{EDBB4B69-6AF7-8C42-BEC1-ECC6346FE269}"/>
              </a:ext>
            </a:extLst>
          </p:cNvPr>
          <p:cNvSpPr/>
          <p:nvPr/>
        </p:nvSpPr>
        <p:spPr>
          <a:xfrm flipH="1" flipV="1">
            <a:off x="1035050" y="6891497"/>
            <a:ext cx="1122003" cy="1122003"/>
          </a:xfrm>
          <a:custGeom>
            <a:avLst/>
            <a:gdLst/>
            <a:ahLst/>
            <a:cxnLst/>
            <a:rect l="l" t="t" r="r" b="b"/>
            <a:pathLst>
              <a:path w="1122003" h="1122003">
                <a:moveTo>
                  <a:pt x="1122003" y="1122003"/>
                </a:moveTo>
                <a:lnTo>
                  <a:pt x="0" y="1122003"/>
                </a:lnTo>
                <a:lnTo>
                  <a:pt x="0" y="0"/>
                </a:lnTo>
                <a:lnTo>
                  <a:pt x="1122003" y="0"/>
                </a:lnTo>
                <a:lnTo>
                  <a:pt x="1122003" y="1122003"/>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ar-SA">
              <a:latin typeface="Sakkal Majalla" panose="02000000000000000000" pitchFamily="2" charset="-78"/>
              <a:cs typeface="Sakkal Majalla" panose="02000000000000000000" pitchFamily="2" charset="-78"/>
            </a:endParaRPr>
          </a:p>
        </p:txBody>
      </p:sp>
      <p:sp>
        <p:nvSpPr>
          <p:cNvPr id="14" name="Freeform 9">
            <a:extLst>
              <a:ext uri="{FF2B5EF4-FFF2-40B4-BE49-F238E27FC236}">
                <a16:creationId xmlns:a16="http://schemas.microsoft.com/office/drawing/2014/main" id="{8F15523F-BEA7-A363-99A5-068492AC2381}"/>
              </a:ext>
            </a:extLst>
          </p:cNvPr>
          <p:cNvSpPr/>
          <p:nvPr/>
        </p:nvSpPr>
        <p:spPr>
          <a:xfrm>
            <a:off x="5179450" y="6948274"/>
            <a:ext cx="1122003" cy="1122003"/>
          </a:xfrm>
          <a:custGeom>
            <a:avLst/>
            <a:gdLst/>
            <a:ahLst/>
            <a:cxnLst/>
            <a:rect l="l" t="t" r="r" b="b"/>
            <a:pathLst>
              <a:path w="1122003" h="1122003">
                <a:moveTo>
                  <a:pt x="0" y="0"/>
                </a:moveTo>
                <a:lnTo>
                  <a:pt x="1122003" y="0"/>
                </a:lnTo>
                <a:lnTo>
                  <a:pt x="1122003" y="1122003"/>
                </a:lnTo>
                <a:lnTo>
                  <a:pt x="0" y="112200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ar-SA">
              <a:latin typeface="Sakkal Majalla" panose="02000000000000000000" pitchFamily="2" charset="-78"/>
              <a:cs typeface="Sakkal Majalla" panose="02000000000000000000" pitchFamily="2" charset="-78"/>
            </a:endParaRPr>
          </a:p>
        </p:txBody>
      </p:sp>
      <p:sp>
        <p:nvSpPr>
          <p:cNvPr id="15" name="Freeform 11">
            <a:extLst>
              <a:ext uri="{FF2B5EF4-FFF2-40B4-BE49-F238E27FC236}">
                <a16:creationId xmlns:a16="http://schemas.microsoft.com/office/drawing/2014/main" id="{6714F85D-F95D-A584-9A24-ED5F053F272D}"/>
              </a:ext>
            </a:extLst>
          </p:cNvPr>
          <p:cNvSpPr/>
          <p:nvPr/>
        </p:nvSpPr>
        <p:spPr>
          <a:xfrm>
            <a:off x="2539003" y="6108700"/>
            <a:ext cx="477248" cy="296569"/>
          </a:xfrm>
          <a:custGeom>
            <a:avLst/>
            <a:gdLst/>
            <a:ahLst/>
            <a:cxnLst/>
            <a:rect l="l" t="t" r="r" b="b"/>
            <a:pathLst>
              <a:path w="502207" h="334595">
                <a:moveTo>
                  <a:pt x="0" y="0"/>
                </a:moveTo>
                <a:lnTo>
                  <a:pt x="502207" y="0"/>
                </a:lnTo>
                <a:lnTo>
                  <a:pt x="502207" y="334595"/>
                </a:lnTo>
                <a:lnTo>
                  <a:pt x="0" y="33459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ar-SA" sz="200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2590272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53F7F-BE90-BBFB-0CDF-57378DDA0E2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C618AC4-D8BF-7A65-132E-5F9AA1C32B26}"/>
              </a:ext>
            </a:extLst>
          </p:cNvPr>
          <p:cNvSpPr>
            <a:spLocks noGrp="1" noRot="1" noMove="1" noResize="1" noEditPoints="1" noAdjustHandles="1" noChangeArrowheads="1" noChangeShapeType="1"/>
          </p:cNvSpPr>
          <p:nvPr/>
        </p:nvSpPr>
        <p:spPr>
          <a:xfrm>
            <a:off x="0" y="0"/>
            <a:ext cx="7560000" cy="10692000"/>
          </a:xfrm>
          <a:custGeom>
            <a:avLst/>
            <a:gdLst/>
            <a:ahLst/>
            <a:cxnLst/>
            <a:rect l="l" t="t" r="r" b="b"/>
            <a:pathLst>
              <a:path w="7560000" h="10692000">
                <a:moveTo>
                  <a:pt x="0" y="0"/>
                </a:moveTo>
                <a:lnTo>
                  <a:pt x="7560000" y="0"/>
                </a:lnTo>
                <a:lnTo>
                  <a:pt x="7560000" y="10692000"/>
                </a:lnTo>
                <a:lnTo>
                  <a:pt x="0" y="10692000"/>
                </a:lnTo>
                <a:lnTo>
                  <a:pt x="0" y="0"/>
                </a:lnTo>
                <a:close/>
              </a:path>
            </a:pathLst>
          </a:custGeom>
          <a:blipFill>
            <a:blip r:embed="rId2"/>
            <a:stretch>
              <a:fillRect l="-781" t="-13832" r="-781" b="-13832"/>
            </a:stretch>
          </a:blipFill>
        </p:spPr>
        <p:txBody>
          <a:bodyPr/>
          <a:lstStyle/>
          <a:p>
            <a:endParaRPr lang="ar-SA" b="1" dirty="0">
              <a:latin typeface="Sakkal Majalla" panose="02000000000000000000" pitchFamily="2" charset="-78"/>
              <a:cs typeface="Sakkal Majalla" panose="02000000000000000000" pitchFamily="2" charset="-78"/>
            </a:endParaRPr>
          </a:p>
        </p:txBody>
      </p:sp>
      <p:sp>
        <p:nvSpPr>
          <p:cNvPr id="3" name="Freeform 3">
            <a:extLst>
              <a:ext uri="{FF2B5EF4-FFF2-40B4-BE49-F238E27FC236}">
                <a16:creationId xmlns:a16="http://schemas.microsoft.com/office/drawing/2014/main" id="{0F1CBA47-AF89-85C1-7064-F9072EE62BEB}"/>
              </a:ext>
            </a:extLst>
          </p:cNvPr>
          <p:cNvSpPr>
            <a:spLocks noGrp="1" noRot="1" noMove="1" noResize="1" noEditPoints="1" noAdjustHandles="1" noChangeArrowheads="1" noChangeShapeType="1"/>
          </p:cNvSpPr>
          <p:nvPr/>
        </p:nvSpPr>
        <p:spPr>
          <a:xfrm>
            <a:off x="6654829" y="7724227"/>
            <a:ext cx="905171" cy="2967773"/>
          </a:xfrm>
          <a:custGeom>
            <a:avLst/>
            <a:gdLst/>
            <a:ahLst/>
            <a:cxnLst/>
            <a:rect l="l" t="t" r="r" b="b"/>
            <a:pathLst>
              <a:path w="905171" h="2967773">
                <a:moveTo>
                  <a:pt x="0" y="0"/>
                </a:moveTo>
                <a:lnTo>
                  <a:pt x="905171" y="0"/>
                </a:lnTo>
                <a:lnTo>
                  <a:pt x="905171" y="2967773"/>
                </a:lnTo>
                <a:lnTo>
                  <a:pt x="0" y="2967773"/>
                </a:lnTo>
                <a:lnTo>
                  <a:pt x="0" y="0"/>
                </a:lnTo>
                <a:close/>
              </a:path>
            </a:pathLst>
          </a:custGeom>
          <a:blipFill>
            <a:blip r:embed="rId3">
              <a:alphaModFix amt="83000"/>
              <a:extLst>
                <a:ext uri="{96DAC541-7B7A-43D3-8B79-37D633B846F1}">
                  <asvg:svgBlip xmlns:asvg="http://schemas.microsoft.com/office/drawing/2016/SVG/main" r:embed="rId4"/>
                </a:ext>
              </a:extLst>
            </a:blip>
            <a:stretch>
              <a:fillRect/>
            </a:stretch>
          </a:blipFill>
        </p:spPr>
        <p:txBody>
          <a:bodyPr/>
          <a:lstStyle/>
          <a:p>
            <a:endParaRPr lang="ar-SA" b="1">
              <a:latin typeface="Sakkal Majalla" panose="02000000000000000000" pitchFamily="2" charset="-78"/>
              <a:cs typeface="Sakkal Majalla" panose="02000000000000000000" pitchFamily="2" charset="-78"/>
            </a:endParaRPr>
          </a:p>
        </p:txBody>
      </p:sp>
      <p:sp>
        <p:nvSpPr>
          <p:cNvPr id="4" name="Freeform 4">
            <a:extLst>
              <a:ext uri="{FF2B5EF4-FFF2-40B4-BE49-F238E27FC236}">
                <a16:creationId xmlns:a16="http://schemas.microsoft.com/office/drawing/2014/main" id="{440614DE-90D6-A092-BFD6-2F972B7882A3}"/>
              </a:ext>
            </a:extLst>
          </p:cNvPr>
          <p:cNvSpPr>
            <a:spLocks noGrp="1" noRot="1" noMove="1" noResize="1" noEditPoints="1" noAdjustHandles="1" noChangeArrowheads="1" noChangeShapeType="1"/>
          </p:cNvSpPr>
          <p:nvPr/>
        </p:nvSpPr>
        <p:spPr>
          <a:xfrm rot="-10800000">
            <a:off x="-18769" y="-1"/>
            <a:ext cx="1549537" cy="4110699"/>
          </a:xfrm>
          <a:custGeom>
            <a:avLst/>
            <a:gdLst/>
            <a:ahLst/>
            <a:cxnLst/>
            <a:rect l="l" t="t" r="r" b="b"/>
            <a:pathLst>
              <a:path w="1549537" h="5080448">
                <a:moveTo>
                  <a:pt x="0" y="0"/>
                </a:moveTo>
                <a:lnTo>
                  <a:pt x="1549536" y="0"/>
                </a:lnTo>
                <a:lnTo>
                  <a:pt x="1549536" y="5080448"/>
                </a:lnTo>
                <a:lnTo>
                  <a:pt x="0" y="5080448"/>
                </a:lnTo>
                <a:lnTo>
                  <a:pt x="0" y="0"/>
                </a:lnTo>
                <a:close/>
              </a:path>
            </a:pathLst>
          </a:custGeom>
          <a:blipFill>
            <a:blip r:embed="rId3">
              <a:alphaModFix amt="83000"/>
              <a:extLst>
                <a:ext uri="{96DAC541-7B7A-43D3-8B79-37D633B846F1}">
                  <asvg:svgBlip xmlns:asvg="http://schemas.microsoft.com/office/drawing/2016/SVG/main" r:embed="rId4"/>
                </a:ext>
              </a:extLst>
            </a:blip>
            <a:stretch>
              <a:fillRect b="-23591"/>
            </a:stretch>
          </a:blipFill>
          <a:ln cap="sq">
            <a:noFill/>
            <a:prstDash val="solid"/>
            <a:miter/>
          </a:ln>
        </p:spPr>
        <p:txBody>
          <a:bodyPr/>
          <a:lstStyle/>
          <a:p>
            <a:endParaRPr lang="ar-SA" b="1">
              <a:latin typeface="Sakkal Majalla" panose="02000000000000000000" pitchFamily="2" charset="-78"/>
              <a:cs typeface="Sakkal Majalla" panose="02000000000000000000" pitchFamily="2" charset="-78"/>
            </a:endParaRPr>
          </a:p>
        </p:txBody>
      </p:sp>
      <p:pic>
        <p:nvPicPr>
          <p:cNvPr id="5" name="صورة 4">
            <a:extLst>
              <a:ext uri="{FF2B5EF4-FFF2-40B4-BE49-F238E27FC236}">
                <a16:creationId xmlns:a16="http://schemas.microsoft.com/office/drawing/2014/main" id="{CB9D4881-96F0-1F51-12D7-DAE13B5EF70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99326" y="7691215"/>
            <a:ext cx="3157847" cy="1767828"/>
          </a:xfrm>
          <a:prstGeom prst="rect">
            <a:avLst/>
          </a:prstGeom>
        </p:spPr>
      </p:pic>
      <p:graphicFrame>
        <p:nvGraphicFramePr>
          <p:cNvPr id="6" name="Table 2">
            <a:extLst>
              <a:ext uri="{FF2B5EF4-FFF2-40B4-BE49-F238E27FC236}">
                <a16:creationId xmlns:a16="http://schemas.microsoft.com/office/drawing/2014/main" id="{FF4B9C6F-F088-F39B-1C03-456737E64CF9}"/>
              </a:ext>
            </a:extLst>
          </p:cNvPr>
          <p:cNvGraphicFramePr>
            <a:graphicFrameLocks noGrp="1"/>
          </p:cNvGraphicFramePr>
          <p:nvPr>
            <p:extLst>
              <p:ext uri="{D42A27DB-BD31-4B8C-83A1-F6EECF244321}">
                <p14:modId xmlns:p14="http://schemas.microsoft.com/office/powerpoint/2010/main" val="3629531246"/>
              </p:ext>
            </p:extLst>
          </p:nvPr>
        </p:nvGraphicFramePr>
        <p:xfrm>
          <a:off x="826725" y="2040687"/>
          <a:ext cx="6019800" cy="2194560"/>
        </p:xfrm>
        <a:graphic>
          <a:graphicData uri="http://schemas.openxmlformats.org/drawingml/2006/table">
            <a:tbl>
              <a:tblPr/>
              <a:tblGrid>
                <a:gridCol w="4532300">
                  <a:extLst>
                    <a:ext uri="{9D8B030D-6E8A-4147-A177-3AD203B41FA5}">
                      <a16:colId xmlns:a16="http://schemas.microsoft.com/office/drawing/2014/main" val="20000"/>
                    </a:ext>
                  </a:extLst>
                </a:gridCol>
                <a:gridCol w="1487500">
                  <a:extLst>
                    <a:ext uri="{9D8B030D-6E8A-4147-A177-3AD203B41FA5}">
                      <a16:colId xmlns:a16="http://schemas.microsoft.com/office/drawing/2014/main" val="20004"/>
                    </a:ext>
                  </a:extLst>
                </a:gridCol>
              </a:tblGrid>
              <a:tr h="257872">
                <a:tc gridSpan="2">
                  <a:txBody>
                    <a:bodyPr/>
                    <a:lstStyle/>
                    <a:p>
                      <a:pPr algn="ctr" rtl="1">
                        <a:lnSpc>
                          <a:spcPct val="100000"/>
                        </a:lnSpc>
                        <a:defRPr/>
                      </a:pPr>
                      <a:r>
                        <a:rPr lang="ar-EG" sz="1800" b="1" dirty="0">
                          <a:solidFill>
                            <a:srgbClr val="000000"/>
                          </a:solidFill>
                          <a:latin typeface="Sakkal Majalla" panose="02000000000000000000" pitchFamily="2" charset="-78"/>
                          <a:ea typeface="GE SS Two Light"/>
                          <a:cs typeface="Sakkal Majalla" panose="02000000000000000000" pitchFamily="2" charset="-78"/>
                          <a:sym typeface="GE SS Two Light"/>
                          <a:rtl/>
                        </a:rPr>
                        <a:t>    البيانات الشخصية</a:t>
                      </a:r>
                      <a:endParaRPr lang="en-US" sz="1800" b="1" dirty="0">
                        <a:latin typeface="Sakkal Majalla" panose="02000000000000000000" pitchFamily="2" charset="-78"/>
                        <a:cs typeface="Sakkal Majalla" panose="02000000000000000000" pitchFamily="2" charset="-78"/>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C2C6"/>
                    </a:solidFill>
                  </a:tcPr>
                </a:tc>
                <a:tc hMerge="1">
                  <a:txBody>
                    <a:bodyPr/>
                    <a:lstStyle/>
                    <a:p>
                      <a:pPr algn="r" rtl="1">
                        <a:lnSpc>
                          <a:spcPts val="1679"/>
                        </a:lnSpc>
                        <a:defRPr/>
                      </a:pPr>
                      <a:r>
                        <a:rPr lang="ar-EG" sz="1200">
                          <a:solidFill>
                            <a:srgbClr val="000000"/>
                          </a:solidFill>
                          <a:latin typeface="GE SS Two Light"/>
                          <a:ea typeface="GE SS Two Light"/>
                          <a:cs typeface="GE SS Two Light"/>
                          <a:sym typeface="GE SS Two Light"/>
                          <a:rtl/>
                        </a:rPr>
                        <a:t>    البيانات الشخصية:</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57872">
                <a:tc>
                  <a:txBody>
                    <a:bodyPr/>
                    <a:lstStyle/>
                    <a:p>
                      <a:pPr algn="ctr">
                        <a:lnSpc>
                          <a:spcPct val="100000"/>
                        </a:lnSpc>
                        <a:defRPr/>
                      </a:pPr>
                      <a:endParaRPr lang="en-US" sz="1800" b="0" dirty="0">
                        <a:latin typeface="Sakkal Majalla" panose="02000000000000000000" pitchFamily="2" charset="-78"/>
                        <a:cs typeface="Sakkal Majalla" panose="02000000000000000000" pitchFamily="2" charset="-78"/>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1">
                        <a:lnSpc>
                          <a:spcPct val="100000"/>
                        </a:lnSpc>
                        <a:defRPr/>
                      </a:pPr>
                      <a:r>
                        <a:rPr lang="ar-EG" sz="1800" b="1" dirty="0">
                          <a:solidFill>
                            <a:srgbClr val="000000"/>
                          </a:solidFill>
                          <a:latin typeface="Sakkal Majalla" panose="02000000000000000000" pitchFamily="2" charset="-78"/>
                          <a:ea typeface="GE SS Two Light"/>
                          <a:cs typeface="Sakkal Majalla" panose="02000000000000000000" pitchFamily="2" charset="-78"/>
                          <a:sym typeface="GE SS Two Light"/>
                          <a:rtl/>
                        </a:rPr>
                        <a:t>رقم الهوية:</a:t>
                      </a:r>
                      <a:endParaRPr lang="en-US" sz="1800" b="1" dirty="0">
                        <a:latin typeface="Sakkal Majalla" panose="02000000000000000000" pitchFamily="2" charset="-78"/>
                        <a:cs typeface="Sakkal Majalla" panose="02000000000000000000" pitchFamily="2" charset="-78"/>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57872">
                <a:tc>
                  <a:txBody>
                    <a:bodyPr/>
                    <a:lstStyle/>
                    <a:p>
                      <a:pPr algn="ctr">
                        <a:lnSpc>
                          <a:spcPct val="100000"/>
                        </a:lnSpc>
                        <a:defRPr/>
                      </a:pPr>
                      <a:endParaRPr lang="en-US" sz="1800" b="0" dirty="0">
                        <a:latin typeface="Sakkal Majalla" panose="02000000000000000000" pitchFamily="2" charset="-78"/>
                        <a:cs typeface="Sakkal Majalla" panose="02000000000000000000" pitchFamily="2" charset="-78"/>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1">
                        <a:lnSpc>
                          <a:spcPct val="100000"/>
                        </a:lnSpc>
                        <a:defRPr/>
                      </a:pPr>
                      <a:r>
                        <a:rPr lang="ar-EG" sz="1800" b="1" dirty="0">
                          <a:solidFill>
                            <a:srgbClr val="000000"/>
                          </a:solidFill>
                          <a:latin typeface="Sakkal Majalla" panose="02000000000000000000" pitchFamily="2" charset="-78"/>
                          <a:ea typeface="GE SS Two Light"/>
                          <a:cs typeface="Sakkal Majalla" panose="02000000000000000000" pitchFamily="2" charset="-78"/>
                          <a:sym typeface="GE SS Two Light"/>
                          <a:rtl/>
                        </a:rPr>
                        <a:t>الاسم:</a:t>
                      </a:r>
                      <a:endParaRPr lang="en-US" sz="1800" b="1" dirty="0">
                        <a:latin typeface="Sakkal Majalla" panose="02000000000000000000" pitchFamily="2" charset="-78"/>
                        <a:cs typeface="Sakkal Majalla" panose="02000000000000000000" pitchFamily="2" charset="-78"/>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57872">
                <a:tc>
                  <a:txBody>
                    <a:bodyPr/>
                    <a:lstStyle/>
                    <a:p>
                      <a:pPr algn="ctr">
                        <a:lnSpc>
                          <a:spcPct val="100000"/>
                        </a:lnSpc>
                        <a:defRPr/>
                      </a:pPr>
                      <a:endParaRPr lang="en-US" sz="1800" b="0" dirty="0">
                        <a:latin typeface="Sakkal Majalla" panose="02000000000000000000" pitchFamily="2" charset="-78"/>
                        <a:cs typeface="Sakkal Majalla" panose="02000000000000000000" pitchFamily="2" charset="-78"/>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1">
                        <a:lnSpc>
                          <a:spcPct val="100000"/>
                        </a:lnSpc>
                        <a:defRPr/>
                      </a:pPr>
                      <a:r>
                        <a:rPr lang="ar-EG" sz="1800" b="1" dirty="0">
                          <a:solidFill>
                            <a:srgbClr val="000000"/>
                          </a:solidFill>
                          <a:latin typeface="Sakkal Majalla" panose="02000000000000000000" pitchFamily="2" charset="-78"/>
                          <a:ea typeface="GE SS Two Light"/>
                          <a:cs typeface="Sakkal Majalla" panose="02000000000000000000" pitchFamily="2" charset="-78"/>
                          <a:sym typeface="GE SS Two Light"/>
                          <a:rtl/>
                        </a:rPr>
                        <a:t>تاريخ الميلاد:</a:t>
                      </a:r>
                      <a:endParaRPr lang="en-US" sz="1800" b="1" dirty="0">
                        <a:latin typeface="Sakkal Majalla" panose="02000000000000000000" pitchFamily="2" charset="-78"/>
                        <a:cs typeface="Sakkal Majalla" panose="02000000000000000000" pitchFamily="2" charset="-78"/>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57872">
                <a:tc>
                  <a:txBody>
                    <a:bodyPr/>
                    <a:lstStyle/>
                    <a:p>
                      <a:pPr algn="ctr">
                        <a:lnSpc>
                          <a:spcPct val="100000"/>
                        </a:lnSpc>
                        <a:defRPr/>
                      </a:pPr>
                      <a:endParaRPr lang="en-US" sz="1800" b="0" dirty="0">
                        <a:latin typeface="Sakkal Majalla" panose="02000000000000000000" pitchFamily="2" charset="-78"/>
                        <a:cs typeface="Sakkal Majalla" panose="02000000000000000000" pitchFamily="2" charset="-78"/>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1">
                        <a:lnSpc>
                          <a:spcPct val="100000"/>
                        </a:lnSpc>
                        <a:defRPr/>
                      </a:pPr>
                      <a:r>
                        <a:rPr lang="ar-EG" sz="1800" b="1" dirty="0">
                          <a:solidFill>
                            <a:srgbClr val="000000"/>
                          </a:solidFill>
                          <a:latin typeface="Sakkal Majalla" panose="02000000000000000000" pitchFamily="2" charset="-78"/>
                          <a:ea typeface="GE SS Two Light"/>
                          <a:cs typeface="Sakkal Majalla" panose="02000000000000000000" pitchFamily="2" charset="-78"/>
                          <a:sym typeface="GE SS Two Light"/>
                          <a:rtl/>
                        </a:rPr>
                        <a:t>العنوان:</a:t>
                      </a:r>
                      <a:endParaRPr lang="en-US" sz="1800" b="1" dirty="0">
                        <a:latin typeface="Sakkal Majalla" panose="02000000000000000000" pitchFamily="2" charset="-78"/>
                        <a:cs typeface="Sakkal Majalla" panose="02000000000000000000" pitchFamily="2" charset="-78"/>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57872">
                <a:tc>
                  <a:txBody>
                    <a:bodyPr/>
                    <a:lstStyle/>
                    <a:p>
                      <a:pPr algn="ctr">
                        <a:lnSpc>
                          <a:spcPct val="100000"/>
                        </a:lnSpc>
                        <a:defRPr/>
                      </a:pPr>
                      <a:endParaRPr lang="en-US" sz="1800" b="0" dirty="0">
                        <a:latin typeface="Sakkal Majalla" panose="02000000000000000000" pitchFamily="2" charset="-78"/>
                        <a:cs typeface="Sakkal Majalla" panose="02000000000000000000" pitchFamily="2" charset="-78"/>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1">
                        <a:lnSpc>
                          <a:spcPct val="100000"/>
                        </a:lnSpc>
                        <a:defRPr/>
                      </a:pPr>
                      <a:r>
                        <a:rPr lang="ar-EG" sz="1800" b="1" dirty="0">
                          <a:solidFill>
                            <a:srgbClr val="000000"/>
                          </a:solidFill>
                          <a:latin typeface="Sakkal Majalla" panose="02000000000000000000" pitchFamily="2" charset="-78"/>
                          <a:ea typeface="GE SS Two Light"/>
                          <a:cs typeface="Sakkal Majalla" panose="02000000000000000000" pitchFamily="2" charset="-78"/>
                          <a:sym typeface="GE SS Two Light"/>
                          <a:rtl/>
                        </a:rPr>
                        <a:t>الهاتف:</a:t>
                      </a:r>
                      <a:endParaRPr lang="en-US" sz="1800" b="1" dirty="0">
                        <a:latin typeface="Sakkal Majalla" panose="02000000000000000000" pitchFamily="2" charset="-78"/>
                        <a:cs typeface="Sakkal Majalla" panose="02000000000000000000" pitchFamily="2" charset="-78"/>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59131">
                <a:tc>
                  <a:txBody>
                    <a:bodyPr/>
                    <a:lstStyle/>
                    <a:p>
                      <a:pPr algn="ctr">
                        <a:lnSpc>
                          <a:spcPct val="100000"/>
                        </a:lnSpc>
                        <a:defRPr/>
                      </a:pPr>
                      <a:endParaRPr lang="en-US" sz="1800" b="0" dirty="0">
                        <a:latin typeface="Sakkal Majalla" panose="02000000000000000000" pitchFamily="2" charset="-78"/>
                        <a:cs typeface="Sakkal Majalla" panose="02000000000000000000" pitchFamily="2" charset="-78"/>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1">
                        <a:lnSpc>
                          <a:spcPct val="100000"/>
                        </a:lnSpc>
                        <a:defRPr/>
                      </a:pPr>
                      <a:r>
                        <a:rPr lang="ar-EG" sz="1800" b="1" dirty="0">
                          <a:solidFill>
                            <a:srgbClr val="000000"/>
                          </a:solidFill>
                          <a:latin typeface="Sakkal Majalla" panose="02000000000000000000" pitchFamily="2" charset="-78"/>
                          <a:ea typeface="GE SS Two Light"/>
                          <a:cs typeface="Sakkal Majalla" panose="02000000000000000000" pitchFamily="2" charset="-78"/>
                          <a:sym typeface="GE SS Two Light"/>
                          <a:rtl/>
                        </a:rPr>
                        <a:t>البريد الإلكتروني لمنصة مدرستي:</a:t>
                      </a:r>
                      <a:endParaRPr lang="en-US" sz="1800" b="1" dirty="0">
                        <a:latin typeface="Sakkal Majalla" panose="02000000000000000000" pitchFamily="2" charset="-78"/>
                        <a:cs typeface="Sakkal Majalla" panose="02000000000000000000" pitchFamily="2" charset="-78"/>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aphicFrame>
        <p:nvGraphicFramePr>
          <p:cNvPr id="7" name="Table 5">
            <a:extLst>
              <a:ext uri="{FF2B5EF4-FFF2-40B4-BE49-F238E27FC236}">
                <a16:creationId xmlns:a16="http://schemas.microsoft.com/office/drawing/2014/main" id="{DFF92AFD-EE40-899F-E9D8-AF3C53B35E3B}"/>
              </a:ext>
            </a:extLst>
          </p:cNvPr>
          <p:cNvGraphicFramePr>
            <a:graphicFrameLocks noGrp="1"/>
          </p:cNvGraphicFramePr>
          <p:nvPr>
            <p:extLst>
              <p:ext uri="{D42A27DB-BD31-4B8C-83A1-F6EECF244321}">
                <p14:modId xmlns:p14="http://schemas.microsoft.com/office/powerpoint/2010/main" val="1731317763"/>
              </p:ext>
            </p:extLst>
          </p:nvPr>
        </p:nvGraphicFramePr>
        <p:xfrm>
          <a:off x="826723" y="4355442"/>
          <a:ext cx="6019800" cy="1440600"/>
        </p:xfrm>
        <a:graphic>
          <a:graphicData uri="http://schemas.openxmlformats.org/drawingml/2006/table">
            <a:tbl>
              <a:tblPr/>
              <a:tblGrid>
                <a:gridCol w="1003300">
                  <a:extLst>
                    <a:ext uri="{9D8B030D-6E8A-4147-A177-3AD203B41FA5}">
                      <a16:colId xmlns:a16="http://schemas.microsoft.com/office/drawing/2014/main" val="20000"/>
                    </a:ext>
                  </a:extLst>
                </a:gridCol>
                <a:gridCol w="1003300">
                  <a:extLst>
                    <a:ext uri="{9D8B030D-6E8A-4147-A177-3AD203B41FA5}">
                      <a16:colId xmlns:a16="http://schemas.microsoft.com/office/drawing/2014/main" val="20001"/>
                    </a:ext>
                  </a:extLst>
                </a:gridCol>
                <a:gridCol w="1003300">
                  <a:extLst>
                    <a:ext uri="{9D8B030D-6E8A-4147-A177-3AD203B41FA5}">
                      <a16:colId xmlns:a16="http://schemas.microsoft.com/office/drawing/2014/main" val="20002"/>
                    </a:ext>
                  </a:extLst>
                </a:gridCol>
                <a:gridCol w="1003300">
                  <a:extLst>
                    <a:ext uri="{9D8B030D-6E8A-4147-A177-3AD203B41FA5}">
                      <a16:colId xmlns:a16="http://schemas.microsoft.com/office/drawing/2014/main" val="20003"/>
                    </a:ext>
                  </a:extLst>
                </a:gridCol>
                <a:gridCol w="1003300">
                  <a:extLst>
                    <a:ext uri="{9D8B030D-6E8A-4147-A177-3AD203B41FA5}">
                      <a16:colId xmlns:a16="http://schemas.microsoft.com/office/drawing/2014/main" val="20004"/>
                    </a:ext>
                  </a:extLst>
                </a:gridCol>
                <a:gridCol w="1003300">
                  <a:extLst>
                    <a:ext uri="{9D8B030D-6E8A-4147-A177-3AD203B41FA5}">
                      <a16:colId xmlns:a16="http://schemas.microsoft.com/office/drawing/2014/main" val="20005"/>
                    </a:ext>
                  </a:extLst>
                </a:gridCol>
              </a:tblGrid>
              <a:tr h="274050">
                <a:tc gridSpan="6">
                  <a:txBody>
                    <a:bodyPr/>
                    <a:lstStyle/>
                    <a:p>
                      <a:pPr algn="ctr" rtl="1">
                        <a:lnSpc>
                          <a:spcPct val="100000"/>
                        </a:lnSpc>
                        <a:defRPr/>
                      </a:pPr>
                      <a:r>
                        <a:rPr lang="ar-EG" sz="1800" b="1" dirty="0">
                          <a:solidFill>
                            <a:srgbClr val="000000"/>
                          </a:solidFill>
                          <a:latin typeface="Sakkal Majalla" panose="02000000000000000000" pitchFamily="2" charset="-78"/>
                          <a:ea typeface="GE SS Two Light"/>
                          <a:cs typeface="Sakkal Majalla" panose="02000000000000000000" pitchFamily="2" charset="-78"/>
                          <a:sym typeface="GE SS Two Light"/>
                          <a:rtl/>
                        </a:rPr>
                        <a:t>البيانات العلمية</a:t>
                      </a:r>
                      <a:endParaRPr lang="en-US" sz="1800" b="1" dirty="0">
                        <a:latin typeface="Sakkal Majalla" panose="02000000000000000000" pitchFamily="2" charset="-78"/>
                        <a:cs typeface="Sakkal Majalla" panose="02000000000000000000" pitchFamily="2" charset="-78"/>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C2C6"/>
                    </a:solidFill>
                  </a:tcPr>
                </a:tc>
                <a:tc hMerge="1">
                  <a:txBody>
                    <a:bodyPr/>
                    <a:lstStyle/>
                    <a:p>
                      <a:pPr algn="ctr" rtl="1">
                        <a:lnSpc>
                          <a:spcPts val="1679"/>
                        </a:lnSpc>
                        <a:defRPr/>
                      </a:pPr>
                      <a:r>
                        <a:rPr lang="ar-EG" sz="1200">
                          <a:solidFill>
                            <a:srgbClr val="000000"/>
                          </a:solidFill>
                          <a:latin typeface="GE SS Two Light"/>
                          <a:ea typeface="GE SS Two Light"/>
                          <a:cs typeface="GE SS Two Light"/>
                          <a:sym typeface="GE SS Two Light"/>
                          <a:rtl/>
                        </a:rPr>
                        <a:t>البيانات العلمية:</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ECDE"/>
                    </a:solidFill>
                  </a:tcPr>
                </a:tc>
                <a:tc hMerge="1">
                  <a:txBody>
                    <a:bodyPr/>
                    <a:lstStyle/>
                    <a:p>
                      <a:pPr algn="ctr" rtl="1">
                        <a:lnSpc>
                          <a:spcPts val="1679"/>
                        </a:lnSpc>
                        <a:defRPr/>
                      </a:pPr>
                      <a:r>
                        <a:rPr lang="ar-EG" sz="1200">
                          <a:solidFill>
                            <a:srgbClr val="000000"/>
                          </a:solidFill>
                          <a:latin typeface="GE SS Two Light"/>
                          <a:ea typeface="GE SS Two Light"/>
                          <a:cs typeface="GE SS Two Light"/>
                          <a:sym typeface="GE SS Two Light"/>
                          <a:rtl/>
                        </a:rPr>
                        <a:t>البيانات العلمية:</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ECDE"/>
                    </a:solidFill>
                  </a:tcPr>
                </a:tc>
                <a:tc hMerge="1">
                  <a:txBody>
                    <a:bodyPr/>
                    <a:lstStyle/>
                    <a:p>
                      <a:pPr algn="ctr" rtl="1">
                        <a:lnSpc>
                          <a:spcPts val="1679"/>
                        </a:lnSpc>
                        <a:defRPr/>
                      </a:pPr>
                      <a:r>
                        <a:rPr lang="ar-EG" sz="1200">
                          <a:solidFill>
                            <a:srgbClr val="000000"/>
                          </a:solidFill>
                          <a:latin typeface="GE SS Two Light"/>
                          <a:ea typeface="GE SS Two Light"/>
                          <a:cs typeface="GE SS Two Light"/>
                          <a:sym typeface="GE SS Two Light"/>
                          <a:rtl/>
                        </a:rPr>
                        <a:t>البيانات العلمية:</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ECDE"/>
                    </a:solidFill>
                  </a:tcPr>
                </a:tc>
                <a:tc hMerge="1">
                  <a:txBody>
                    <a:bodyPr/>
                    <a:lstStyle/>
                    <a:p>
                      <a:pPr algn="ctr" rtl="1">
                        <a:lnSpc>
                          <a:spcPts val="1679"/>
                        </a:lnSpc>
                        <a:defRPr/>
                      </a:pPr>
                      <a:r>
                        <a:rPr lang="ar-EG" sz="1200">
                          <a:solidFill>
                            <a:srgbClr val="000000"/>
                          </a:solidFill>
                          <a:latin typeface="GE SS Two Light"/>
                          <a:ea typeface="GE SS Two Light"/>
                          <a:cs typeface="GE SS Two Light"/>
                          <a:sym typeface="GE SS Two Light"/>
                          <a:rtl/>
                        </a:rPr>
                        <a:t>البيانات العلمية:</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ECDE"/>
                    </a:solidFill>
                  </a:tcPr>
                </a:tc>
                <a:tc hMerge="1">
                  <a:txBody>
                    <a:bodyPr/>
                    <a:lstStyle/>
                    <a:p>
                      <a:pPr algn="ctr" rtl="1">
                        <a:lnSpc>
                          <a:spcPts val="1679"/>
                        </a:lnSpc>
                        <a:defRPr/>
                      </a:pPr>
                      <a:r>
                        <a:rPr lang="ar-EG" sz="1200">
                          <a:solidFill>
                            <a:srgbClr val="000000"/>
                          </a:solidFill>
                          <a:latin typeface="GE SS Two Light"/>
                          <a:ea typeface="GE SS Two Light"/>
                          <a:cs typeface="GE SS Two Light"/>
                          <a:sym typeface="GE SS Two Light"/>
                          <a:rtl/>
                        </a:rPr>
                        <a:t>البيانات العلمية:</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ECDE"/>
                    </a:solidFill>
                  </a:tcPr>
                </a:tc>
                <a:extLst>
                  <a:ext uri="{0D108BD9-81ED-4DB2-BD59-A6C34878D82A}">
                    <a16:rowId xmlns:a16="http://schemas.microsoft.com/office/drawing/2014/main" val="10000"/>
                  </a:ext>
                </a:extLst>
              </a:tr>
              <a:tr h="487937">
                <a:tc>
                  <a:txBody>
                    <a:bodyPr/>
                    <a:lstStyle/>
                    <a:p>
                      <a:pPr algn="ctr" rtl="1">
                        <a:lnSpc>
                          <a:spcPct val="100000"/>
                        </a:lnSpc>
                        <a:defRPr/>
                      </a:pPr>
                      <a:r>
                        <a:rPr lang="ar-EG" sz="1800" b="1">
                          <a:solidFill>
                            <a:srgbClr val="000000"/>
                          </a:solidFill>
                          <a:latin typeface="Sakkal Majalla" panose="02000000000000000000" pitchFamily="2" charset="-78"/>
                          <a:ea typeface="GE SS Two Light"/>
                          <a:cs typeface="Sakkal Majalla" panose="02000000000000000000" pitchFamily="2" charset="-78"/>
                          <a:sym typeface="GE SS Two Light"/>
                          <a:rtl/>
                        </a:rPr>
                        <a:t>تاريخه</a:t>
                      </a:r>
                      <a:endParaRPr lang="en-US" sz="1800" b="1">
                        <a:latin typeface="Sakkal Majalla" panose="02000000000000000000" pitchFamily="2" charset="-78"/>
                        <a:cs typeface="Sakkal Majalla" panose="02000000000000000000" pitchFamily="2" charset="-78"/>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1">
                        <a:lnSpc>
                          <a:spcPct val="100000"/>
                        </a:lnSpc>
                        <a:defRPr/>
                      </a:pPr>
                      <a:r>
                        <a:rPr lang="ar-EG" sz="1800" b="1">
                          <a:solidFill>
                            <a:srgbClr val="000000"/>
                          </a:solidFill>
                          <a:latin typeface="Sakkal Majalla" panose="02000000000000000000" pitchFamily="2" charset="-78"/>
                          <a:ea typeface="GE SS Two Light"/>
                          <a:cs typeface="Sakkal Majalla" panose="02000000000000000000" pitchFamily="2" charset="-78"/>
                          <a:sym typeface="GE SS Two Light"/>
                          <a:rtl/>
                        </a:rPr>
                        <a:t>التقدير</a:t>
                      </a:r>
                      <a:endParaRPr lang="en-US" sz="1800" b="1">
                        <a:latin typeface="Sakkal Majalla" panose="02000000000000000000" pitchFamily="2" charset="-78"/>
                        <a:cs typeface="Sakkal Majalla" panose="02000000000000000000" pitchFamily="2" charset="-78"/>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1">
                        <a:lnSpc>
                          <a:spcPct val="100000"/>
                        </a:lnSpc>
                        <a:defRPr/>
                      </a:pPr>
                      <a:r>
                        <a:rPr lang="ar-EG" sz="1800" b="1">
                          <a:solidFill>
                            <a:srgbClr val="000000"/>
                          </a:solidFill>
                          <a:latin typeface="Sakkal Majalla" panose="02000000000000000000" pitchFamily="2" charset="-78"/>
                          <a:ea typeface="GE SS Two Light"/>
                          <a:cs typeface="Sakkal Majalla" panose="02000000000000000000" pitchFamily="2" charset="-78"/>
                          <a:sym typeface="GE SS Two Light"/>
                          <a:rtl/>
                        </a:rPr>
                        <a:t>التخصص</a:t>
                      </a:r>
                      <a:endParaRPr lang="en-US" sz="1800" b="1">
                        <a:latin typeface="Sakkal Majalla" panose="02000000000000000000" pitchFamily="2" charset="-78"/>
                        <a:cs typeface="Sakkal Majalla" panose="02000000000000000000" pitchFamily="2" charset="-78"/>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1">
                        <a:lnSpc>
                          <a:spcPct val="100000"/>
                        </a:lnSpc>
                        <a:defRPr/>
                      </a:pPr>
                      <a:r>
                        <a:rPr lang="ar-EG" sz="1800" b="1" dirty="0">
                          <a:solidFill>
                            <a:srgbClr val="000000"/>
                          </a:solidFill>
                          <a:latin typeface="Sakkal Majalla" panose="02000000000000000000" pitchFamily="2" charset="-78"/>
                          <a:ea typeface="GE SS Two Light"/>
                          <a:cs typeface="Sakkal Majalla" panose="02000000000000000000" pitchFamily="2" charset="-78"/>
                          <a:sym typeface="GE SS Two Light"/>
                          <a:rtl/>
                        </a:rPr>
                        <a:t>جهة الإصدار</a:t>
                      </a:r>
                      <a:endParaRPr lang="en-US" sz="1800" b="1" dirty="0">
                        <a:latin typeface="Sakkal Majalla" panose="02000000000000000000" pitchFamily="2" charset="-78"/>
                        <a:cs typeface="Sakkal Majalla" panose="02000000000000000000" pitchFamily="2" charset="-78"/>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1">
                        <a:lnSpc>
                          <a:spcPct val="100000"/>
                        </a:lnSpc>
                        <a:defRPr/>
                      </a:pPr>
                      <a:r>
                        <a:rPr lang="ar-EG" sz="1800" b="1" dirty="0">
                          <a:solidFill>
                            <a:srgbClr val="000000"/>
                          </a:solidFill>
                          <a:latin typeface="Sakkal Majalla" panose="02000000000000000000" pitchFamily="2" charset="-78"/>
                          <a:ea typeface="GE SS Two Light"/>
                          <a:cs typeface="Sakkal Majalla" panose="02000000000000000000" pitchFamily="2" charset="-78"/>
                          <a:sym typeface="GE SS Two Light"/>
                          <a:rtl/>
                        </a:rPr>
                        <a:t>المؤهل</a:t>
                      </a:r>
                      <a:endParaRPr lang="en-US" sz="1800" b="1" dirty="0">
                        <a:latin typeface="Sakkal Majalla" panose="02000000000000000000" pitchFamily="2" charset="-78"/>
                        <a:cs typeface="Sakkal Majalla" panose="02000000000000000000" pitchFamily="2" charset="-78"/>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1">
                        <a:lnSpc>
                          <a:spcPct val="100000"/>
                        </a:lnSpc>
                        <a:defRPr/>
                      </a:pPr>
                      <a:r>
                        <a:rPr lang="ar-EG" sz="1800" b="1" dirty="0">
                          <a:solidFill>
                            <a:srgbClr val="000000"/>
                          </a:solidFill>
                          <a:latin typeface="Sakkal Majalla" panose="02000000000000000000" pitchFamily="2" charset="-78"/>
                          <a:ea typeface="GE SS Two Light"/>
                          <a:cs typeface="Sakkal Majalla" panose="02000000000000000000" pitchFamily="2" charset="-78"/>
                          <a:sym typeface="GE SS Two Light"/>
                          <a:rtl/>
                        </a:rPr>
                        <a:t>التحصيل العلمي</a:t>
                      </a:r>
                      <a:endParaRPr lang="en-US" sz="1800" b="1" dirty="0">
                        <a:latin typeface="Sakkal Majalla" panose="02000000000000000000" pitchFamily="2" charset="-78"/>
                        <a:cs typeface="Sakkal Majalla" panose="02000000000000000000" pitchFamily="2" charset="-78"/>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176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0" dirty="0">
                        <a:latin typeface="Sakkal Majalla" panose="02000000000000000000" pitchFamily="2" charset="-78"/>
                        <a:cs typeface="Sakkal Majalla" panose="02000000000000000000" pitchFamily="2" charset="-78"/>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0" dirty="0">
                        <a:latin typeface="Sakkal Majalla" panose="02000000000000000000" pitchFamily="2" charset="-78"/>
                        <a:cs typeface="Sakkal Majalla" panose="02000000000000000000" pitchFamily="2" charset="-78"/>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0" dirty="0">
                        <a:latin typeface="Sakkal Majalla" panose="02000000000000000000" pitchFamily="2" charset="-78"/>
                        <a:cs typeface="Sakkal Majalla" panose="02000000000000000000" pitchFamily="2" charset="-78"/>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0" dirty="0">
                        <a:latin typeface="Sakkal Majalla" panose="02000000000000000000" pitchFamily="2" charset="-78"/>
                        <a:cs typeface="Sakkal Majalla" panose="02000000000000000000" pitchFamily="2" charset="-78"/>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0" dirty="0">
                        <a:latin typeface="Sakkal Majalla" panose="02000000000000000000" pitchFamily="2" charset="-78"/>
                        <a:cs typeface="Sakkal Majalla" panose="02000000000000000000" pitchFamily="2" charset="-78"/>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en-US" sz="1800" b="0" dirty="0">
                        <a:latin typeface="Sakkal Majalla" panose="02000000000000000000" pitchFamily="2" charset="-78"/>
                        <a:cs typeface="Sakkal Majalla" panose="02000000000000000000" pitchFamily="2" charset="-78"/>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8" name="Table 6">
            <a:extLst>
              <a:ext uri="{FF2B5EF4-FFF2-40B4-BE49-F238E27FC236}">
                <a16:creationId xmlns:a16="http://schemas.microsoft.com/office/drawing/2014/main" id="{8D613FF3-6494-7885-8801-48A57F2B7809}"/>
              </a:ext>
            </a:extLst>
          </p:cNvPr>
          <p:cNvGraphicFramePr>
            <a:graphicFrameLocks noGrp="1"/>
          </p:cNvGraphicFramePr>
          <p:nvPr>
            <p:extLst>
              <p:ext uri="{D42A27DB-BD31-4B8C-83A1-F6EECF244321}">
                <p14:modId xmlns:p14="http://schemas.microsoft.com/office/powerpoint/2010/main" val="983295595"/>
              </p:ext>
            </p:extLst>
          </p:nvPr>
        </p:nvGraphicFramePr>
        <p:xfrm>
          <a:off x="826722" y="5938665"/>
          <a:ext cx="6019800" cy="1142467"/>
        </p:xfrm>
        <a:graphic>
          <a:graphicData uri="http://schemas.openxmlformats.org/drawingml/2006/table">
            <a:tbl>
              <a:tblPr/>
              <a:tblGrid>
                <a:gridCol w="1504950">
                  <a:extLst>
                    <a:ext uri="{9D8B030D-6E8A-4147-A177-3AD203B41FA5}">
                      <a16:colId xmlns:a16="http://schemas.microsoft.com/office/drawing/2014/main" val="20000"/>
                    </a:ext>
                  </a:extLst>
                </a:gridCol>
                <a:gridCol w="1504950">
                  <a:extLst>
                    <a:ext uri="{9D8B030D-6E8A-4147-A177-3AD203B41FA5}">
                      <a16:colId xmlns:a16="http://schemas.microsoft.com/office/drawing/2014/main" val="20001"/>
                    </a:ext>
                  </a:extLst>
                </a:gridCol>
                <a:gridCol w="1504950">
                  <a:extLst>
                    <a:ext uri="{9D8B030D-6E8A-4147-A177-3AD203B41FA5}">
                      <a16:colId xmlns:a16="http://schemas.microsoft.com/office/drawing/2014/main" val="20002"/>
                    </a:ext>
                  </a:extLst>
                </a:gridCol>
                <a:gridCol w="1504950">
                  <a:extLst>
                    <a:ext uri="{9D8B030D-6E8A-4147-A177-3AD203B41FA5}">
                      <a16:colId xmlns:a16="http://schemas.microsoft.com/office/drawing/2014/main" val="20003"/>
                    </a:ext>
                  </a:extLst>
                </a:gridCol>
              </a:tblGrid>
              <a:tr h="274810">
                <a:tc gridSpan="4">
                  <a:txBody>
                    <a:bodyPr/>
                    <a:lstStyle/>
                    <a:p>
                      <a:pPr algn="ctr" rtl="1">
                        <a:lnSpc>
                          <a:spcPct val="100000"/>
                        </a:lnSpc>
                        <a:defRPr/>
                      </a:pPr>
                      <a:r>
                        <a:rPr lang="ar-EG" sz="1800" b="1" dirty="0">
                          <a:solidFill>
                            <a:srgbClr val="000000"/>
                          </a:solidFill>
                          <a:latin typeface="Sakkal Majalla" panose="02000000000000000000" pitchFamily="2" charset="-78"/>
                          <a:ea typeface="GE SS Two Light"/>
                          <a:cs typeface="Sakkal Majalla" panose="02000000000000000000" pitchFamily="2" charset="-78"/>
                          <a:sym typeface="GE SS Two Light"/>
                          <a:rtl/>
                        </a:rPr>
                        <a:t>البيانات الوظيفية</a:t>
                      </a:r>
                      <a:endParaRPr lang="en-US" sz="1800" b="1" dirty="0">
                        <a:latin typeface="Sakkal Majalla" panose="02000000000000000000" pitchFamily="2" charset="-78"/>
                        <a:cs typeface="Sakkal Majalla" panose="02000000000000000000" pitchFamily="2" charset="-78"/>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C2C6"/>
                    </a:solidFill>
                  </a:tcPr>
                </a:tc>
                <a:tc hMerge="1">
                  <a:txBody>
                    <a:bodyPr/>
                    <a:lstStyle/>
                    <a:p>
                      <a:pPr algn="ctr" rtl="1">
                        <a:lnSpc>
                          <a:spcPts val="1679"/>
                        </a:lnSpc>
                        <a:defRPr/>
                      </a:pPr>
                      <a:r>
                        <a:rPr lang="ar-EG" sz="1200">
                          <a:solidFill>
                            <a:srgbClr val="000000"/>
                          </a:solidFill>
                          <a:latin typeface="GE SS Two Light"/>
                          <a:ea typeface="GE SS Two Light"/>
                          <a:cs typeface="GE SS Two Light"/>
                          <a:sym typeface="GE SS Two Light"/>
                          <a:rtl/>
                        </a:rPr>
                        <a:t>البيانات الوظيفية</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ECDE"/>
                    </a:solidFill>
                  </a:tcPr>
                </a:tc>
                <a:tc hMerge="1">
                  <a:txBody>
                    <a:bodyPr/>
                    <a:lstStyle/>
                    <a:p>
                      <a:pPr algn="ctr" rtl="1">
                        <a:lnSpc>
                          <a:spcPts val="1679"/>
                        </a:lnSpc>
                        <a:defRPr/>
                      </a:pPr>
                      <a:r>
                        <a:rPr lang="ar-EG" sz="1200">
                          <a:solidFill>
                            <a:srgbClr val="000000"/>
                          </a:solidFill>
                          <a:latin typeface="GE SS Two Light"/>
                          <a:ea typeface="GE SS Two Light"/>
                          <a:cs typeface="GE SS Two Light"/>
                          <a:sym typeface="GE SS Two Light"/>
                          <a:rtl/>
                        </a:rPr>
                        <a:t>البيانات الوظيفية</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ECDE"/>
                    </a:solidFill>
                  </a:tcPr>
                </a:tc>
                <a:tc hMerge="1">
                  <a:txBody>
                    <a:bodyPr/>
                    <a:lstStyle/>
                    <a:p>
                      <a:pPr algn="ctr" rtl="1">
                        <a:lnSpc>
                          <a:spcPts val="1679"/>
                        </a:lnSpc>
                        <a:defRPr/>
                      </a:pPr>
                      <a:r>
                        <a:rPr lang="ar-EG" sz="1200">
                          <a:solidFill>
                            <a:srgbClr val="000000"/>
                          </a:solidFill>
                          <a:latin typeface="GE SS Two Light"/>
                          <a:ea typeface="GE SS Two Light"/>
                          <a:cs typeface="GE SS Two Light"/>
                          <a:sym typeface="GE SS Two Light"/>
                          <a:rtl/>
                        </a:rPr>
                        <a:t>البيانات الوظيفية</a:t>
                      </a:r>
                      <a:endParaRPr lang="en-US" sz="1100"/>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ECDE"/>
                    </a:solidFill>
                  </a:tcPr>
                </a:tc>
                <a:extLst>
                  <a:ext uri="{0D108BD9-81ED-4DB2-BD59-A6C34878D82A}">
                    <a16:rowId xmlns:a16="http://schemas.microsoft.com/office/drawing/2014/main" val="10000"/>
                  </a:ext>
                </a:extLst>
              </a:tr>
              <a:tr h="274810">
                <a:tc>
                  <a:txBody>
                    <a:bodyPr/>
                    <a:lstStyle/>
                    <a:p>
                      <a:pPr algn="ctr" rtl="1">
                        <a:lnSpc>
                          <a:spcPct val="100000"/>
                        </a:lnSpc>
                        <a:defRPr/>
                      </a:pPr>
                      <a:r>
                        <a:rPr lang="ar-EG" sz="1800" b="1">
                          <a:solidFill>
                            <a:srgbClr val="000000"/>
                          </a:solidFill>
                          <a:latin typeface="Sakkal Majalla" panose="02000000000000000000" pitchFamily="2" charset="-78"/>
                          <a:ea typeface="GE SS Two Light"/>
                          <a:cs typeface="Sakkal Majalla" panose="02000000000000000000" pitchFamily="2" charset="-78"/>
                          <a:sym typeface="GE SS Two Light"/>
                          <a:rtl/>
                        </a:rPr>
                        <a:t>المرحلة الدراسية</a:t>
                      </a:r>
                      <a:endParaRPr lang="en-US" sz="1800" b="1">
                        <a:latin typeface="Sakkal Majalla" panose="02000000000000000000" pitchFamily="2" charset="-78"/>
                        <a:cs typeface="Sakkal Majalla" panose="02000000000000000000" pitchFamily="2" charset="-78"/>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1">
                        <a:lnSpc>
                          <a:spcPct val="100000"/>
                        </a:lnSpc>
                        <a:defRPr/>
                      </a:pPr>
                      <a:r>
                        <a:rPr lang="ar-EG" sz="1800" b="1">
                          <a:solidFill>
                            <a:srgbClr val="000000"/>
                          </a:solidFill>
                          <a:latin typeface="Sakkal Majalla" panose="02000000000000000000" pitchFamily="2" charset="-78"/>
                          <a:ea typeface="GE SS Two Light"/>
                          <a:cs typeface="Sakkal Majalla" panose="02000000000000000000" pitchFamily="2" charset="-78"/>
                          <a:sym typeface="GE SS Two Light"/>
                          <a:rtl/>
                        </a:rPr>
                        <a:t>تاريخ المباشرة</a:t>
                      </a:r>
                      <a:endParaRPr lang="en-US" sz="1800" b="1">
                        <a:latin typeface="Sakkal Majalla" panose="02000000000000000000" pitchFamily="2" charset="-78"/>
                        <a:cs typeface="Sakkal Majalla" panose="02000000000000000000" pitchFamily="2" charset="-78"/>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1">
                        <a:lnSpc>
                          <a:spcPct val="100000"/>
                        </a:lnSpc>
                        <a:defRPr/>
                      </a:pPr>
                      <a:r>
                        <a:rPr lang="ar-EG" sz="1800" b="1">
                          <a:solidFill>
                            <a:srgbClr val="000000"/>
                          </a:solidFill>
                          <a:latin typeface="Sakkal Majalla" panose="02000000000000000000" pitchFamily="2" charset="-78"/>
                          <a:ea typeface="GE SS Two Light"/>
                          <a:cs typeface="Sakkal Majalla" panose="02000000000000000000" pitchFamily="2" charset="-78"/>
                          <a:sym typeface="GE SS Two Light"/>
                          <a:rtl/>
                        </a:rPr>
                        <a:t>المستوى / الدرجة</a:t>
                      </a:r>
                      <a:endParaRPr lang="en-US" sz="1800" b="1">
                        <a:latin typeface="Sakkal Majalla" panose="02000000000000000000" pitchFamily="2" charset="-78"/>
                        <a:cs typeface="Sakkal Majalla" panose="02000000000000000000" pitchFamily="2" charset="-78"/>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1">
                        <a:lnSpc>
                          <a:spcPct val="100000"/>
                        </a:lnSpc>
                        <a:defRPr/>
                      </a:pPr>
                      <a:r>
                        <a:rPr lang="ar-EG" sz="1800" b="1" dirty="0">
                          <a:solidFill>
                            <a:srgbClr val="000000"/>
                          </a:solidFill>
                          <a:latin typeface="Sakkal Majalla" panose="02000000000000000000" pitchFamily="2" charset="-78"/>
                          <a:ea typeface="GE SS Two Light"/>
                          <a:cs typeface="Sakkal Majalla" panose="02000000000000000000" pitchFamily="2" charset="-78"/>
                          <a:sym typeface="GE SS Two Light"/>
                          <a:rtl/>
                        </a:rPr>
                        <a:t>مسمى الوظيفة</a:t>
                      </a:r>
                      <a:endParaRPr lang="en-US" sz="1800" b="1" dirty="0">
                        <a:latin typeface="Sakkal Majalla" panose="02000000000000000000" pitchFamily="2" charset="-78"/>
                        <a:cs typeface="Sakkal Majalla" panose="02000000000000000000" pitchFamily="2" charset="-78"/>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928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0" dirty="0">
                        <a:latin typeface="Sakkal Majalla" panose="02000000000000000000" pitchFamily="2" charset="-78"/>
                        <a:cs typeface="Sakkal Majalla" panose="02000000000000000000" pitchFamily="2" charset="-78"/>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0" dirty="0">
                        <a:latin typeface="Sakkal Majalla" panose="02000000000000000000" pitchFamily="2" charset="-78"/>
                        <a:cs typeface="Sakkal Majalla" panose="02000000000000000000" pitchFamily="2" charset="-78"/>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0" dirty="0">
                        <a:latin typeface="Sakkal Majalla" panose="02000000000000000000" pitchFamily="2" charset="-78"/>
                        <a:cs typeface="Sakkal Majalla" panose="02000000000000000000" pitchFamily="2" charset="-78"/>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800" b="0" dirty="0">
                        <a:latin typeface="Sakkal Majalla" panose="02000000000000000000" pitchFamily="2" charset="-78"/>
                        <a:cs typeface="Sakkal Majalla" panose="02000000000000000000" pitchFamily="2" charset="-78"/>
                      </a:endParaRPr>
                    </a:p>
                  </a:txBody>
                  <a:tcPr marL="0" marR="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9" name="مربع نص 8">
            <a:extLst>
              <a:ext uri="{FF2B5EF4-FFF2-40B4-BE49-F238E27FC236}">
                <a16:creationId xmlns:a16="http://schemas.microsoft.com/office/drawing/2014/main" id="{EC8AB765-FCA8-3DC6-4134-E75720C3F09D}"/>
              </a:ext>
            </a:extLst>
          </p:cNvPr>
          <p:cNvSpPr txBox="1"/>
          <p:nvPr/>
        </p:nvSpPr>
        <p:spPr>
          <a:xfrm>
            <a:off x="2786708" y="926607"/>
            <a:ext cx="1983081" cy="369332"/>
          </a:xfrm>
          <a:prstGeom prst="rect">
            <a:avLst/>
          </a:prstGeom>
          <a:solidFill>
            <a:srgbClr val="D4C2C6"/>
          </a:solidFill>
          <a:effectLst>
            <a:outerShdw blurRad="76200" dir="18900000" sy="23000" kx="-1200000" algn="bl" rotWithShape="0">
              <a:prstClr val="black">
                <a:alpha val="20000"/>
              </a:prstClr>
            </a:outerShdw>
          </a:effectLst>
        </p:spPr>
        <p:txBody>
          <a:bodyPr wrap="square" lIns="0" tIns="0" rIns="0" bIns="0" rtlCol="0" anchor="t">
            <a:spAutoFit/>
          </a:bodyPr>
          <a:lstStyle>
            <a:defPPr>
              <a:defRPr lang="en-US"/>
            </a:defPPr>
            <a:lvl1pPr lvl="0" indent="0" algn="ctr" rtl="1">
              <a:lnSpc>
                <a:spcPts val="4200"/>
              </a:lnSpc>
              <a:spcBef>
                <a:spcPct val="0"/>
              </a:spcBef>
              <a:defRPr sz="3000" u="none" strike="noStrike" spc="-33">
                <a:latin typeface="GE SS Two Light"/>
                <a:ea typeface="GE SS Two Light"/>
                <a:cs typeface="GE SS Two Light"/>
                <a:rtl/>
              </a:defRPr>
            </a:lvl1pPr>
          </a:lstStyle>
          <a:p>
            <a:pPr>
              <a:lnSpc>
                <a:spcPct val="100000"/>
              </a:lnSpc>
            </a:pPr>
            <a:r>
              <a:rPr lang="ar-SA" sz="2400" b="1" dirty="0">
                <a:latin typeface="Sakkal Majalla" panose="02000000000000000000" pitchFamily="2" charset="-78"/>
                <a:cs typeface="Sakkal Majalla" panose="02000000000000000000" pitchFamily="2" charset="-78"/>
              </a:rPr>
              <a:t>السيرة الذاتية</a:t>
            </a:r>
            <a:endParaRPr lang="en-US" sz="2400" b="1" dirty="0">
              <a:latin typeface="Sakkal Majalla" panose="02000000000000000000" pitchFamily="2" charset="-78"/>
              <a:cs typeface="Sakkal Majalla" panose="02000000000000000000" pitchFamily="2" charset="-78"/>
            </a:endParaRPr>
          </a:p>
        </p:txBody>
      </p:sp>
      <p:pic>
        <p:nvPicPr>
          <p:cNvPr id="10" name="صورة 9">
            <a:extLst>
              <a:ext uri="{FF2B5EF4-FFF2-40B4-BE49-F238E27FC236}">
                <a16:creationId xmlns:a16="http://schemas.microsoft.com/office/drawing/2014/main" id="{AA60EE2A-3A2F-10FB-0AB9-05C564DFFB90}"/>
              </a:ext>
            </a:extLst>
          </p:cNvPr>
          <p:cNvPicPr>
            <a:picLocks noChangeAspect="1"/>
          </p:cNvPicPr>
          <p:nvPr/>
        </p:nvPicPr>
        <p:blipFill>
          <a:blip r:embed="rId6">
            <a:extLst>
              <a:ext uri="{28A0092B-C50C-407E-A947-70E740481C1C}">
                <a14:useLocalDpi xmlns:a14="http://schemas.microsoft.com/office/drawing/2010/main" val="0"/>
              </a:ext>
            </a:extLst>
          </a:blip>
          <a:srcRect l="38986" t="28665" r="39095" b="27591"/>
          <a:stretch/>
        </p:blipFill>
        <p:spPr>
          <a:xfrm>
            <a:off x="585886" y="8343159"/>
            <a:ext cx="1889765" cy="2111252"/>
          </a:xfrm>
          <a:prstGeom prst="rect">
            <a:avLst/>
          </a:prstGeom>
        </p:spPr>
      </p:pic>
      <p:sp>
        <p:nvSpPr>
          <p:cNvPr id="11" name="TextBox 2">
            <a:extLst>
              <a:ext uri="{FF2B5EF4-FFF2-40B4-BE49-F238E27FC236}">
                <a16:creationId xmlns:a16="http://schemas.microsoft.com/office/drawing/2014/main" id="{0E5FD040-4D5E-BA8F-DEC5-FB21DE4B1190}"/>
              </a:ext>
            </a:extLst>
          </p:cNvPr>
          <p:cNvSpPr txBox="1"/>
          <p:nvPr/>
        </p:nvSpPr>
        <p:spPr>
          <a:xfrm>
            <a:off x="826722" y="2264946"/>
            <a:ext cx="4530451" cy="338554"/>
          </a:xfrm>
          <a:prstGeom prst="rect">
            <a:avLst/>
          </a:prstGeom>
          <a:noFill/>
        </p:spPr>
        <p:txBody>
          <a:bodyPr wrap="square">
            <a:spAutoFit/>
          </a:bodyPr>
          <a:lstStyle/>
          <a:p>
            <a:pPr algn="ctr"/>
            <a:endParaRPr/>
          </a:p>
        </p:txBody>
      </p:sp>
      <p:sp>
        <p:nvSpPr>
          <p:cNvPr id="12" name="TextBox 2">
            <a:extLst>
              <a:ext uri="{FF2B5EF4-FFF2-40B4-BE49-F238E27FC236}">
                <a16:creationId xmlns:a16="http://schemas.microsoft.com/office/drawing/2014/main" id="{89125714-D81A-C4B4-B9D1-BF184AC31640}"/>
              </a:ext>
            </a:extLst>
          </p:cNvPr>
          <p:cNvSpPr txBox="1"/>
          <p:nvPr/>
        </p:nvSpPr>
        <p:spPr>
          <a:xfrm>
            <a:off x="826722" y="2546353"/>
            <a:ext cx="4530451" cy="338554"/>
          </a:xfrm>
          <a:prstGeom prst="rect">
            <a:avLst/>
          </a:prstGeom>
          <a:noFill/>
        </p:spPr>
        <p:txBody>
          <a:bodyPr wrap="square">
            <a:spAutoFit/>
          </a:bodyPr>
          <a:lstStyle/>
          <a:p>
            <a:pPr algn="ctr"/>
            <a:r>
              <a:rPr lang="en-US" sz="1600" dirty="0"/>
              <a:t>خالد</a:t>
            </a:r>
          </a:p>
        </p:txBody>
      </p:sp>
      <p:sp>
        <p:nvSpPr>
          <p:cNvPr id="13" name="TextBox 2">
            <a:extLst>
              <a:ext uri="{FF2B5EF4-FFF2-40B4-BE49-F238E27FC236}">
                <a16:creationId xmlns:a16="http://schemas.microsoft.com/office/drawing/2014/main" id="{040C24C6-C609-80D6-90A6-0287C7D369F5}"/>
              </a:ext>
            </a:extLst>
          </p:cNvPr>
          <p:cNvSpPr txBox="1"/>
          <p:nvPr/>
        </p:nvSpPr>
        <p:spPr>
          <a:xfrm>
            <a:off x="826722" y="3781594"/>
            <a:ext cx="4530451" cy="338554"/>
          </a:xfrm>
          <a:prstGeom prst="rect">
            <a:avLst/>
          </a:prstGeom>
          <a:noFill/>
        </p:spPr>
        <p:txBody>
          <a:bodyPr wrap="square">
            <a:spAutoFit/>
          </a:bodyPr>
          <a:lstStyle/>
          <a:p>
            <a:pPr algn="ctr"/>
            <a:endParaRPr/>
          </a:p>
        </p:txBody>
      </p:sp>
      <p:sp>
        <p:nvSpPr>
          <p:cNvPr id="14" name="TextBox 6">
            <a:extLst>
              <a:ext uri="{FF2B5EF4-FFF2-40B4-BE49-F238E27FC236}">
                <a16:creationId xmlns:a16="http://schemas.microsoft.com/office/drawing/2014/main" id="{0BCC914F-8FD7-B58F-ACBF-7ED39B6FE9BD}"/>
              </a:ext>
            </a:extLst>
          </p:cNvPr>
          <p:cNvSpPr txBox="1"/>
          <p:nvPr/>
        </p:nvSpPr>
        <p:spPr>
          <a:xfrm>
            <a:off x="826722" y="2827759"/>
            <a:ext cx="4530451" cy="338554"/>
          </a:xfrm>
          <a:prstGeom prst="rect">
            <a:avLst/>
          </a:prstGeom>
          <a:noFill/>
        </p:spPr>
        <p:txBody>
          <a:bodyPr wrap="square">
            <a:spAutoFit/>
          </a:bodyPr>
          <a:lstStyle/>
          <a:p>
            <a:pPr algn="ctr"/>
            <a:endParaRPr/>
          </a:p>
        </p:txBody>
      </p:sp>
      <p:sp>
        <p:nvSpPr>
          <p:cNvPr id="15" name="TextBox 2">
            <a:extLst>
              <a:ext uri="{FF2B5EF4-FFF2-40B4-BE49-F238E27FC236}">
                <a16:creationId xmlns:a16="http://schemas.microsoft.com/office/drawing/2014/main" id="{B8549790-191C-B0D5-C6C7-2F81E2D47496}"/>
              </a:ext>
            </a:extLst>
          </p:cNvPr>
          <p:cNvSpPr txBox="1"/>
          <p:nvPr/>
        </p:nvSpPr>
        <p:spPr>
          <a:xfrm>
            <a:off x="826722" y="3367573"/>
            <a:ext cx="4530451" cy="338554"/>
          </a:xfrm>
          <a:prstGeom prst="rect">
            <a:avLst/>
          </a:prstGeom>
          <a:noFill/>
        </p:spPr>
        <p:txBody>
          <a:bodyPr wrap="square">
            <a:spAutoFit/>
          </a:bodyPr>
          <a:lstStyle/>
          <a:p>
            <a:pPr algn="ctr"/>
            <a:endParaRPr/>
          </a:p>
        </p:txBody>
      </p:sp>
      <p:sp>
        <p:nvSpPr>
          <p:cNvPr id="16" name="TextBox 2">
            <a:extLst>
              <a:ext uri="{FF2B5EF4-FFF2-40B4-BE49-F238E27FC236}">
                <a16:creationId xmlns:a16="http://schemas.microsoft.com/office/drawing/2014/main" id="{FD7B4A86-DE62-3620-E6DF-17D668BA9648}"/>
              </a:ext>
            </a:extLst>
          </p:cNvPr>
          <p:cNvSpPr txBox="1"/>
          <p:nvPr/>
        </p:nvSpPr>
        <p:spPr>
          <a:xfrm>
            <a:off x="826722" y="3086167"/>
            <a:ext cx="4530451" cy="338554"/>
          </a:xfrm>
          <a:prstGeom prst="rect">
            <a:avLst/>
          </a:prstGeom>
          <a:noFill/>
        </p:spPr>
        <p:txBody>
          <a:bodyPr wrap="square">
            <a:spAutoFit/>
          </a:bodyPr>
          <a:lstStyle/>
          <a:p>
            <a:pPr algn="ctr"/>
            <a:endParaRPr/>
          </a:p>
        </p:txBody>
      </p:sp>
      <p:sp>
        <p:nvSpPr>
          <p:cNvPr id="17" name="TextBox 14">
            <a:extLst>
              <a:ext uri="{FF2B5EF4-FFF2-40B4-BE49-F238E27FC236}">
                <a16:creationId xmlns:a16="http://schemas.microsoft.com/office/drawing/2014/main" id="{D2C886FD-833E-5E53-2560-D3FFCBECB064}"/>
              </a:ext>
            </a:extLst>
          </p:cNvPr>
          <p:cNvSpPr txBox="1"/>
          <p:nvPr/>
        </p:nvSpPr>
        <p:spPr>
          <a:xfrm>
            <a:off x="882650" y="5307354"/>
            <a:ext cx="907328" cy="338554"/>
          </a:xfrm>
          <a:prstGeom prst="rect">
            <a:avLst/>
          </a:prstGeom>
          <a:noFill/>
        </p:spPr>
        <p:txBody>
          <a:bodyPr wrap="square">
            <a:spAutoFit/>
          </a:bodyPr>
          <a:lstStyle/>
          <a:p>
            <a:pPr algn="ctr"/>
            <a:endParaRPr/>
          </a:p>
        </p:txBody>
      </p:sp>
      <p:sp>
        <p:nvSpPr>
          <p:cNvPr id="18" name="TextBox 16">
            <a:extLst>
              <a:ext uri="{FF2B5EF4-FFF2-40B4-BE49-F238E27FC236}">
                <a16:creationId xmlns:a16="http://schemas.microsoft.com/office/drawing/2014/main" id="{F860DE53-2015-D429-BA80-D9023F7894A8}"/>
              </a:ext>
            </a:extLst>
          </p:cNvPr>
          <p:cNvSpPr txBox="1"/>
          <p:nvPr/>
        </p:nvSpPr>
        <p:spPr>
          <a:xfrm>
            <a:off x="1878027" y="5307354"/>
            <a:ext cx="919354" cy="338554"/>
          </a:xfrm>
          <a:prstGeom prst="rect">
            <a:avLst/>
          </a:prstGeom>
          <a:noFill/>
        </p:spPr>
        <p:txBody>
          <a:bodyPr wrap="none">
            <a:spAutoFit/>
          </a:bodyPr>
          <a:lstStyle/>
          <a:p>
            <a:pPr algn="ctr"/>
            <a:endParaRPr/>
          </a:p>
        </p:txBody>
      </p:sp>
      <p:sp>
        <p:nvSpPr>
          <p:cNvPr id="19" name="TextBox 18">
            <a:extLst>
              <a:ext uri="{FF2B5EF4-FFF2-40B4-BE49-F238E27FC236}">
                <a16:creationId xmlns:a16="http://schemas.microsoft.com/office/drawing/2014/main" id="{C786562F-C025-6917-674C-B21E2A606554}"/>
              </a:ext>
            </a:extLst>
          </p:cNvPr>
          <p:cNvSpPr txBox="1"/>
          <p:nvPr/>
        </p:nvSpPr>
        <p:spPr>
          <a:xfrm>
            <a:off x="2821023" y="5305969"/>
            <a:ext cx="1015599" cy="338554"/>
          </a:xfrm>
          <a:prstGeom prst="rect">
            <a:avLst/>
          </a:prstGeom>
          <a:noFill/>
        </p:spPr>
        <p:txBody>
          <a:bodyPr wrap="none">
            <a:spAutoFit/>
          </a:bodyPr>
          <a:lstStyle/>
          <a:p>
            <a:pPr algn="ctr"/>
            <a:endParaRPr/>
          </a:p>
        </p:txBody>
      </p:sp>
      <p:sp>
        <p:nvSpPr>
          <p:cNvPr id="20" name="TextBox 20">
            <a:extLst>
              <a:ext uri="{FF2B5EF4-FFF2-40B4-BE49-F238E27FC236}">
                <a16:creationId xmlns:a16="http://schemas.microsoft.com/office/drawing/2014/main" id="{5260F4B2-323E-0EE7-2950-5AD671DEA90B}"/>
              </a:ext>
            </a:extLst>
          </p:cNvPr>
          <p:cNvSpPr txBox="1"/>
          <p:nvPr/>
        </p:nvSpPr>
        <p:spPr>
          <a:xfrm>
            <a:off x="3909424" y="5305969"/>
            <a:ext cx="825739" cy="338554"/>
          </a:xfrm>
          <a:prstGeom prst="rect">
            <a:avLst/>
          </a:prstGeom>
          <a:noFill/>
        </p:spPr>
        <p:txBody>
          <a:bodyPr wrap="none">
            <a:spAutoFit/>
          </a:bodyPr>
          <a:lstStyle/>
          <a:p>
            <a:pPr algn="ctr"/>
            <a:endParaRPr/>
          </a:p>
        </p:txBody>
      </p:sp>
      <p:sp>
        <p:nvSpPr>
          <p:cNvPr id="21" name="TextBox 22">
            <a:extLst>
              <a:ext uri="{FF2B5EF4-FFF2-40B4-BE49-F238E27FC236}">
                <a16:creationId xmlns:a16="http://schemas.microsoft.com/office/drawing/2014/main" id="{6BA8FA1A-DE3E-3923-2CE0-563C9578B972}"/>
              </a:ext>
            </a:extLst>
          </p:cNvPr>
          <p:cNvSpPr txBox="1"/>
          <p:nvPr/>
        </p:nvSpPr>
        <p:spPr>
          <a:xfrm>
            <a:off x="4823212" y="5305969"/>
            <a:ext cx="1067921" cy="338554"/>
          </a:xfrm>
          <a:prstGeom prst="rect">
            <a:avLst/>
          </a:prstGeom>
          <a:noFill/>
        </p:spPr>
        <p:txBody>
          <a:bodyPr wrap="none">
            <a:spAutoFit/>
          </a:bodyPr>
          <a:lstStyle/>
          <a:p>
            <a:pPr algn="ctr"/>
            <a:endParaRPr/>
          </a:p>
        </p:txBody>
      </p:sp>
      <p:sp>
        <p:nvSpPr>
          <p:cNvPr id="22" name="TextBox 24">
            <a:extLst>
              <a:ext uri="{FF2B5EF4-FFF2-40B4-BE49-F238E27FC236}">
                <a16:creationId xmlns:a16="http://schemas.microsoft.com/office/drawing/2014/main" id="{FFA1EF6E-C1D4-A422-A3BF-1D026872444E}"/>
              </a:ext>
            </a:extLst>
          </p:cNvPr>
          <p:cNvSpPr txBox="1"/>
          <p:nvPr/>
        </p:nvSpPr>
        <p:spPr>
          <a:xfrm>
            <a:off x="5885722" y="5305969"/>
            <a:ext cx="941989" cy="338554"/>
          </a:xfrm>
          <a:prstGeom prst="rect">
            <a:avLst/>
          </a:prstGeom>
          <a:noFill/>
        </p:spPr>
        <p:txBody>
          <a:bodyPr wrap="none">
            <a:spAutoFit/>
          </a:bodyPr>
          <a:lstStyle/>
          <a:p>
            <a:pPr algn="ctr"/>
            <a:endParaRPr/>
          </a:p>
        </p:txBody>
      </p:sp>
      <p:sp>
        <p:nvSpPr>
          <p:cNvPr id="23" name="TextBox 26">
            <a:extLst>
              <a:ext uri="{FF2B5EF4-FFF2-40B4-BE49-F238E27FC236}">
                <a16:creationId xmlns:a16="http://schemas.microsoft.com/office/drawing/2014/main" id="{B06014A1-BB23-BA81-126B-0B340E5C5C7B}"/>
              </a:ext>
            </a:extLst>
          </p:cNvPr>
          <p:cNvSpPr txBox="1"/>
          <p:nvPr/>
        </p:nvSpPr>
        <p:spPr>
          <a:xfrm>
            <a:off x="826722" y="6577255"/>
            <a:ext cx="1503728" cy="338554"/>
          </a:xfrm>
          <a:prstGeom prst="rect">
            <a:avLst/>
          </a:prstGeom>
          <a:noFill/>
        </p:spPr>
        <p:txBody>
          <a:bodyPr wrap="square">
            <a:spAutoFit/>
          </a:bodyPr>
          <a:lstStyle/>
          <a:p>
            <a:pPr algn="ctr"/>
            <a:endParaRPr/>
          </a:p>
        </p:txBody>
      </p:sp>
      <p:sp>
        <p:nvSpPr>
          <p:cNvPr id="24" name="TextBox 28">
            <a:extLst>
              <a:ext uri="{FF2B5EF4-FFF2-40B4-BE49-F238E27FC236}">
                <a16:creationId xmlns:a16="http://schemas.microsoft.com/office/drawing/2014/main" id="{82987FFA-96A5-EDBA-B372-F63C3B77518C}"/>
              </a:ext>
            </a:extLst>
          </p:cNvPr>
          <p:cNvSpPr txBox="1"/>
          <p:nvPr/>
        </p:nvSpPr>
        <p:spPr>
          <a:xfrm>
            <a:off x="2349220" y="6597820"/>
            <a:ext cx="1487402" cy="338554"/>
          </a:xfrm>
          <a:prstGeom prst="rect">
            <a:avLst/>
          </a:prstGeom>
          <a:noFill/>
        </p:spPr>
        <p:txBody>
          <a:bodyPr wrap="square">
            <a:spAutoFit/>
          </a:bodyPr>
          <a:lstStyle/>
          <a:p>
            <a:pPr algn="ctr"/>
            <a:endParaRPr/>
          </a:p>
        </p:txBody>
      </p:sp>
      <p:sp>
        <p:nvSpPr>
          <p:cNvPr id="25" name="TextBox 30">
            <a:extLst>
              <a:ext uri="{FF2B5EF4-FFF2-40B4-BE49-F238E27FC236}">
                <a16:creationId xmlns:a16="http://schemas.microsoft.com/office/drawing/2014/main" id="{D723864B-FC2C-D7F9-7CB1-3E9AB8DE6979}"/>
              </a:ext>
            </a:extLst>
          </p:cNvPr>
          <p:cNvSpPr txBox="1"/>
          <p:nvPr/>
        </p:nvSpPr>
        <p:spPr>
          <a:xfrm>
            <a:off x="3852948" y="6577255"/>
            <a:ext cx="1487402" cy="338554"/>
          </a:xfrm>
          <a:prstGeom prst="rect">
            <a:avLst/>
          </a:prstGeom>
          <a:noFill/>
        </p:spPr>
        <p:txBody>
          <a:bodyPr wrap="square">
            <a:spAutoFit/>
          </a:bodyPr>
          <a:lstStyle/>
          <a:p>
            <a:pPr algn="ctr"/>
            <a:endParaRPr/>
          </a:p>
        </p:txBody>
      </p:sp>
      <p:sp>
        <p:nvSpPr>
          <p:cNvPr id="26" name="TextBox 32">
            <a:extLst>
              <a:ext uri="{FF2B5EF4-FFF2-40B4-BE49-F238E27FC236}">
                <a16:creationId xmlns:a16="http://schemas.microsoft.com/office/drawing/2014/main" id="{D4F37C35-E8E5-E5E5-BFC6-808161044863}"/>
              </a:ext>
            </a:extLst>
          </p:cNvPr>
          <p:cNvSpPr txBox="1"/>
          <p:nvPr/>
        </p:nvSpPr>
        <p:spPr>
          <a:xfrm>
            <a:off x="5356676" y="6597820"/>
            <a:ext cx="1471035" cy="338554"/>
          </a:xfrm>
          <a:prstGeom prst="rect">
            <a:avLst/>
          </a:prstGeom>
          <a:noFill/>
        </p:spPr>
        <p:txBody>
          <a:bodyPr wrap="square">
            <a:spAutoFit/>
          </a:bodyPr>
          <a:lstStyle/>
          <a:p>
            <a:pPr algn="ctr"/>
            <a:endParaRPr/>
          </a:p>
        </p:txBody>
      </p:sp>
    </p:spTree>
    <p:extLst>
      <p:ext uri="{BB962C8B-B14F-4D97-AF65-F5344CB8AC3E}">
        <p14:creationId xmlns:p14="http://schemas.microsoft.com/office/powerpoint/2010/main" val="17450562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D461D-458C-C7F9-0D93-C2BAC5FF17C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A097FAE-E331-1116-669D-4146A5B2C9ED}"/>
              </a:ext>
            </a:extLst>
          </p:cNvPr>
          <p:cNvSpPr>
            <a:spLocks noGrp="1" noRot="1" noMove="1" noResize="1" noEditPoints="1" noAdjustHandles="1" noChangeArrowheads="1" noChangeShapeType="1"/>
          </p:cNvSpPr>
          <p:nvPr/>
        </p:nvSpPr>
        <p:spPr>
          <a:xfrm>
            <a:off x="0" y="0"/>
            <a:ext cx="7560000" cy="10692000"/>
          </a:xfrm>
          <a:custGeom>
            <a:avLst/>
            <a:gdLst/>
            <a:ahLst/>
            <a:cxnLst/>
            <a:rect l="l" t="t" r="r" b="b"/>
            <a:pathLst>
              <a:path w="7560000" h="10692000">
                <a:moveTo>
                  <a:pt x="0" y="0"/>
                </a:moveTo>
                <a:lnTo>
                  <a:pt x="7560000" y="0"/>
                </a:lnTo>
                <a:lnTo>
                  <a:pt x="7560000" y="10692000"/>
                </a:lnTo>
                <a:lnTo>
                  <a:pt x="0" y="10692000"/>
                </a:lnTo>
                <a:lnTo>
                  <a:pt x="0" y="0"/>
                </a:lnTo>
                <a:close/>
              </a:path>
            </a:pathLst>
          </a:custGeom>
          <a:blipFill>
            <a:blip r:embed="rId2"/>
            <a:stretch>
              <a:fillRect l="-781" t="-13832" r="-781" b="-13832"/>
            </a:stretch>
          </a:blipFill>
        </p:spPr>
        <p:txBody>
          <a:bodyPr/>
          <a:lstStyle/>
          <a:p>
            <a:endParaRPr lang="ar-SA" dirty="0"/>
          </a:p>
        </p:txBody>
      </p:sp>
      <p:sp>
        <p:nvSpPr>
          <p:cNvPr id="3" name="Freeform 3">
            <a:extLst>
              <a:ext uri="{FF2B5EF4-FFF2-40B4-BE49-F238E27FC236}">
                <a16:creationId xmlns:a16="http://schemas.microsoft.com/office/drawing/2014/main" id="{256E4866-DB62-EA81-37C1-0A52E6672DA8}"/>
              </a:ext>
            </a:extLst>
          </p:cNvPr>
          <p:cNvSpPr>
            <a:spLocks noGrp="1" noRot="1" noMove="1" noResize="1" noEditPoints="1" noAdjustHandles="1" noChangeArrowheads="1" noChangeShapeType="1"/>
          </p:cNvSpPr>
          <p:nvPr/>
        </p:nvSpPr>
        <p:spPr>
          <a:xfrm>
            <a:off x="6654829" y="7724227"/>
            <a:ext cx="905171" cy="2967773"/>
          </a:xfrm>
          <a:custGeom>
            <a:avLst/>
            <a:gdLst/>
            <a:ahLst/>
            <a:cxnLst/>
            <a:rect l="l" t="t" r="r" b="b"/>
            <a:pathLst>
              <a:path w="905171" h="2967773">
                <a:moveTo>
                  <a:pt x="0" y="0"/>
                </a:moveTo>
                <a:lnTo>
                  <a:pt x="905171" y="0"/>
                </a:lnTo>
                <a:lnTo>
                  <a:pt x="905171" y="2967773"/>
                </a:lnTo>
                <a:lnTo>
                  <a:pt x="0" y="2967773"/>
                </a:lnTo>
                <a:lnTo>
                  <a:pt x="0" y="0"/>
                </a:lnTo>
                <a:close/>
              </a:path>
            </a:pathLst>
          </a:custGeom>
          <a:blipFill>
            <a:blip r:embed="rId3">
              <a:alphaModFix amt="83000"/>
              <a:extLst>
                <a:ext uri="{96DAC541-7B7A-43D3-8B79-37D633B846F1}">
                  <asvg:svgBlip xmlns:asvg="http://schemas.microsoft.com/office/drawing/2016/SVG/main" r:embed="rId4"/>
                </a:ext>
              </a:extLst>
            </a:blip>
            <a:stretch>
              <a:fillRect/>
            </a:stretch>
          </a:blipFill>
        </p:spPr>
        <p:txBody>
          <a:bodyPr/>
          <a:lstStyle/>
          <a:p>
            <a:endParaRPr lang="ar-SA"/>
          </a:p>
        </p:txBody>
      </p:sp>
      <p:sp>
        <p:nvSpPr>
          <p:cNvPr id="4" name="Freeform 4">
            <a:extLst>
              <a:ext uri="{FF2B5EF4-FFF2-40B4-BE49-F238E27FC236}">
                <a16:creationId xmlns:a16="http://schemas.microsoft.com/office/drawing/2014/main" id="{15CD7919-87C3-001D-4ECC-8B03D732B8E8}"/>
              </a:ext>
            </a:extLst>
          </p:cNvPr>
          <p:cNvSpPr>
            <a:spLocks noGrp="1" noRot="1" noMove="1" noResize="1" noEditPoints="1" noAdjustHandles="1" noChangeArrowheads="1" noChangeShapeType="1"/>
          </p:cNvSpPr>
          <p:nvPr/>
        </p:nvSpPr>
        <p:spPr>
          <a:xfrm rot="-10800000">
            <a:off x="-18769" y="-1"/>
            <a:ext cx="1549537" cy="4110699"/>
          </a:xfrm>
          <a:custGeom>
            <a:avLst/>
            <a:gdLst/>
            <a:ahLst/>
            <a:cxnLst/>
            <a:rect l="l" t="t" r="r" b="b"/>
            <a:pathLst>
              <a:path w="1549537" h="5080448">
                <a:moveTo>
                  <a:pt x="0" y="0"/>
                </a:moveTo>
                <a:lnTo>
                  <a:pt x="1549536" y="0"/>
                </a:lnTo>
                <a:lnTo>
                  <a:pt x="1549536" y="5080448"/>
                </a:lnTo>
                <a:lnTo>
                  <a:pt x="0" y="5080448"/>
                </a:lnTo>
                <a:lnTo>
                  <a:pt x="0" y="0"/>
                </a:lnTo>
                <a:close/>
              </a:path>
            </a:pathLst>
          </a:custGeom>
          <a:blipFill>
            <a:blip r:embed="rId3">
              <a:alphaModFix amt="83000"/>
              <a:extLst>
                <a:ext uri="{96DAC541-7B7A-43D3-8B79-37D633B846F1}">
                  <asvg:svgBlip xmlns:asvg="http://schemas.microsoft.com/office/drawing/2016/SVG/main" r:embed="rId4"/>
                </a:ext>
              </a:extLst>
            </a:blip>
            <a:stretch>
              <a:fillRect b="-23591"/>
            </a:stretch>
          </a:blipFill>
          <a:ln cap="sq">
            <a:noFill/>
            <a:prstDash val="solid"/>
            <a:miter/>
          </a:ln>
        </p:spPr>
        <p:txBody>
          <a:bodyPr/>
          <a:lstStyle/>
          <a:p>
            <a:endParaRPr lang="ar-SA"/>
          </a:p>
        </p:txBody>
      </p:sp>
      <p:sp>
        <p:nvSpPr>
          <p:cNvPr id="5" name="TextBox 3">
            <a:extLst>
              <a:ext uri="{FF2B5EF4-FFF2-40B4-BE49-F238E27FC236}">
                <a16:creationId xmlns:a16="http://schemas.microsoft.com/office/drawing/2014/main" id="{577E34CA-E72C-B6F0-9AE8-2AD44E967E2E}"/>
              </a:ext>
            </a:extLst>
          </p:cNvPr>
          <p:cNvSpPr txBox="1"/>
          <p:nvPr/>
        </p:nvSpPr>
        <p:spPr>
          <a:xfrm>
            <a:off x="2452227" y="1753869"/>
            <a:ext cx="2652041" cy="738664"/>
          </a:xfrm>
          <a:prstGeom prst="rect">
            <a:avLst/>
          </a:prstGeom>
          <a:solidFill>
            <a:srgbClr val="D4C2C6"/>
          </a:solidFill>
          <a:effectLst>
            <a:outerShdw blurRad="76200" dir="18900000" sy="23000" kx="-1200000" algn="bl" rotWithShape="0">
              <a:prstClr val="black">
                <a:alpha val="20000"/>
              </a:prstClr>
            </a:outerShdw>
          </a:effectLst>
        </p:spPr>
        <p:txBody>
          <a:bodyPr wrap="square" lIns="0" tIns="0" rIns="0" bIns="0" rtlCol="0" anchor="t">
            <a:spAutoFit/>
          </a:bodyPr>
          <a:lstStyle>
            <a:defPPr>
              <a:defRPr lang="en-US"/>
            </a:defPPr>
            <a:lvl1pPr lvl="0" indent="0" algn="ctr" rtl="1">
              <a:lnSpc>
                <a:spcPts val="4200"/>
              </a:lnSpc>
              <a:spcBef>
                <a:spcPct val="0"/>
              </a:spcBef>
              <a:defRPr sz="2000" u="none" strike="noStrike" spc="-33">
                <a:latin typeface="GE SS Two Light"/>
                <a:ea typeface="GE SS Two Light"/>
                <a:cs typeface="GE SS Two Light"/>
                <a:rtl/>
              </a:defRPr>
            </a:lvl1pPr>
          </a:lstStyle>
          <a:p>
            <a:pPr>
              <a:lnSpc>
                <a:spcPct val="100000"/>
              </a:lnSpc>
            </a:pPr>
            <a:r>
              <a:rPr lang="ar-EG" sz="2400" b="1" dirty="0">
                <a:latin typeface="Sakkal Majalla" panose="02000000000000000000" pitchFamily="2" charset="-78"/>
                <a:cs typeface="Sakkal Majalla" panose="02000000000000000000" pitchFamily="2" charset="-78"/>
                <a:sym typeface="GE SS Two Light"/>
              </a:rPr>
              <a:t>أداء الواجبات الوظيفية </a:t>
            </a:r>
          </a:p>
          <a:p>
            <a:pPr>
              <a:lnSpc>
                <a:spcPct val="100000"/>
              </a:lnSpc>
            </a:pPr>
            <a:r>
              <a:rPr lang="ar-EG" sz="2400" b="1" dirty="0">
                <a:latin typeface="Sakkal Majalla" panose="02000000000000000000" pitchFamily="2" charset="-78"/>
                <a:cs typeface="Sakkal Majalla" panose="02000000000000000000" pitchFamily="2" charset="-78"/>
                <a:sym typeface="GE SS Two Light"/>
              </a:rPr>
              <a:t>10%</a:t>
            </a:r>
          </a:p>
        </p:txBody>
      </p:sp>
      <p:graphicFrame>
        <p:nvGraphicFramePr>
          <p:cNvPr id="6" name="جدول 5">
            <a:extLst>
              <a:ext uri="{FF2B5EF4-FFF2-40B4-BE49-F238E27FC236}">
                <a16:creationId xmlns:a16="http://schemas.microsoft.com/office/drawing/2014/main" id="{2FE7D92B-D451-721E-9695-C5849E622C26}"/>
              </a:ext>
            </a:extLst>
          </p:cNvPr>
          <p:cNvGraphicFramePr>
            <a:graphicFrameLocks noGrp="1"/>
          </p:cNvGraphicFramePr>
          <p:nvPr>
            <p:extLst>
              <p:ext uri="{D42A27DB-BD31-4B8C-83A1-F6EECF244321}">
                <p14:modId xmlns:p14="http://schemas.microsoft.com/office/powerpoint/2010/main" val="1218917646"/>
              </p:ext>
            </p:extLst>
          </p:nvPr>
        </p:nvGraphicFramePr>
        <p:xfrm>
          <a:off x="854059" y="3131347"/>
          <a:ext cx="5848379" cy="1828800"/>
        </p:xfrm>
        <a:graphic>
          <a:graphicData uri="http://schemas.openxmlformats.org/drawingml/2006/table">
            <a:tbl>
              <a:tblPr rtl="1" firstRow="1" bandRow="1">
                <a:tableStyleId>{2D5ABB26-0587-4C30-8999-92F81FD0307C}</a:tableStyleId>
              </a:tblPr>
              <a:tblGrid>
                <a:gridCol w="3325589">
                  <a:extLst>
                    <a:ext uri="{9D8B030D-6E8A-4147-A177-3AD203B41FA5}">
                      <a16:colId xmlns:a16="http://schemas.microsoft.com/office/drawing/2014/main" val="315138284"/>
                    </a:ext>
                  </a:extLst>
                </a:gridCol>
                <a:gridCol w="1261395">
                  <a:extLst>
                    <a:ext uri="{9D8B030D-6E8A-4147-A177-3AD203B41FA5}">
                      <a16:colId xmlns:a16="http://schemas.microsoft.com/office/drawing/2014/main" val="3931588184"/>
                    </a:ext>
                  </a:extLst>
                </a:gridCol>
                <a:gridCol w="1261395">
                  <a:extLst>
                    <a:ext uri="{9D8B030D-6E8A-4147-A177-3AD203B41FA5}">
                      <a16:colId xmlns:a16="http://schemas.microsoft.com/office/drawing/2014/main" val="408297873"/>
                    </a:ext>
                  </a:extLst>
                </a:gridCol>
              </a:tblGrid>
              <a:tr h="288000">
                <a:tc>
                  <a:txBody>
                    <a:bodyPr/>
                    <a:lstStyle/>
                    <a:p>
                      <a:pPr algn="ctr" rtl="1"/>
                      <a:r>
                        <a:rPr lang="ar-SA" sz="1800" b="1"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الفقرة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C2C6"/>
                    </a:solidFill>
                  </a:tcPr>
                </a:tc>
                <a:tc>
                  <a:txBody>
                    <a:bodyPr/>
                    <a:lstStyle/>
                    <a:p>
                      <a:pPr algn="ctr" rtl="1"/>
                      <a:r>
                        <a:rPr lang="ar-SA" sz="1800" b="1"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متوفر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C2C6"/>
                    </a:solidFill>
                  </a:tcPr>
                </a:tc>
                <a:tc>
                  <a:txBody>
                    <a:bodyPr/>
                    <a:lstStyle/>
                    <a:p>
                      <a:pPr algn="ctr" rtl="1"/>
                      <a:r>
                        <a:rPr lang="ar-SA" sz="1800" b="1"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غير متوفر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C2C6"/>
                    </a:solidFill>
                  </a:tcPr>
                </a:tc>
                <a:extLst>
                  <a:ext uri="{0D108BD9-81ED-4DB2-BD59-A6C34878D82A}">
                    <a16:rowId xmlns:a16="http://schemas.microsoft.com/office/drawing/2014/main" val="3681228051"/>
                  </a:ext>
                </a:extLst>
              </a:tr>
              <a:tr h="288000">
                <a:tc>
                  <a:txBody>
                    <a:bodyPr/>
                    <a:lstStyle/>
                    <a:p>
                      <a:pPr marL="0" lvl="0" indent="0" algn="r" rtl="1">
                        <a:lnSpc>
                          <a:spcPct val="115000"/>
                        </a:lnSpc>
                        <a:spcAft>
                          <a:spcPts val="800"/>
                        </a:spcAft>
                        <a:buClr>
                          <a:srgbClr val="000000"/>
                        </a:buClr>
                        <a:buFont typeface="+mj-lt"/>
                        <a:buNone/>
                      </a:pPr>
                      <a:r>
                        <a:rPr lang="ar-SA" sz="1800" b="0" kern="100" dirty="0">
                          <a:effectLst/>
                          <a:latin typeface="Sakkal Majalla" panose="02000000000000000000" pitchFamily="2" charset="-78"/>
                          <a:ea typeface="GE SS Two Light" panose="020A0503020102020204" pitchFamily="18" charset="-78"/>
                          <a:cs typeface="Sakkal Majalla" panose="02000000000000000000" pitchFamily="2" charset="-78"/>
                        </a:rPr>
                        <a:t>1. التقيد بالدوام الرسمي</a:t>
                      </a:r>
                      <a:endParaRPr lang="en-US" sz="1800"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1"/>
                      <a:r>
                        <a:rPr lang="ar-SA" b="0" i="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rtl="1"/>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68833806"/>
                  </a:ext>
                </a:extLst>
              </a:tr>
              <a:tr h="288000">
                <a:tc>
                  <a:txBody>
                    <a:bodyPr/>
                    <a:lstStyle/>
                    <a:p>
                      <a:pPr marL="0" lvl="0" indent="0" algn="r" rtl="1">
                        <a:lnSpc>
                          <a:spcPct val="115000"/>
                        </a:lnSpc>
                        <a:spcAft>
                          <a:spcPts val="800"/>
                        </a:spcAft>
                        <a:buClr>
                          <a:srgbClr val="000000"/>
                        </a:buClr>
                        <a:buFont typeface="+mj-lt"/>
                        <a:buNone/>
                      </a:pPr>
                      <a:r>
                        <a:rPr lang="ar-SA" sz="1800" b="0" kern="100" dirty="0">
                          <a:effectLst/>
                          <a:latin typeface="Sakkal Majalla" panose="02000000000000000000" pitchFamily="2" charset="-78"/>
                          <a:ea typeface="GE SS Two Light" panose="020A0503020102020204" pitchFamily="18" charset="-78"/>
                          <a:cs typeface="Sakkal Majalla" panose="02000000000000000000" pitchFamily="2" charset="-78"/>
                        </a:rPr>
                        <a:t>2. تأدية الحصص وفق الجدول</a:t>
                      </a:r>
                      <a:endParaRPr lang="en-US" sz="1800"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1"/>
                      <a:r>
                        <a:rPr lang="ar-SA" b="0" i="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rtl="1"/>
                      <a:endParaRPr lang="ar-SA" sz="1800" b="0">
                        <a:latin typeface="Sakkal Majalla" panose="02000000000000000000" pitchFamily="2" charset="-78"/>
                        <a:ea typeface="GE SS Two Light" panose="020A0503020102020204" pitchFamily="18" charset="-78"/>
                        <a:cs typeface="Sakkal Majalla" panose="020000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2417266"/>
                  </a:ext>
                </a:extLst>
              </a:tr>
              <a:tr h="288000">
                <a:tc>
                  <a:txBody>
                    <a:bodyPr/>
                    <a:lstStyle/>
                    <a:p>
                      <a:pPr marL="0" lvl="0" indent="0" algn="r" rtl="1">
                        <a:lnSpc>
                          <a:spcPct val="115000"/>
                        </a:lnSpc>
                        <a:spcAft>
                          <a:spcPts val="800"/>
                        </a:spcAft>
                        <a:buClr>
                          <a:srgbClr val="000000"/>
                        </a:buClr>
                        <a:buFont typeface="+mj-lt"/>
                        <a:buNone/>
                      </a:pPr>
                      <a:r>
                        <a:rPr lang="ar-SA" sz="1800" b="0" kern="100" dirty="0">
                          <a:effectLst/>
                          <a:latin typeface="Sakkal Majalla" panose="02000000000000000000" pitchFamily="2" charset="-78"/>
                          <a:ea typeface="GE SS Two Light" panose="020A0503020102020204" pitchFamily="18" charset="-78"/>
                          <a:cs typeface="Sakkal Majalla" panose="02000000000000000000" pitchFamily="2" charset="-78"/>
                        </a:rPr>
                        <a:t>3. المشاركة في الإشراف والمناوبة</a:t>
                      </a:r>
                      <a:endParaRPr lang="en-US" sz="1800"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1"/>
                      <a:r>
                        <a:rPr lang="ar-SA" b="0" i="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rtl="1"/>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3305950"/>
                  </a:ext>
                </a:extLst>
              </a:tr>
              <a:tr h="288000">
                <a:tc>
                  <a:txBody>
                    <a:bodyPr/>
                    <a:lstStyle/>
                    <a:p>
                      <a:pPr marL="0" lvl="0" indent="0" algn="r" rtl="1">
                        <a:lnSpc>
                          <a:spcPct val="115000"/>
                        </a:lnSpc>
                        <a:spcAft>
                          <a:spcPts val="800"/>
                        </a:spcAft>
                        <a:buClr>
                          <a:srgbClr val="000000"/>
                        </a:buClr>
                        <a:buFont typeface="+mj-lt"/>
                        <a:buNone/>
                      </a:pPr>
                      <a:r>
                        <a:rPr lang="ar-SA" sz="1800" b="0" kern="100" dirty="0">
                          <a:effectLst/>
                          <a:latin typeface="Sakkal Majalla" panose="02000000000000000000" pitchFamily="2" charset="-78"/>
                          <a:ea typeface="GE SS Two Light" panose="020A0503020102020204" pitchFamily="18" charset="-78"/>
                          <a:cs typeface="Sakkal Majalla" panose="02000000000000000000" pitchFamily="2" charset="-78"/>
                        </a:rPr>
                        <a:t>4. إعداد ومتابعة الدروس والواجبات</a:t>
                      </a:r>
                      <a:endParaRPr lang="en-US" sz="1800"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1"/>
                      <a:r>
                        <a:rPr lang="ar-SA" b="0" i="0" dirty="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rtl="1"/>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66843493"/>
                  </a:ext>
                </a:extLst>
              </a:tr>
            </a:tbl>
          </a:graphicData>
        </a:graphic>
      </p:graphicFrame>
      <p:pic>
        <p:nvPicPr>
          <p:cNvPr id="7" name="صورة 6">
            <a:extLst>
              <a:ext uri="{FF2B5EF4-FFF2-40B4-BE49-F238E27FC236}">
                <a16:creationId xmlns:a16="http://schemas.microsoft.com/office/drawing/2014/main" id="{97BB0114-99FD-BDA6-DA0A-C8B208C94A3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080717" y="8099483"/>
            <a:ext cx="3395062" cy="1900626"/>
          </a:xfrm>
          <a:prstGeom prst="rect">
            <a:avLst/>
          </a:prstGeom>
        </p:spPr>
      </p:pic>
      <p:pic>
        <p:nvPicPr>
          <p:cNvPr id="8" name="صورة 7">
            <a:extLst>
              <a:ext uri="{FF2B5EF4-FFF2-40B4-BE49-F238E27FC236}">
                <a16:creationId xmlns:a16="http://schemas.microsoft.com/office/drawing/2014/main" id="{256F302E-3673-A929-7CE3-9409B3AB2E6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72840" y="5632881"/>
            <a:ext cx="4210816" cy="2357302"/>
          </a:xfrm>
          <a:prstGeom prst="rect">
            <a:avLst/>
          </a:prstGeom>
        </p:spPr>
      </p:pic>
      <p:pic>
        <p:nvPicPr>
          <p:cNvPr id="9" name="صورة 8">
            <a:extLst>
              <a:ext uri="{FF2B5EF4-FFF2-40B4-BE49-F238E27FC236}">
                <a16:creationId xmlns:a16="http://schemas.microsoft.com/office/drawing/2014/main" id="{BA785A6B-FD59-ABBE-C985-1A98DA6F491F}"/>
              </a:ext>
            </a:extLst>
          </p:cNvPr>
          <p:cNvPicPr>
            <a:picLocks noChangeAspect="1"/>
          </p:cNvPicPr>
          <p:nvPr/>
        </p:nvPicPr>
        <p:blipFill>
          <a:blip r:embed="rId7" cstate="print">
            <a:extLst>
              <a:ext uri="{28A0092B-C50C-407E-A947-70E740481C1C}">
                <a14:useLocalDpi xmlns:a14="http://schemas.microsoft.com/office/drawing/2010/main" val="0"/>
              </a:ext>
            </a:extLst>
          </a:blip>
          <a:srcRect l="1166"/>
          <a:stretch/>
        </p:blipFill>
        <p:spPr>
          <a:xfrm>
            <a:off x="0" y="8287796"/>
            <a:ext cx="2690550" cy="1524000"/>
          </a:xfrm>
          <a:prstGeom prst="rect">
            <a:avLst/>
          </a:prstGeom>
        </p:spPr>
      </p:pic>
    </p:spTree>
    <p:extLst>
      <p:ext uri="{BB962C8B-B14F-4D97-AF65-F5344CB8AC3E}">
        <p14:creationId xmlns:p14="http://schemas.microsoft.com/office/powerpoint/2010/main" val="1156145864"/>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3956B-536B-F470-A77B-6BB9E7A59CA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151998E-FE39-594E-F488-EB86F9F8061B}"/>
              </a:ext>
            </a:extLst>
          </p:cNvPr>
          <p:cNvSpPr>
            <a:spLocks noGrp="1" noRot="1" noMove="1" noResize="1" noEditPoints="1" noAdjustHandles="1" noChangeArrowheads="1" noChangeShapeType="1"/>
          </p:cNvSpPr>
          <p:nvPr/>
        </p:nvSpPr>
        <p:spPr>
          <a:xfrm>
            <a:off x="0" y="0"/>
            <a:ext cx="7560000" cy="10692000"/>
          </a:xfrm>
          <a:custGeom>
            <a:avLst/>
            <a:gdLst/>
            <a:ahLst/>
            <a:cxnLst/>
            <a:rect l="l" t="t" r="r" b="b"/>
            <a:pathLst>
              <a:path w="7560000" h="10692000">
                <a:moveTo>
                  <a:pt x="0" y="0"/>
                </a:moveTo>
                <a:lnTo>
                  <a:pt x="7560000" y="0"/>
                </a:lnTo>
                <a:lnTo>
                  <a:pt x="7560000" y="10692000"/>
                </a:lnTo>
                <a:lnTo>
                  <a:pt x="0" y="10692000"/>
                </a:lnTo>
                <a:lnTo>
                  <a:pt x="0" y="0"/>
                </a:lnTo>
                <a:close/>
              </a:path>
            </a:pathLst>
          </a:custGeom>
          <a:blipFill>
            <a:blip r:embed="rId2"/>
            <a:stretch>
              <a:fillRect l="-781" t="-13832" r="-781" b="-13832"/>
            </a:stretch>
          </a:blipFill>
        </p:spPr>
        <p:txBody>
          <a:bodyPr/>
          <a:lstStyle/>
          <a:p>
            <a:endParaRPr lang="ar-SA" dirty="0"/>
          </a:p>
        </p:txBody>
      </p:sp>
      <p:sp>
        <p:nvSpPr>
          <p:cNvPr id="3" name="Freeform 3">
            <a:extLst>
              <a:ext uri="{FF2B5EF4-FFF2-40B4-BE49-F238E27FC236}">
                <a16:creationId xmlns:a16="http://schemas.microsoft.com/office/drawing/2014/main" id="{4EE31101-5719-D416-2211-A2044EDFBF63}"/>
              </a:ext>
            </a:extLst>
          </p:cNvPr>
          <p:cNvSpPr>
            <a:spLocks noGrp="1" noRot="1" noMove="1" noResize="1" noEditPoints="1" noAdjustHandles="1" noChangeArrowheads="1" noChangeShapeType="1"/>
          </p:cNvSpPr>
          <p:nvPr/>
        </p:nvSpPr>
        <p:spPr>
          <a:xfrm>
            <a:off x="6654829" y="7724227"/>
            <a:ext cx="905171" cy="2967773"/>
          </a:xfrm>
          <a:custGeom>
            <a:avLst/>
            <a:gdLst/>
            <a:ahLst/>
            <a:cxnLst/>
            <a:rect l="l" t="t" r="r" b="b"/>
            <a:pathLst>
              <a:path w="905171" h="2967773">
                <a:moveTo>
                  <a:pt x="0" y="0"/>
                </a:moveTo>
                <a:lnTo>
                  <a:pt x="905171" y="0"/>
                </a:lnTo>
                <a:lnTo>
                  <a:pt x="905171" y="2967773"/>
                </a:lnTo>
                <a:lnTo>
                  <a:pt x="0" y="2967773"/>
                </a:lnTo>
                <a:lnTo>
                  <a:pt x="0" y="0"/>
                </a:lnTo>
                <a:close/>
              </a:path>
            </a:pathLst>
          </a:custGeom>
          <a:blipFill>
            <a:blip r:embed="rId3">
              <a:alphaModFix amt="83000"/>
              <a:extLst>
                <a:ext uri="{96DAC541-7B7A-43D3-8B79-37D633B846F1}">
                  <asvg:svgBlip xmlns:asvg="http://schemas.microsoft.com/office/drawing/2016/SVG/main" r:embed="rId4"/>
                </a:ext>
              </a:extLst>
            </a:blip>
            <a:stretch>
              <a:fillRect/>
            </a:stretch>
          </a:blipFill>
        </p:spPr>
        <p:txBody>
          <a:bodyPr/>
          <a:lstStyle/>
          <a:p>
            <a:endParaRPr lang="ar-SA"/>
          </a:p>
        </p:txBody>
      </p:sp>
      <p:sp>
        <p:nvSpPr>
          <p:cNvPr id="4" name="Freeform 4">
            <a:extLst>
              <a:ext uri="{FF2B5EF4-FFF2-40B4-BE49-F238E27FC236}">
                <a16:creationId xmlns:a16="http://schemas.microsoft.com/office/drawing/2014/main" id="{E3B333E1-DA1B-1FBA-2EB7-33998539A5B1}"/>
              </a:ext>
            </a:extLst>
          </p:cNvPr>
          <p:cNvSpPr>
            <a:spLocks noGrp="1" noRot="1" noMove="1" noResize="1" noEditPoints="1" noAdjustHandles="1" noChangeArrowheads="1" noChangeShapeType="1"/>
          </p:cNvSpPr>
          <p:nvPr/>
        </p:nvSpPr>
        <p:spPr>
          <a:xfrm rot="-10800000">
            <a:off x="-18769" y="-1"/>
            <a:ext cx="1549537" cy="4110699"/>
          </a:xfrm>
          <a:custGeom>
            <a:avLst/>
            <a:gdLst/>
            <a:ahLst/>
            <a:cxnLst/>
            <a:rect l="l" t="t" r="r" b="b"/>
            <a:pathLst>
              <a:path w="1549537" h="5080448">
                <a:moveTo>
                  <a:pt x="0" y="0"/>
                </a:moveTo>
                <a:lnTo>
                  <a:pt x="1549536" y="0"/>
                </a:lnTo>
                <a:lnTo>
                  <a:pt x="1549536" y="5080448"/>
                </a:lnTo>
                <a:lnTo>
                  <a:pt x="0" y="5080448"/>
                </a:lnTo>
                <a:lnTo>
                  <a:pt x="0" y="0"/>
                </a:lnTo>
                <a:close/>
              </a:path>
            </a:pathLst>
          </a:custGeom>
          <a:blipFill>
            <a:blip r:embed="rId3">
              <a:alphaModFix amt="83000"/>
              <a:extLst>
                <a:ext uri="{96DAC541-7B7A-43D3-8B79-37D633B846F1}">
                  <asvg:svgBlip xmlns:asvg="http://schemas.microsoft.com/office/drawing/2016/SVG/main" r:embed="rId4"/>
                </a:ext>
              </a:extLst>
            </a:blip>
            <a:stretch>
              <a:fillRect b="-23591"/>
            </a:stretch>
          </a:blipFill>
          <a:ln cap="sq">
            <a:noFill/>
            <a:prstDash val="solid"/>
            <a:miter/>
          </a:ln>
        </p:spPr>
        <p:txBody>
          <a:bodyPr/>
          <a:lstStyle/>
          <a:p>
            <a:endParaRPr lang="ar-SA"/>
          </a:p>
        </p:txBody>
      </p:sp>
      <p:sp>
        <p:nvSpPr>
          <p:cNvPr id="5" name="TextBox 3">
            <a:extLst>
              <a:ext uri="{FF2B5EF4-FFF2-40B4-BE49-F238E27FC236}">
                <a16:creationId xmlns:a16="http://schemas.microsoft.com/office/drawing/2014/main" id="{96EC10AA-A028-AA73-21A5-09249D51EDA0}"/>
              </a:ext>
            </a:extLst>
          </p:cNvPr>
          <p:cNvSpPr txBox="1"/>
          <p:nvPr/>
        </p:nvSpPr>
        <p:spPr>
          <a:xfrm>
            <a:off x="2802637" y="1664803"/>
            <a:ext cx="2165905" cy="738664"/>
          </a:xfrm>
          <a:prstGeom prst="rect">
            <a:avLst/>
          </a:prstGeom>
          <a:solidFill>
            <a:srgbClr val="D4C2C6"/>
          </a:solidFill>
          <a:effectLst>
            <a:outerShdw blurRad="76200" dir="18900000" sy="23000" kx="-1200000" algn="bl" rotWithShape="0">
              <a:prstClr val="black">
                <a:alpha val="20000"/>
              </a:prstClr>
            </a:outerShdw>
          </a:effectLst>
        </p:spPr>
        <p:txBody>
          <a:bodyPr wrap="square" lIns="0" tIns="0" rIns="0" bIns="0" rtlCol="0" anchor="t">
            <a:spAutoFit/>
          </a:bodyPr>
          <a:lstStyle>
            <a:defPPr>
              <a:defRPr lang="en-US"/>
            </a:defPPr>
            <a:lvl1pPr lvl="0" indent="0" algn="ctr" rtl="1">
              <a:lnSpc>
                <a:spcPct val="150000"/>
              </a:lnSpc>
              <a:spcBef>
                <a:spcPct val="0"/>
              </a:spcBef>
              <a:defRPr u="none" strike="noStrike" spc="-33">
                <a:latin typeface="GE SS Two Light"/>
                <a:ea typeface="GE SS Two Light"/>
                <a:cs typeface="GE SS Two Light"/>
                <a:rtl/>
              </a:defRPr>
            </a:lvl1pPr>
          </a:lstStyle>
          <a:p>
            <a:pPr>
              <a:lnSpc>
                <a:spcPct val="100000"/>
              </a:lnSpc>
            </a:pPr>
            <a:r>
              <a:rPr lang="ar-EG" sz="2400" b="1" dirty="0">
                <a:latin typeface="Sakkal Majalla" panose="02000000000000000000" pitchFamily="2" charset="-78"/>
                <a:cs typeface="Sakkal Majalla" panose="02000000000000000000" pitchFamily="2" charset="-78"/>
                <a:sym typeface="GE SS Two Light"/>
              </a:rPr>
              <a:t>التفاعل مع </a:t>
            </a:r>
          </a:p>
          <a:p>
            <a:pPr>
              <a:lnSpc>
                <a:spcPct val="100000"/>
              </a:lnSpc>
            </a:pPr>
            <a:r>
              <a:rPr lang="ar-EG" sz="2400" b="1" dirty="0">
                <a:latin typeface="Sakkal Majalla" panose="02000000000000000000" pitchFamily="2" charset="-78"/>
                <a:cs typeface="Sakkal Majalla" panose="02000000000000000000" pitchFamily="2" charset="-78"/>
                <a:sym typeface="GE SS Two Light"/>
              </a:rPr>
              <a:t>المجتمع المهني 10%</a:t>
            </a:r>
          </a:p>
        </p:txBody>
      </p:sp>
      <p:graphicFrame>
        <p:nvGraphicFramePr>
          <p:cNvPr id="6" name="جدول 5">
            <a:extLst>
              <a:ext uri="{FF2B5EF4-FFF2-40B4-BE49-F238E27FC236}">
                <a16:creationId xmlns:a16="http://schemas.microsoft.com/office/drawing/2014/main" id="{A9A3BB25-50DB-BC7B-A9A4-6AC105AEFAF4}"/>
              </a:ext>
            </a:extLst>
          </p:cNvPr>
          <p:cNvGraphicFramePr>
            <a:graphicFrameLocks noGrp="1"/>
          </p:cNvGraphicFramePr>
          <p:nvPr>
            <p:extLst>
              <p:ext uri="{D42A27DB-BD31-4B8C-83A1-F6EECF244321}">
                <p14:modId xmlns:p14="http://schemas.microsoft.com/office/powerpoint/2010/main" val="1716082063"/>
              </p:ext>
            </p:extLst>
          </p:nvPr>
        </p:nvGraphicFramePr>
        <p:xfrm>
          <a:off x="960589" y="2610794"/>
          <a:ext cx="5850000" cy="3721608"/>
        </p:xfrm>
        <a:graphic>
          <a:graphicData uri="http://schemas.openxmlformats.org/drawingml/2006/table">
            <a:tbl>
              <a:tblPr rtl="1" firstRow="1" bandRow="1">
                <a:tableStyleId>{2D5ABB26-0587-4C30-8999-92F81FD0307C}</a:tableStyleId>
              </a:tblPr>
              <a:tblGrid>
                <a:gridCol w="3593248">
                  <a:extLst>
                    <a:ext uri="{9D8B030D-6E8A-4147-A177-3AD203B41FA5}">
                      <a16:colId xmlns:a16="http://schemas.microsoft.com/office/drawing/2014/main" val="315138284"/>
                    </a:ext>
                  </a:extLst>
                </a:gridCol>
                <a:gridCol w="1128376">
                  <a:extLst>
                    <a:ext uri="{9D8B030D-6E8A-4147-A177-3AD203B41FA5}">
                      <a16:colId xmlns:a16="http://schemas.microsoft.com/office/drawing/2014/main" val="3931588184"/>
                    </a:ext>
                  </a:extLst>
                </a:gridCol>
                <a:gridCol w="1128376">
                  <a:extLst>
                    <a:ext uri="{9D8B030D-6E8A-4147-A177-3AD203B41FA5}">
                      <a16:colId xmlns:a16="http://schemas.microsoft.com/office/drawing/2014/main" val="408297873"/>
                    </a:ext>
                  </a:extLst>
                </a:gridCol>
              </a:tblGrid>
              <a:tr h="157609">
                <a:tc>
                  <a:txBody>
                    <a:bodyPr/>
                    <a:lstStyle/>
                    <a:p>
                      <a:pPr marL="0" algn="ctr" defTabSz="914400" rtl="1" eaLnBrk="1" latinLnBrk="0" hangingPunct="1"/>
                      <a:r>
                        <a:rPr lang="ar-SA" sz="1800" b="1" kern="1200"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الفقرة</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4C2C6"/>
                    </a:solidFill>
                  </a:tcPr>
                </a:tc>
                <a:tc>
                  <a:txBody>
                    <a:bodyPr/>
                    <a:lstStyle/>
                    <a:p>
                      <a:pPr algn="ctr" rtl="1"/>
                      <a:r>
                        <a:rPr lang="ar-SA" sz="1800" b="1"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متوفر</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4C2C6"/>
                    </a:solidFill>
                  </a:tcPr>
                </a:tc>
                <a:tc>
                  <a:txBody>
                    <a:bodyPr/>
                    <a:lstStyle/>
                    <a:p>
                      <a:pPr algn="ctr" rtl="1"/>
                      <a:r>
                        <a:rPr lang="ar-SA" sz="1800" b="1"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غير متوفر</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4C2C6"/>
                    </a:solidFill>
                  </a:tcPr>
                </a:tc>
                <a:extLst>
                  <a:ext uri="{0D108BD9-81ED-4DB2-BD59-A6C34878D82A}">
                    <a16:rowId xmlns:a16="http://schemas.microsoft.com/office/drawing/2014/main" val="3681228051"/>
                  </a:ext>
                </a:extLst>
              </a:tr>
              <a:tr h="157609">
                <a:tc>
                  <a:txBody>
                    <a:bodyPr/>
                    <a:lstStyle/>
                    <a:p>
                      <a:pPr marL="0" lvl="0" indent="0" algn="justLow" rtl="1">
                        <a:lnSpc>
                          <a:spcPct val="115000"/>
                        </a:lnSpc>
                        <a:spcAft>
                          <a:spcPts val="800"/>
                        </a:spcAft>
                        <a:buSzPts val="1000"/>
                        <a:buFont typeface="Times New Roman" panose="02020603050405020304" pitchFamily="18" charset="0"/>
                        <a:buNone/>
                      </a:pPr>
                      <a:r>
                        <a:rPr lang="ar-SA" sz="1800" b="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1. حضور المؤتمرات والندوات التعليمية.</a:t>
                      </a:r>
                      <a:endParaRPr lang="en-US" sz="1800"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8833806"/>
                  </a:ext>
                </a:extLst>
              </a:tr>
              <a:tr h="253751">
                <a:tc>
                  <a:txBody>
                    <a:bodyPr/>
                    <a:lstStyle/>
                    <a:p>
                      <a:pPr marL="0" lvl="0" indent="0" algn="justLow" rtl="1">
                        <a:lnSpc>
                          <a:spcPct val="115000"/>
                        </a:lnSpc>
                        <a:spcAft>
                          <a:spcPts val="800"/>
                        </a:spcAft>
                        <a:buSzPts val="1000"/>
                        <a:buFont typeface="Times New Roman" panose="02020603050405020304" pitchFamily="18" charset="0"/>
                        <a:buNone/>
                      </a:pPr>
                      <a:r>
                        <a:rPr lang="ar-SA" sz="1800" b="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2. المشاركة في ورش العمل التدريبية لتحسين المهارات التعليمية.</a:t>
                      </a:r>
                      <a:endParaRPr lang="en-US" sz="1800"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2529981"/>
                  </a:ext>
                </a:extLst>
              </a:tr>
              <a:tr h="244828">
                <a:tc>
                  <a:txBody>
                    <a:bodyPr/>
                    <a:lstStyle/>
                    <a:p>
                      <a:pPr marL="0" lvl="0" indent="0" algn="justLow" rtl="1">
                        <a:lnSpc>
                          <a:spcPct val="115000"/>
                        </a:lnSpc>
                        <a:spcAft>
                          <a:spcPts val="800"/>
                        </a:spcAft>
                        <a:buSzPts val="1000"/>
                        <a:buFont typeface="Times New Roman" panose="02020603050405020304" pitchFamily="18" charset="0"/>
                        <a:buNone/>
                      </a:pPr>
                      <a:r>
                        <a:rPr lang="ar-SA" sz="1800" b="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3. تقديم استشارات تربوية للمعلمين الجدد.</a:t>
                      </a:r>
                      <a:endParaRPr lang="en-US" sz="1800"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2417266"/>
                  </a:ext>
                </a:extLst>
              </a:tr>
              <a:tr h="253751">
                <a:tc>
                  <a:txBody>
                    <a:bodyPr/>
                    <a:lstStyle/>
                    <a:p>
                      <a:pPr marL="0" lvl="0" indent="0" algn="justLow" rtl="1">
                        <a:lnSpc>
                          <a:spcPct val="115000"/>
                        </a:lnSpc>
                        <a:spcAft>
                          <a:spcPts val="800"/>
                        </a:spcAft>
                        <a:buSzPts val="1000"/>
                        <a:buFont typeface="Times New Roman" panose="02020603050405020304" pitchFamily="18" charset="0"/>
                        <a:buNone/>
                      </a:pPr>
                      <a:r>
                        <a:rPr lang="ar-SA" sz="1800" b="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4. إطلاق مبادرات تعليمية لتحسين جودة التعليم.</a:t>
                      </a:r>
                      <a:endParaRPr lang="en-US" sz="1800"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dirty="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9059949"/>
                  </a:ext>
                </a:extLst>
              </a:tr>
              <a:tr h="253751">
                <a:tc>
                  <a:txBody>
                    <a:bodyPr/>
                    <a:lstStyle/>
                    <a:p>
                      <a:pPr marL="0" lvl="0" indent="0" algn="justLow" rtl="1">
                        <a:lnSpc>
                          <a:spcPct val="115000"/>
                        </a:lnSpc>
                        <a:spcAft>
                          <a:spcPts val="800"/>
                        </a:spcAft>
                        <a:buSzPts val="1000"/>
                        <a:buFont typeface="Times New Roman" panose="02020603050405020304" pitchFamily="18" charset="0"/>
                        <a:buNone/>
                      </a:pPr>
                      <a:r>
                        <a:rPr lang="ar-SA" sz="1800" b="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5. الالتحاق ببرامج تدريبية لتعلم أساليب تدريس حديثة.</a:t>
                      </a:r>
                      <a:endParaRPr lang="en-US" sz="1800"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3305950"/>
                  </a:ext>
                </a:extLst>
              </a:tr>
              <a:tr h="253751">
                <a:tc>
                  <a:txBody>
                    <a:bodyPr/>
                    <a:lstStyle/>
                    <a:p>
                      <a:pPr marL="0" lvl="0" indent="0" algn="justLow" rtl="1">
                        <a:lnSpc>
                          <a:spcPct val="115000"/>
                        </a:lnSpc>
                        <a:spcAft>
                          <a:spcPts val="800"/>
                        </a:spcAft>
                        <a:buSzPts val="1000"/>
                        <a:buFont typeface="Times New Roman" panose="02020603050405020304" pitchFamily="18" charset="0"/>
                        <a:buNone/>
                      </a:pPr>
                      <a:r>
                        <a:rPr lang="ar-SA" sz="1800" b="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6. الحصول على شهادات مهنية معتمدة في مجال التعليم.</a:t>
                      </a:r>
                      <a:endParaRPr lang="en-US" sz="1800"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0606635"/>
                  </a:ext>
                </a:extLst>
              </a:tr>
              <a:tr h="253751">
                <a:tc>
                  <a:txBody>
                    <a:bodyPr/>
                    <a:lstStyle/>
                    <a:p>
                      <a:pPr marL="0" lvl="0" indent="0" algn="justLow" rtl="1">
                        <a:lnSpc>
                          <a:spcPct val="115000"/>
                        </a:lnSpc>
                        <a:spcAft>
                          <a:spcPts val="800"/>
                        </a:spcAft>
                        <a:buSzPts val="1000"/>
                        <a:buFont typeface="Times New Roman" panose="02020603050405020304" pitchFamily="18" charset="0"/>
                        <a:buNone/>
                      </a:pPr>
                      <a:r>
                        <a:rPr lang="ar-SA" sz="1800" b="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 7. تبادل الخبرات مع المعلمين من مدارس أخرى.</a:t>
                      </a:r>
                      <a:endParaRPr lang="en-US" sz="1800"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dirty="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0142558"/>
                  </a:ext>
                </a:extLst>
              </a:tr>
            </a:tbl>
          </a:graphicData>
        </a:graphic>
      </p:graphicFrame>
      <p:pic>
        <p:nvPicPr>
          <p:cNvPr id="7" name="صورة 6">
            <a:extLst>
              <a:ext uri="{FF2B5EF4-FFF2-40B4-BE49-F238E27FC236}">
                <a16:creationId xmlns:a16="http://schemas.microsoft.com/office/drawing/2014/main" id="{ABDAB94D-18BC-3E54-E422-ABD23FB43A2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493949" y="8851900"/>
            <a:ext cx="2568601" cy="1437956"/>
          </a:xfrm>
          <a:prstGeom prst="rect">
            <a:avLst/>
          </a:prstGeom>
        </p:spPr>
      </p:pic>
      <p:pic>
        <p:nvPicPr>
          <p:cNvPr id="9" name="صورة 8">
            <a:extLst>
              <a:ext uri="{FF2B5EF4-FFF2-40B4-BE49-F238E27FC236}">
                <a16:creationId xmlns:a16="http://schemas.microsoft.com/office/drawing/2014/main" id="{BF7DD471-C06D-4559-B5B0-421C9E4DEB4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35347" y="8770802"/>
            <a:ext cx="2258602" cy="1264412"/>
          </a:xfrm>
          <a:prstGeom prst="rect">
            <a:avLst/>
          </a:prstGeom>
        </p:spPr>
      </p:pic>
      <p:pic>
        <p:nvPicPr>
          <p:cNvPr id="10" name="صورة 9">
            <a:extLst>
              <a:ext uri="{FF2B5EF4-FFF2-40B4-BE49-F238E27FC236}">
                <a16:creationId xmlns:a16="http://schemas.microsoft.com/office/drawing/2014/main" id="{D67B6E36-D82F-381D-20CB-02C73A12693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647874" y="6447536"/>
            <a:ext cx="4210816" cy="2357302"/>
          </a:xfrm>
          <a:prstGeom prst="rect">
            <a:avLst/>
          </a:prstGeom>
        </p:spPr>
      </p:pic>
    </p:spTree>
    <p:extLst>
      <p:ext uri="{BB962C8B-B14F-4D97-AF65-F5344CB8AC3E}">
        <p14:creationId xmlns:p14="http://schemas.microsoft.com/office/powerpoint/2010/main" val="20899545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F11A1-965B-A7A5-9FC5-1B7CD140927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E0CC2F0-195C-B0CA-E8FD-D09AC0CFAACE}"/>
              </a:ext>
            </a:extLst>
          </p:cNvPr>
          <p:cNvSpPr>
            <a:spLocks noGrp="1" noRot="1" noMove="1" noResize="1" noEditPoints="1" noAdjustHandles="1" noChangeArrowheads="1" noChangeShapeType="1"/>
          </p:cNvSpPr>
          <p:nvPr/>
        </p:nvSpPr>
        <p:spPr>
          <a:xfrm>
            <a:off x="0" y="0"/>
            <a:ext cx="7560000" cy="10692000"/>
          </a:xfrm>
          <a:custGeom>
            <a:avLst/>
            <a:gdLst/>
            <a:ahLst/>
            <a:cxnLst/>
            <a:rect l="l" t="t" r="r" b="b"/>
            <a:pathLst>
              <a:path w="7560000" h="10692000">
                <a:moveTo>
                  <a:pt x="0" y="0"/>
                </a:moveTo>
                <a:lnTo>
                  <a:pt x="7560000" y="0"/>
                </a:lnTo>
                <a:lnTo>
                  <a:pt x="7560000" y="10692000"/>
                </a:lnTo>
                <a:lnTo>
                  <a:pt x="0" y="10692000"/>
                </a:lnTo>
                <a:lnTo>
                  <a:pt x="0" y="0"/>
                </a:lnTo>
                <a:close/>
              </a:path>
            </a:pathLst>
          </a:custGeom>
          <a:blipFill>
            <a:blip r:embed="rId2"/>
            <a:stretch>
              <a:fillRect l="-781" t="-13832" r="-781" b="-13832"/>
            </a:stretch>
          </a:blipFill>
        </p:spPr>
        <p:txBody>
          <a:bodyPr/>
          <a:lstStyle/>
          <a:p>
            <a:endParaRPr lang="ar-SA" dirty="0"/>
          </a:p>
        </p:txBody>
      </p:sp>
      <p:sp>
        <p:nvSpPr>
          <p:cNvPr id="3" name="Freeform 3">
            <a:extLst>
              <a:ext uri="{FF2B5EF4-FFF2-40B4-BE49-F238E27FC236}">
                <a16:creationId xmlns:a16="http://schemas.microsoft.com/office/drawing/2014/main" id="{6EDF0FBD-F797-E8F3-68A3-23427985F4DD}"/>
              </a:ext>
            </a:extLst>
          </p:cNvPr>
          <p:cNvSpPr>
            <a:spLocks noGrp="1" noRot="1" noMove="1" noResize="1" noEditPoints="1" noAdjustHandles="1" noChangeArrowheads="1" noChangeShapeType="1"/>
          </p:cNvSpPr>
          <p:nvPr/>
        </p:nvSpPr>
        <p:spPr>
          <a:xfrm>
            <a:off x="6654829" y="7724227"/>
            <a:ext cx="905171" cy="2967773"/>
          </a:xfrm>
          <a:custGeom>
            <a:avLst/>
            <a:gdLst/>
            <a:ahLst/>
            <a:cxnLst/>
            <a:rect l="l" t="t" r="r" b="b"/>
            <a:pathLst>
              <a:path w="905171" h="2967773">
                <a:moveTo>
                  <a:pt x="0" y="0"/>
                </a:moveTo>
                <a:lnTo>
                  <a:pt x="905171" y="0"/>
                </a:lnTo>
                <a:lnTo>
                  <a:pt x="905171" y="2967773"/>
                </a:lnTo>
                <a:lnTo>
                  <a:pt x="0" y="2967773"/>
                </a:lnTo>
                <a:lnTo>
                  <a:pt x="0" y="0"/>
                </a:lnTo>
                <a:close/>
              </a:path>
            </a:pathLst>
          </a:custGeom>
          <a:blipFill>
            <a:blip r:embed="rId3">
              <a:alphaModFix amt="83000"/>
              <a:extLst>
                <a:ext uri="{96DAC541-7B7A-43D3-8B79-37D633B846F1}">
                  <asvg:svgBlip xmlns:asvg="http://schemas.microsoft.com/office/drawing/2016/SVG/main" r:embed="rId4"/>
                </a:ext>
              </a:extLst>
            </a:blip>
            <a:stretch>
              <a:fillRect/>
            </a:stretch>
          </a:blipFill>
        </p:spPr>
        <p:txBody>
          <a:bodyPr/>
          <a:lstStyle/>
          <a:p>
            <a:endParaRPr lang="ar-SA"/>
          </a:p>
        </p:txBody>
      </p:sp>
      <p:sp>
        <p:nvSpPr>
          <p:cNvPr id="4" name="Freeform 4">
            <a:extLst>
              <a:ext uri="{FF2B5EF4-FFF2-40B4-BE49-F238E27FC236}">
                <a16:creationId xmlns:a16="http://schemas.microsoft.com/office/drawing/2014/main" id="{28C342F2-44C2-5B5F-2B07-3AF091130B87}"/>
              </a:ext>
            </a:extLst>
          </p:cNvPr>
          <p:cNvSpPr>
            <a:spLocks noGrp="1" noRot="1" noMove="1" noResize="1" noEditPoints="1" noAdjustHandles="1" noChangeArrowheads="1" noChangeShapeType="1"/>
          </p:cNvSpPr>
          <p:nvPr/>
        </p:nvSpPr>
        <p:spPr>
          <a:xfrm rot="-10800000">
            <a:off x="-18769" y="-1"/>
            <a:ext cx="1549537" cy="4110699"/>
          </a:xfrm>
          <a:custGeom>
            <a:avLst/>
            <a:gdLst/>
            <a:ahLst/>
            <a:cxnLst/>
            <a:rect l="l" t="t" r="r" b="b"/>
            <a:pathLst>
              <a:path w="1549537" h="5080448">
                <a:moveTo>
                  <a:pt x="0" y="0"/>
                </a:moveTo>
                <a:lnTo>
                  <a:pt x="1549536" y="0"/>
                </a:lnTo>
                <a:lnTo>
                  <a:pt x="1549536" y="5080448"/>
                </a:lnTo>
                <a:lnTo>
                  <a:pt x="0" y="5080448"/>
                </a:lnTo>
                <a:lnTo>
                  <a:pt x="0" y="0"/>
                </a:lnTo>
                <a:close/>
              </a:path>
            </a:pathLst>
          </a:custGeom>
          <a:blipFill>
            <a:blip r:embed="rId3">
              <a:alphaModFix amt="83000"/>
              <a:extLst>
                <a:ext uri="{96DAC541-7B7A-43D3-8B79-37D633B846F1}">
                  <asvg:svgBlip xmlns:asvg="http://schemas.microsoft.com/office/drawing/2016/SVG/main" r:embed="rId4"/>
                </a:ext>
              </a:extLst>
            </a:blip>
            <a:stretch>
              <a:fillRect b="-23591"/>
            </a:stretch>
          </a:blipFill>
          <a:ln cap="sq">
            <a:noFill/>
            <a:prstDash val="solid"/>
            <a:miter/>
          </a:ln>
        </p:spPr>
        <p:txBody>
          <a:bodyPr/>
          <a:lstStyle/>
          <a:p>
            <a:endParaRPr lang="ar-SA"/>
          </a:p>
        </p:txBody>
      </p:sp>
      <p:sp>
        <p:nvSpPr>
          <p:cNvPr id="5" name="TextBox 3">
            <a:extLst>
              <a:ext uri="{FF2B5EF4-FFF2-40B4-BE49-F238E27FC236}">
                <a16:creationId xmlns:a16="http://schemas.microsoft.com/office/drawing/2014/main" id="{7BBB630A-15C2-C644-8987-A5A0E996F54F}"/>
              </a:ext>
            </a:extLst>
          </p:cNvPr>
          <p:cNvSpPr txBox="1"/>
          <p:nvPr/>
        </p:nvSpPr>
        <p:spPr>
          <a:xfrm>
            <a:off x="2529148" y="1944103"/>
            <a:ext cx="2165905" cy="738664"/>
          </a:xfrm>
          <a:prstGeom prst="rect">
            <a:avLst/>
          </a:prstGeom>
          <a:solidFill>
            <a:srgbClr val="D4C2C6"/>
          </a:solidFill>
          <a:effectLst>
            <a:outerShdw blurRad="76200" dir="18900000" sy="23000" kx="-1200000" algn="bl" rotWithShape="0">
              <a:prstClr val="black">
                <a:alpha val="20000"/>
              </a:prstClr>
            </a:outerShdw>
          </a:effectLst>
        </p:spPr>
        <p:txBody>
          <a:bodyPr wrap="square" lIns="0" tIns="0" rIns="0" bIns="0" rtlCol="0" anchor="t">
            <a:spAutoFit/>
          </a:bodyPr>
          <a:lstStyle>
            <a:defPPr>
              <a:defRPr lang="en-US"/>
            </a:defPPr>
            <a:lvl1pPr lvl="0" indent="0" algn="ctr" rtl="1">
              <a:lnSpc>
                <a:spcPct val="150000"/>
              </a:lnSpc>
              <a:spcBef>
                <a:spcPct val="0"/>
              </a:spcBef>
              <a:defRPr u="none" strike="noStrike" spc="-33">
                <a:latin typeface="GE SS Two Light"/>
                <a:ea typeface="GE SS Two Light"/>
                <a:cs typeface="GE SS Two Light"/>
                <a:rtl/>
              </a:defRPr>
            </a:lvl1pPr>
          </a:lstStyle>
          <a:p>
            <a:pPr>
              <a:lnSpc>
                <a:spcPct val="100000"/>
              </a:lnSpc>
            </a:pPr>
            <a:r>
              <a:rPr lang="ar-EG" sz="2400" b="1" dirty="0">
                <a:latin typeface="Sakkal Majalla" panose="02000000000000000000" pitchFamily="2" charset="-78"/>
                <a:cs typeface="Sakkal Majalla" panose="02000000000000000000" pitchFamily="2" charset="-78"/>
                <a:sym typeface="GE SS Two Light"/>
              </a:rPr>
              <a:t>التفاعل مع </a:t>
            </a:r>
          </a:p>
          <a:p>
            <a:pPr>
              <a:lnSpc>
                <a:spcPct val="100000"/>
              </a:lnSpc>
            </a:pPr>
            <a:r>
              <a:rPr lang="ar-EG" sz="2400" b="1" dirty="0">
                <a:latin typeface="Sakkal Majalla" panose="02000000000000000000" pitchFamily="2" charset="-78"/>
                <a:cs typeface="Sakkal Majalla" panose="02000000000000000000" pitchFamily="2" charset="-78"/>
                <a:sym typeface="GE SS Two Light"/>
              </a:rPr>
              <a:t>أولياء الأمور 10 %</a:t>
            </a:r>
          </a:p>
        </p:txBody>
      </p:sp>
      <p:graphicFrame>
        <p:nvGraphicFramePr>
          <p:cNvPr id="6" name="جدول 5">
            <a:extLst>
              <a:ext uri="{FF2B5EF4-FFF2-40B4-BE49-F238E27FC236}">
                <a16:creationId xmlns:a16="http://schemas.microsoft.com/office/drawing/2014/main" id="{5451F65C-505E-EF27-1E64-3331FD426D66}"/>
              </a:ext>
            </a:extLst>
          </p:cNvPr>
          <p:cNvGraphicFramePr>
            <a:graphicFrameLocks noGrp="1"/>
          </p:cNvGraphicFramePr>
          <p:nvPr>
            <p:extLst>
              <p:ext uri="{D42A27DB-BD31-4B8C-83A1-F6EECF244321}">
                <p14:modId xmlns:p14="http://schemas.microsoft.com/office/powerpoint/2010/main" val="360474739"/>
              </p:ext>
            </p:extLst>
          </p:nvPr>
        </p:nvGraphicFramePr>
        <p:xfrm>
          <a:off x="853249" y="3054536"/>
          <a:ext cx="5849999" cy="3222683"/>
        </p:xfrm>
        <a:graphic>
          <a:graphicData uri="http://schemas.openxmlformats.org/drawingml/2006/table">
            <a:tbl>
              <a:tblPr rtl="1" firstRow="1" bandRow="1">
                <a:tableStyleId>{2D5ABB26-0587-4C30-8999-92F81FD0307C}</a:tableStyleId>
              </a:tblPr>
              <a:tblGrid>
                <a:gridCol w="3593251">
                  <a:extLst>
                    <a:ext uri="{9D8B030D-6E8A-4147-A177-3AD203B41FA5}">
                      <a16:colId xmlns:a16="http://schemas.microsoft.com/office/drawing/2014/main" val="315138284"/>
                    </a:ext>
                  </a:extLst>
                </a:gridCol>
                <a:gridCol w="1128374">
                  <a:extLst>
                    <a:ext uri="{9D8B030D-6E8A-4147-A177-3AD203B41FA5}">
                      <a16:colId xmlns:a16="http://schemas.microsoft.com/office/drawing/2014/main" val="3931588184"/>
                    </a:ext>
                  </a:extLst>
                </a:gridCol>
                <a:gridCol w="1128374">
                  <a:extLst>
                    <a:ext uri="{9D8B030D-6E8A-4147-A177-3AD203B41FA5}">
                      <a16:colId xmlns:a16="http://schemas.microsoft.com/office/drawing/2014/main" val="408297873"/>
                    </a:ext>
                  </a:extLst>
                </a:gridCol>
              </a:tblGrid>
              <a:tr h="383471">
                <a:tc>
                  <a:txBody>
                    <a:bodyPr/>
                    <a:lstStyle/>
                    <a:p>
                      <a:pPr algn="ctr" rtl="1"/>
                      <a:r>
                        <a:rPr lang="ar-SA" sz="1800" b="1"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الفقرة</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4C2C6"/>
                    </a:solidFill>
                  </a:tcPr>
                </a:tc>
                <a:tc>
                  <a:txBody>
                    <a:bodyPr/>
                    <a:lstStyle/>
                    <a:p>
                      <a:pPr algn="ctr" rtl="1"/>
                      <a:r>
                        <a:rPr lang="ar-SA" sz="1800" b="1"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متوفر</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4C2C6"/>
                    </a:solidFill>
                  </a:tcPr>
                </a:tc>
                <a:tc>
                  <a:txBody>
                    <a:bodyPr/>
                    <a:lstStyle/>
                    <a:p>
                      <a:pPr algn="ctr" rtl="1"/>
                      <a:r>
                        <a:rPr lang="ar-SA" sz="1800" b="1"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غير متوفر</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4C2C6"/>
                    </a:solidFill>
                  </a:tcPr>
                </a:tc>
                <a:extLst>
                  <a:ext uri="{0D108BD9-81ED-4DB2-BD59-A6C34878D82A}">
                    <a16:rowId xmlns:a16="http://schemas.microsoft.com/office/drawing/2014/main" val="3681228051"/>
                  </a:ext>
                </a:extLst>
              </a:tr>
              <a:tr h="383471">
                <a:tc>
                  <a:txBody>
                    <a:bodyPr/>
                    <a:lstStyle/>
                    <a:p>
                      <a:pPr marL="0" lvl="0" indent="0" algn="justLow" rtl="1">
                        <a:lnSpc>
                          <a:spcPct val="115000"/>
                        </a:lnSpc>
                        <a:spcAft>
                          <a:spcPts val="800"/>
                        </a:spcAft>
                        <a:buSzPts val="1200"/>
                        <a:buFont typeface="Times New Roman" panose="02020603050405020304" pitchFamily="18" charset="0"/>
                        <a:buNone/>
                      </a:pPr>
                      <a:r>
                        <a:rPr lang="ar-SA" sz="1800" b="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1. تنظيم اجتماعات دورية مع أولياء الأمور لمناقشة تقدم الطلاب.</a:t>
                      </a:r>
                      <a:endParaRPr lang="en-US" sz="1800"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8833806"/>
                  </a:ext>
                </a:extLst>
              </a:tr>
              <a:tr h="383471">
                <a:tc>
                  <a:txBody>
                    <a:bodyPr/>
                    <a:lstStyle/>
                    <a:p>
                      <a:pPr marL="0" lvl="0" indent="0" algn="justLow" rtl="1">
                        <a:lnSpc>
                          <a:spcPct val="115000"/>
                        </a:lnSpc>
                        <a:spcAft>
                          <a:spcPts val="800"/>
                        </a:spcAft>
                        <a:buSzPts val="1200"/>
                        <a:buFont typeface="Times New Roman" panose="02020603050405020304" pitchFamily="18" charset="0"/>
                        <a:buNone/>
                      </a:pPr>
                      <a:r>
                        <a:rPr lang="ar-SA" sz="1800" b="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2. إرسال تقارير منتظمة عن أداء الطلاب أكاديميًا وسلوكيًا.</a:t>
                      </a:r>
                      <a:endParaRPr lang="en-US" sz="1800"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2417266"/>
                  </a:ext>
                </a:extLst>
              </a:tr>
              <a:tr h="383471">
                <a:tc>
                  <a:txBody>
                    <a:bodyPr/>
                    <a:lstStyle/>
                    <a:p>
                      <a:pPr marL="0" lvl="0" indent="0" algn="justLow" rtl="1">
                        <a:lnSpc>
                          <a:spcPct val="115000"/>
                        </a:lnSpc>
                        <a:spcAft>
                          <a:spcPts val="800"/>
                        </a:spcAft>
                        <a:buSzPts val="1200"/>
                        <a:buFont typeface="Times New Roman" panose="02020603050405020304" pitchFamily="18" charset="0"/>
                        <a:buNone/>
                      </a:pPr>
                      <a:r>
                        <a:rPr lang="ar-SA" sz="1800" b="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3. استخدام وسائل التواصل الحديثة مثل البريد الإلكتروني أو التطبيقات التعليمية لإبقاء أولياء الأمور على اطلاع.</a:t>
                      </a:r>
                      <a:endParaRPr lang="en-US" sz="1800"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3305950"/>
                  </a:ext>
                </a:extLst>
              </a:tr>
              <a:tr h="383471">
                <a:tc>
                  <a:txBody>
                    <a:bodyPr/>
                    <a:lstStyle/>
                    <a:p>
                      <a:pPr marL="0" lvl="0" indent="0" algn="justLow" rtl="1">
                        <a:lnSpc>
                          <a:spcPct val="115000"/>
                        </a:lnSpc>
                        <a:spcAft>
                          <a:spcPts val="800"/>
                        </a:spcAft>
                        <a:buSzPts val="1200"/>
                        <a:buFont typeface="Times New Roman" panose="02020603050405020304" pitchFamily="18" charset="0"/>
                        <a:buNone/>
                      </a:pPr>
                      <a:r>
                        <a:rPr lang="ar-SA" sz="1800" b="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4. الاستماع لملاحظات أولياء الأمور والعمل على تحسين الأداء بناءً عليها.</a:t>
                      </a:r>
                      <a:endParaRPr lang="en-US" sz="1800"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dirty="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6843493"/>
                  </a:ext>
                </a:extLst>
              </a:tr>
            </a:tbl>
          </a:graphicData>
        </a:graphic>
      </p:graphicFrame>
      <p:pic>
        <p:nvPicPr>
          <p:cNvPr id="7" name="صورة 6">
            <a:extLst>
              <a:ext uri="{FF2B5EF4-FFF2-40B4-BE49-F238E27FC236}">
                <a16:creationId xmlns:a16="http://schemas.microsoft.com/office/drawing/2014/main" id="{911C0611-B156-7DAA-0814-C62228B2642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38998" y="8603835"/>
            <a:ext cx="3278500" cy="1835372"/>
          </a:xfrm>
          <a:prstGeom prst="rect">
            <a:avLst/>
          </a:prstGeom>
        </p:spPr>
      </p:pic>
      <p:pic>
        <p:nvPicPr>
          <p:cNvPr id="10" name="صورة 9">
            <a:extLst>
              <a:ext uri="{FF2B5EF4-FFF2-40B4-BE49-F238E27FC236}">
                <a16:creationId xmlns:a16="http://schemas.microsoft.com/office/drawing/2014/main" id="{0C03EF08-3DF6-61CD-C560-3889C54BA27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35347" y="8770802"/>
            <a:ext cx="2258602" cy="1264412"/>
          </a:xfrm>
          <a:prstGeom prst="rect">
            <a:avLst/>
          </a:prstGeom>
        </p:spPr>
      </p:pic>
      <p:pic>
        <p:nvPicPr>
          <p:cNvPr id="11" name="صورة 10">
            <a:extLst>
              <a:ext uri="{FF2B5EF4-FFF2-40B4-BE49-F238E27FC236}">
                <a16:creationId xmlns:a16="http://schemas.microsoft.com/office/drawing/2014/main" id="{76B5D55E-6189-E350-2782-CED7F3DD5A5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625872" y="6345359"/>
            <a:ext cx="4210816" cy="2357302"/>
          </a:xfrm>
          <a:prstGeom prst="rect">
            <a:avLst/>
          </a:prstGeom>
        </p:spPr>
      </p:pic>
      <p:sp>
        <p:nvSpPr>
          <p:cNvPr id="12" name="عنصر نائب للمحتوى 12">
            <a:extLst>
              <a:ext uri="{FF2B5EF4-FFF2-40B4-BE49-F238E27FC236}">
                <a16:creationId xmlns:a16="http://schemas.microsoft.com/office/drawing/2014/main" id="{9742A767-868C-EB3A-B2E0-5D8015AB468D}"/>
              </a:ext>
            </a:extLst>
          </p:cNvPr>
          <p:cNvSpPr txBox="1">
            <a:spLocks/>
          </p:cNvSpPr>
          <p:nvPr/>
        </p:nvSpPr>
        <p:spPr>
          <a:xfrm>
            <a:off x="2816882" y="6653452"/>
            <a:ext cx="1828800" cy="176792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en-US" sz="2400" dirty="0"/>
              <a:t>{%qr3}</a:t>
            </a:r>
          </a:p>
        </p:txBody>
      </p:sp>
    </p:spTree>
    <p:extLst>
      <p:ext uri="{BB962C8B-B14F-4D97-AF65-F5344CB8AC3E}">
        <p14:creationId xmlns:p14="http://schemas.microsoft.com/office/powerpoint/2010/main" val="458718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46957-0105-5368-0E63-8552B9F4928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CA25627-A07D-6265-C35A-DD65A0B08FB6}"/>
              </a:ext>
            </a:extLst>
          </p:cNvPr>
          <p:cNvSpPr>
            <a:spLocks noGrp="1" noRot="1" noMove="1" noResize="1" noEditPoints="1" noAdjustHandles="1" noChangeArrowheads="1" noChangeShapeType="1"/>
          </p:cNvSpPr>
          <p:nvPr/>
        </p:nvSpPr>
        <p:spPr>
          <a:xfrm>
            <a:off x="0" y="0"/>
            <a:ext cx="7560000" cy="10692000"/>
          </a:xfrm>
          <a:custGeom>
            <a:avLst/>
            <a:gdLst/>
            <a:ahLst/>
            <a:cxnLst/>
            <a:rect l="l" t="t" r="r" b="b"/>
            <a:pathLst>
              <a:path w="7560000" h="10692000">
                <a:moveTo>
                  <a:pt x="0" y="0"/>
                </a:moveTo>
                <a:lnTo>
                  <a:pt x="7560000" y="0"/>
                </a:lnTo>
                <a:lnTo>
                  <a:pt x="7560000" y="10692000"/>
                </a:lnTo>
                <a:lnTo>
                  <a:pt x="0" y="10692000"/>
                </a:lnTo>
                <a:lnTo>
                  <a:pt x="0" y="0"/>
                </a:lnTo>
                <a:close/>
              </a:path>
            </a:pathLst>
          </a:custGeom>
          <a:blipFill>
            <a:blip r:embed="rId2"/>
            <a:stretch>
              <a:fillRect l="-781" t="-13832" r="-781" b="-13832"/>
            </a:stretch>
          </a:blipFill>
        </p:spPr>
        <p:txBody>
          <a:bodyPr/>
          <a:lstStyle/>
          <a:p>
            <a:endParaRPr lang="ar-SA" dirty="0"/>
          </a:p>
        </p:txBody>
      </p:sp>
      <p:sp>
        <p:nvSpPr>
          <p:cNvPr id="3" name="Freeform 3">
            <a:extLst>
              <a:ext uri="{FF2B5EF4-FFF2-40B4-BE49-F238E27FC236}">
                <a16:creationId xmlns:a16="http://schemas.microsoft.com/office/drawing/2014/main" id="{A7290EA5-CE84-9984-B506-05FB92EB2BD4}"/>
              </a:ext>
            </a:extLst>
          </p:cNvPr>
          <p:cNvSpPr>
            <a:spLocks noGrp="1" noRot="1" noMove="1" noResize="1" noEditPoints="1" noAdjustHandles="1" noChangeArrowheads="1" noChangeShapeType="1"/>
          </p:cNvSpPr>
          <p:nvPr/>
        </p:nvSpPr>
        <p:spPr>
          <a:xfrm>
            <a:off x="6654829" y="7724227"/>
            <a:ext cx="905171" cy="2967773"/>
          </a:xfrm>
          <a:custGeom>
            <a:avLst/>
            <a:gdLst/>
            <a:ahLst/>
            <a:cxnLst/>
            <a:rect l="l" t="t" r="r" b="b"/>
            <a:pathLst>
              <a:path w="905171" h="2967773">
                <a:moveTo>
                  <a:pt x="0" y="0"/>
                </a:moveTo>
                <a:lnTo>
                  <a:pt x="905171" y="0"/>
                </a:lnTo>
                <a:lnTo>
                  <a:pt x="905171" y="2967773"/>
                </a:lnTo>
                <a:lnTo>
                  <a:pt x="0" y="2967773"/>
                </a:lnTo>
                <a:lnTo>
                  <a:pt x="0" y="0"/>
                </a:lnTo>
                <a:close/>
              </a:path>
            </a:pathLst>
          </a:custGeom>
          <a:blipFill>
            <a:blip r:embed="rId3">
              <a:alphaModFix amt="83000"/>
              <a:extLst>
                <a:ext uri="{96DAC541-7B7A-43D3-8B79-37D633B846F1}">
                  <asvg:svgBlip xmlns:asvg="http://schemas.microsoft.com/office/drawing/2016/SVG/main" r:embed="rId4"/>
                </a:ext>
              </a:extLst>
            </a:blip>
            <a:stretch>
              <a:fillRect/>
            </a:stretch>
          </a:blipFill>
        </p:spPr>
        <p:txBody>
          <a:bodyPr/>
          <a:lstStyle/>
          <a:p>
            <a:endParaRPr lang="ar-SA"/>
          </a:p>
        </p:txBody>
      </p:sp>
      <p:sp>
        <p:nvSpPr>
          <p:cNvPr id="4" name="Freeform 4">
            <a:extLst>
              <a:ext uri="{FF2B5EF4-FFF2-40B4-BE49-F238E27FC236}">
                <a16:creationId xmlns:a16="http://schemas.microsoft.com/office/drawing/2014/main" id="{B8B2C7B9-8734-1D05-C3F3-CA3CEFE1B974}"/>
              </a:ext>
            </a:extLst>
          </p:cNvPr>
          <p:cNvSpPr>
            <a:spLocks noGrp="1" noRot="1" noMove="1" noResize="1" noEditPoints="1" noAdjustHandles="1" noChangeArrowheads="1" noChangeShapeType="1"/>
          </p:cNvSpPr>
          <p:nvPr/>
        </p:nvSpPr>
        <p:spPr>
          <a:xfrm rot="-10800000">
            <a:off x="-18769" y="-1"/>
            <a:ext cx="1549537" cy="4110699"/>
          </a:xfrm>
          <a:custGeom>
            <a:avLst/>
            <a:gdLst/>
            <a:ahLst/>
            <a:cxnLst/>
            <a:rect l="l" t="t" r="r" b="b"/>
            <a:pathLst>
              <a:path w="1549537" h="5080448">
                <a:moveTo>
                  <a:pt x="0" y="0"/>
                </a:moveTo>
                <a:lnTo>
                  <a:pt x="1549536" y="0"/>
                </a:lnTo>
                <a:lnTo>
                  <a:pt x="1549536" y="5080448"/>
                </a:lnTo>
                <a:lnTo>
                  <a:pt x="0" y="5080448"/>
                </a:lnTo>
                <a:lnTo>
                  <a:pt x="0" y="0"/>
                </a:lnTo>
                <a:close/>
              </a:path>
            </a:pathLst>
          </a:custGeom>
          <a:blipFill>
            <a:blip r:embed="rId3">
              <a:alphaModFix amt="83000"/>
              <a:extLst>
                <a:ext uri="{96DAC541-7B7A-43D3-8B79-37D633B846F1}">
                  <asvg:svgBlip xmlns:asvg="http://schemas.microsoft.com/office/drawing/2016/SVG/main" r:embed="rId4"/>
                </a:ext>
              </a:extLst>
            </a:blip>
            <a:stretch>
              <a:fillRect b="-23591"/>
            </a:stretch>
          </a:blipFill>
          <a:ln cap="sq">
            <a:noFill/>
            <a:prstDash val="solid"/>
            <a:miter/>
          </a:ln>
        </p:spPr>
        <p:txBody>
          <a:bodyPr/>
          <a:lstStyle/>
          <a:p>
            <a:endParaRPr lang="ar-SA"/>
          </a:p>
        </p:txBody>
      </p:sp>
      <p:sp>
        <p:nvSpPr>
          <p:cNvPr id="12" name="TextBox 3">
            <a:extLst>
              <a:ext uri="{FF2B5EF4-FFF2-40B4-BE49-F238E27FC236}">
                <a16:creationId xmlns:a16="http://schemas.microsoft.com/office/drawing/2014/main" id="{175C619B-3985-11F8-A83A-B11532812DFE}"/>
              </a:ext>
            </a:extLst>
          </p:cNvPr>
          <p:cNvSpPr txBox="1"/>
          <p:nvPr/>
        </p:nvSpPr>
        <p:spPr>
          <a:xfrm>
            <a:off x="1926615" y="1553266"/>
            <a:ext cx="3703266" cy="738664"/>
          </a:xfrm>
          <a:prstGeom prst="rect">
            <a:avLst/>
          </a:prstGeom>
          <a:solidFill>
            <a:srgbClr val="D4C2C6"/>
          </a:solidFill>
          <a:effectLst>
            <a:outerShdw blurRad="76200" dir="18900000" sy="23000" kx="-1200000" algn="bl" rotWithShape="0">
              <a:prstClr val="black">
                <a:alpha val="20000"/>
              </a:prstClr>
            </a:outerShdw>
          </a:effectLst>
        </p:spPr>
        <p:txBody>
          <a:bodyPr wrap="square" lIns="0" tIns="0" rIns="0" bIns="0" rtlCol="0" anchor="t">
            <a:spAutoFit/>
          </a:bodyPr>
          <a:lstStyle>
            <a:defPPr>
              <a:defRPr lang="en-US"/>
            </a:defPPr>
            <a:lvl1pPr lvl="0" indent="0" algn="ctr" rtl="1">
              <a:lnSpc>
                <a:spcPct val="150000"/>
              </a:lnSpc>
              <a:spcBef>
                <a:spcPct val="0"/>
              </a:spcBef>
              <a:defRPr u="none" strike="noStrike" spc="-33">
                <a:latin typeface="GE SS Two Light"/>
                <a:ea typeface="GE SS Two Light"/>
                <a:cs typeface="GE SS Two Light"/>
                <a:rtl/>
              </a:defRPr>
            </a:lvl1pPr>
          </a:lstStyle>
          <a:p>
            <a:pPr>
              <a:lnSpc>
                <a:spcPct val="100000"/>
              </a:lnSpc>
            </a:pPr>
            <a:r>
              <a:rPr lang="ar-EG" sz="2400" b="1" dirty="0">
                <a:latin typeface="Sakkal Majalla" panose="02000000000000000000" pitchFamily="2" charset="-78"/>
                <a:cs typeface="Sakkal Majalla" panose="02000000000000000000" pitchFamily="2" charset="-78"/>
                <a:sym typeface="GE SS Two Light"/>
              </a:rPr>
              <a:t>التنويع</a:t>
            </a:r>
            <a:r>
              <a:rPr lang="ar-SA" sz="2400" b="1" dirty="0">
                <a:latin typeface="Sakkal Majalla" panose="02000000000000000000" pitchFamily="2" charset="-78"/>
                <a:cs typeface="Sakkal Majalla" panose="02000000000000000000" pitchFamily="2" charset="-78"/>
                <a:sym typeface="GE SS Two Light"/>
              </a:rPr>
              <a:t> </a:t>
            </a:r>
            <a:r>
              <a:rPr lang="ar-EG" sz="2400" b="1" dirty="0">
                <a:latin typeface="Sakkal Majalla" panose="02000000000000000000" pitchFamily="2" charset="-78"/>
                <a:cs typeface="Sakkal Majalla" panose="02000000000000000000" pitchFamily="2" charset="-78"/>
                <a:sym typeface="GE SS Two Light"/>
              </a:rPr>
              <a:t>في استراتيجيات التدريس</a:t>
            </a:r>
          </a:p>
          <a:p>
            <a:pPr>
              <a:lnSpc>
                <a:spcPct val="100000"/>
              </a:lnSpc>
            </a:pPr>
            <a:r>
              <a:rPr lang="ar-EG" sz="2400" b="1" dirty="0">
                <a:latin typeface="Sakkal Majalla" panose="02000000000000000000" pitchFamily="2" charset="-78"/>
                <a:cs typeface="Sakkal Majalla" panose="02000000000000000000" pitchFamily="2" charset="-78"/>
                <a:sym typeface="GE SS Two Light"/>
              </a:rPr>
              <a:t> 10% </a:t>
            </a:r>
          </a:p>
        </p:txBody>
      </p:sp>
      <p:graphicFrame>
        <p:nvGraphicFramePr>
          <p:cNvPr id="13" name="جدول 12">
            <a:extLst>
              <a:ext uri="{FF2B5EF4-FFF2-40B4-BE49-F238E27FC236}">
                <a16:creationId xmlns:a16="http://schemas.microsoft.com/office/drawing/2014/main" id="{E7623C66-B3DB-0FF2-DE9A-3B8B5A7641E6}"/>
              </a:ext>
            </a:extLst>
          </p:cNvPr>
          <p:cNvGraphicFramePr>
            <a:graphicFrameLocks noGrp="1"/>
          </p:cNvGraphicFramePr>
          <p:nvPr>
            <p:extLst>
              <p:ext uri="{D42A27DB-BD31-4B8C-83A1-F6EECF244321}">
                <p14:modId xmlns:p14="http://schemas.microsoft.com/office/powerpoint/2010/main" val="2130632120"/>
              </p:ext>
            </p:extLst>
          </p:nvPr>
        </p:nvGraphicFramePr>
        <p:xfrm>
          <a:off x="853248" y="2796974"/>
          <a:ext cx="5850000" cy="3196785"/>
        </p:xfrm>
        <a:graphic>
          <a:graphicData uri="http://schemas.openxmlformats.org/drawingml/2006/table">
            <a:tbl>
              <a:tblPr rtl="1" firstRow="1" bandRow="1">
                <a:tableStyleId>{2D5ABB26-0587-4C30-8999-92F81FD0307C}</a:tableStyleId>
              </a:tblPr>
              <a:tblGrid>
                <a:gridCol w="3345556">
                  <a:extLst>
                    <a:ext uri="{9D8B030D-6E8A-4147-A177-3AD203B41FA5}">
                      <a16:colId xmlns:a16="http://schemas.microsoft.com/office/drawing/2014/main" val="315138284"/>
                    </a:ext>
                  </a:extLst>
                </a:gridCol>
                <a:gridCol w="1252222">
                  <a:extLst>
                    <a:ext uri="{9D8B030D-6E8A-4147-A177-3AD203B41FA5}">
                      <a16:colId xmlns:a16="http://schemas.microsoft.com/office/drawing/2014/main" val="3931588184"/>
                    </a:ext>
                  </a:extLst>
                </a:gridCol>
                <a:gridCol w="1252222">
                  <a:extLst>
                    <a:ext uri="{9D8B030D-6E8A-4147-A177-3AD203B41FA5}">
                      <a16:colId xmlns:a16="http://schemas.microsoft.com/office/drawing/2014/main" val="408297873"/>
                    </a:ext>
                  </a:extLst>
                </a:gridCol>
              </a:tblGrid>
              <a:tr h="411664">
                <a:tc>
                  <a:txBody>
                    <a:bodyPr/>
                    <a:lstStyle/>
                    <a:p>
                      <a:pPr algn="ctr" rtl="1">
                        <a:lnSpc>
                          <a:spcPct val="100000"/>
                        </a:lnSpc>
                      </a:pPr>
                      <a:r>
                        <a:rPr lang="ar-SA" sz="1800" b="1"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الفقرة</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4C2C6"/>
                    </a:solidFill>
                  </a:tcPr>
                </a:tc>
                <a:tc>
                  <a:txBody>
                    <a:bodyPr/>
                    <a:lstStyle/>
                    <a:p>
                      <a:pPr algn="ctr" rtl="1">
                        <a:lnSpc>
                          <a:spcPct val="100000"/>
                        </a:lnSpc>
                      </a:pPr>
                      <a:r>
                        <a:rPr lang="ar-SA" sz="1800" b="1"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متوفر</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4C2C6"/>
                    </a:solidFill>
                  </a:tcPr>
                </a:tc>
                <a:tc>
                  <a:txBody>
                    <a:bodyPr/>
                    <a:lstStyle/>
                    <a:p>
                      <a:pPr algn="ctr" rtl="1">
                        <a:lnSpc>
                          <a:spcPct val="100000"/>
                        </a:lnSpc>
                      </a:pPr>
                      <a:r>
                        <a:rPr lang="ar-SA" sz="1800" b="1"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غير متوفر</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4C2C6"/>
                    </a:solidFill>
                  </a:tcPr>
                </a:tc>
                <a:extLst>
                  <a:ext uri="{0D108BD9-81ED-4DB2-BD59-A6C34878D82A}">
                    <a16:rowId xmlns:a16="http://schemas.microsoft.com/office/drawing/2014/main" val="3681228051"/>
                  </a:ext>
                </a:extLst>
              </a:tr>
              <a:tr h="710288">
                <a:tc>
                  <a:txBody>
                    <a:bodyPr/>
                    <a:lstStyle/>
                    <a:p>
                      <a:pPr marL="0" lvl="0" indent="0" algn="justLow" rtl="1">
                        <a:lnSpc>
                          <a:spcPct val="100000"/>
                        </a:lnSpc>
                        <a:spcAft>
                          <a:spcPts val="800"/>
                        </a:spcAft>
                        <a:buSzPts val="1200"/>
                        <a:buFont typeface="Times New Roman" panose="02020603050405020304" pitchFamily="18" charset="0"/>
                        <a:buNone/>
                      </a:pPr>
                      <a:r>
                        <a:rPr lang="ar-SA" sz="1800" b="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1. استخدام التعلم النشط مثل المناقشات الجماعية والعروض التقديمية.</a:t>
                      </a:r>
                      <a:endParaRPr lang="en-US" sz="1800"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lnSpc>
                          <a:spcPct val="100000"/>
                        </a:lnSpc>
                      </a:pP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8833806"/>
                  </a:ext>
                </a:extLst>
              </a:tr>
              <a:tr h="710288">
                <a:tc>
                  <a:txBody>
                    <a:bodyPr/>
                    <a:lstStyle/>
                    <a:p>
                      <a:pPr marL="0" lvl="0" indent="0" algn="justLow" rtl="1">
                        <a:lnSpc>
                          <a:spcPct val="100000"/>
                        </a:lnSpc>
                        <a:spcAft>
                          <a:spcPts val="800"/>
                        </a:spcAft>
                        <a:buSzPts val="1200"/>
                        <a:buFont typeface="Times New Roman" panose="02020603050405020304" pitchFamily="18" charset="0"/>
                        <a:buNone/>
                      </a:pPr>
                      <a:r>
                        <a:rPr lang="ar-SA" sz="1800" b="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2. تطبيق التعلم القائم على المشاريع لتعزيز الإبداع وحل المشكلات.</a:t>
                      </a:r>
                      <a:endParaRPr lang="en-US" sz="1800"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lnSpc>
                          <a:spcPct val="100000"/>
                        </a:lnSpc>
                      </a:pP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2417266"/>
                  </a:ext>
                </a:extLst>
              </a:tr>
              <a:tr h="584805">
                <a:tc>
                  <a:txBody>
                    <a:bodyPr/>
                    <a:lstStyle/>
                    <a:p>
                      <a:pPr marL="0" lvl="0" indent="0" algn="justLow" rtl="1">
                        <a:lnSpc>
                          <a:spcPct val="100000"/>
                        </a:lnSpc>
                        <a:spcAft>
                          <a:spcPts val="800"/>
                        </a:spcAft>
                        <a:buSzPts val="1200"/>
                        <a:buFont typeface="Times New Roman" panose="02020603050405020304" pitchFamily="18" charset="0"/>
                        <a:buNone/>
                      </a:pPr>
                      <a:r>
                        <a:rPr lang="ar-SA" sz="1800" b="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3. استخدام الوسائل البصرية والسمعية مثل الفيديوهات والصور.</a:t>
                      </a:r>
                      <a:endParaRPr lang="en-US" sz="1800"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lnSpc>
                          <a:spcPct val="100000"/>
                        </a:lnSpc>
                      </a:pP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3305950"/>
                  </a:ext>
                </a:extLst>
              </a:tr>
              <a:tr h="779740">
                <a:tc>
                  <a:txBody>
                    <a:bodyPr/>
                    <a:lstStyle/>
                    <a:p>
                      <a:pPr marL="0" lvl="0" indent="0" algn="justLow" rtl="1">
                        <a:lnSpc>
                          <a:spcPct val="100000"/>
                        </a:lnSpc>
                        <a:spcAft>
                          <a:spcPts val="800"/>
                        </a:spcAft>
                        <a:buSzPts val="1200"/>
                        <a:buFont typeface="Times New Roman" panose="02020603050405020304" pitchFamily="18" charset="0"/>
                        <a:buNone/>
                      </a:pPr>
                      <a:r>
                        <a:rPr lang="ar-SA" sz="1800" b="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4. تخصيص أنشطة تعليمية تناسب أنماط التعلم المختلفة (بصري، سمعي، حركي).</a:t>
                      </a:r>
                      <a:endParaRPr lang="en-US" sz="1800"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dirty="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lnSpc>
                          <a:spcPct val="100000"/>
                        </a:lnSpc>
                      </a:pP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6843493"/>
                  </a:ext>
                </a:extLst>
              </a:tr>
            </a:tbl>
          </a:graphicData>
        </a:graphic>
      </p:graphicFrame>
      <p:pic>
        <p:nvPicPr>
          <p:cNvPr id="14" name="صورة 13">
            <a:extLst>
              <a:ext uri="{FF2B5EF4-FFF2-40B4-BE49-F238E27FC236}">
                <a16:creationId xmlns:a16="http://schemas.microsoft.com/office/drawing/2014/main" id="{4131D375-61DC-56A0-AF6F-EFCD263FBB9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81572" y="8770802"/>
            <a:ext cx="2993353" cy="1675741"/>
          </a:xfrm>
          <a:prstGeom prst="rect">
            <a:avLst/>
          </a:prstGeom>
        </p:spPr>
      </p:pic>
      <p:pic>
        <p:nvPicPr>
          <p:cNvPr id="18" name="صورة 17">
            <a:extLst>
              <a:ext uri="{FF2B5EF4-FFF2-40B4-BE49-F238E27FC236}">
                <a16:creationId xmlns:a16="http://schemas.microsoft.com/office/drawing/2014/main" id="{BF64D352-D41B-5C2A-09B9-11CF888FDA7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49250" y="9026160"/>
            <a:ext cx="2081065" cy="1165023"/>
          </a:xfrm>
          <a:prstGeom prst="rect">
            <a:avLst/>
          </a:prstGeom>
        </p:spPr>
      </p:pic>
      <p:pic>
        <p:nvPicPr>
          <p:cNvPr id="7" name="صورة 6">
            <a:extLst>
              <a:ext uri="{FF2B5EF4-FFF2-40B4-BE49-F238E27FC236}">
                <a16:creationId xmlns:a16="http://schemas.microsoft.com/office/drawing/2014/main" id="{4309E03B-DE61-C1CD-0FC0-AFC0BEC0F82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672842" y="6331308"/>
            <a:ext cx="4210816" cy="2357302"/>
          </a:xfrm>
          <a:prstGeom prst="rect">
            <a:avLst/>
          </a:prstGeom>
        </p:spPr>
      </p:pic>
      <p:sp>
        <p:nvSpPr>
          <p:cNvPr id="8" name="عنصر نائب للمحتوى 12">
            <a:extLst>
              <a:ext uri="{FF2B5EF4-FFF2-40B4-BE49-F238E27FC236}">
                <a16:creationId xmlns:a16="http://schemas.microsoft.com/office/drawing/2014/main" id="{1F72D10C-DCA4-3109-04F1-AFAD72AC22E4}"/>
              </a:ext>
            </a:extLst>
          </p:cNvPr>
          <p:cNvSpPr txBox="1">
            <a:spLocks/>
          </p:cNvSpPr>
          <p:nvPr/>
        </p:nvSpPr>
        <p:spPr>
          <a:xfrm>
            <a:off x="2863852" y="6639401"/>
            <a:ext cx="1828800" cy="176792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en-US" sz="2400" dirty="0"/>
              <a:t>{%qr4}</a:t>
            </a:r>
          </a:p>
        </p:txBody>
      </p:sp>
    </p:spTree>
    <p:extLst>
      <p:ext uri="{BB962C8B-B14F-4D97-AF65-F5344CB8AC3E}">
        <p14:creationId xmlns:p14="http://schemas.microsoft.com/office/powerpoint/2010/main" val="3463308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EEB06-987B-C47F-5506-2671523B8EF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065046A-1F7C-99EA-0382-424F9E497976}"/>
              </a:ext>
            </a:extLst>
          </p:cNvPr>
          <p:cNvSpPr>
            <a:spLocks noGrp="1" noRot="1" noMove="1" noResize="1" noEditPoints="1" noAdjustHandles="1" noChangeArrowheads="1" noChangeShapeType="1"/>
          </p:cNvSpPr>
          <p:nvPr/>
        </p:nvSpPr>
        <p:spPr>
          <a:xfrm>
            <a:off x="0" y="0"/>
            <a:ext cx="7560000" cy="10692000"/>
          </a:xfrm>
          <a:custGeom>
            <a:avLst/>
            <a:gdLst/>
            <a:ahLst/>
            <a:cxnLst/>
            <a:rect l="l" t="t" r="r" b="b"/>
            <a:pathLst>
              <a:path w="7560000" h="10692000">
                <a:moveTo>
                  <a:pt x="0" y="0"/>
                </a:moveTo>
                <a:lnTo>
                  <a:pt x="7560000" y="0"/>
                </a:lnTo>
                <a:lnTo>
                  <a:pt x="7560000" y="10692000"/>
                </a:lnTo>
                <a:lnTo>
                  <a:pt x="0" y="10692000"/>
                </a:lnTo>
                <a:lnTo>
                  <a:pt x="0" y="0"/>
                </a:lnTo>
                <a:close/>
              </a:path>
            </a:pathLst>
          </a:custGeom>
          <a:blipFill>
            <a:blip r:embed="rId2"/>
            <a:stretch>
              <a:fillRect l="-781" t="-13832" r="-781" b="-13832"/>
            </a:stretch>
          </a:blipFill>
        </p:spPr>
        <p:txBody>
          <a:bodyPr/>
          <a:lstStyle/>
          <a:p>
            <a:endParaRPr lang="ar-SA" dirty="0"/>
          </a:p>
        </p:txBody>
      </p:sp>
      <p:sp>
        <p:nvSpPr>
          <p:cNvPr id="3" name="Freeform 3">
            <a:extLst>
              <a:ext uri="{FF2B5EF4-FFF2-40B4-BE49-F238E27FC236}">
                <a16:creationId xmlns:a16="http://schemas.microsoft.com/office/drawing/2014/main" id="{6C81CD63-F15A-698A-5DD9-BABF1C1E50F3}"/>
              </a:ext>
            </a:extLst>
          </p:cNvPr>
          <p:cNvSpPr>
            <a:spLocks noGrp="1" noRot="1" noMove="1" noResize="1" noEditPoints="1" noAdjustHandles="1" noChangeArrowheads="1" noChangeShapeType="1"/>
          </p:cNvSpPr>
          <p:nvPr/>
        </p:nvSpPr>
        <p:spPr>
          <a:xfrm>
            <a:off x="6654829" y="7724227"/>
            <a:ext cx="905171" cy="2967773"/>
          </a:xfrm>
          <a:custGeom>
            <a:avLst/>
            <a:gdLst/>
            <a:ahLst/>
            <a:cxnLst/>
            <a:rect l="l" t="t" r="r" b="b"/>
            <a:pathLst>
              <a:path w="905171" h="2967773">
                <a:moveTo>
                  <a:pt x="0" y="0"/>
                </a:moveTo>
                <a:lnTo>
                  <a:pt x="905171" y="0"/>
                </a:lnTo>
                <a:lnTo>
                  <a:pt x="905171" y="2967773"/>
                </a:lnTo>
                <a:lnTo>
                  <a:pt x="0" y="2967773"/>
                </a:lnTo>
                <a:lnTo>
                  <a:pt x="0" y="0"/>
                </a:lnTo>
                <a:close/>
              </a:path>
            </a:pathLst>
          </a:custGeom>
          <a:blipFill>
            <a:blip r:embed="rId3">
              <a:alphaModFix amt="83000"/>
              <a:extLst>
                <a:ext uri="{96DAC541-7B7A-43D3-8B79-37D633B846F1}">
                  <asvg:svgBlip xmlns:asvg="http://schemas.microsoft.com/office/drawing/2016/SVG/main" r:embed="rId4"/>
                </a:ext>
              </a:extLst>
            </a:blip>
            <a:stretch>
              <a:fillRect/>
            </a:stretch>
          </a:blipFill>
        </p:spPr>
        <p:txBody>
          <a:bodyPr/>
          <a:lstStyle/>
          <a:p>
            <a:endParaRPr lang="ar-SA"/>
          </a:p>
        </p:txBody>
      </p:sp>
      <p:sp>
        <p:nvSpPr>
          <p:cNvPr id="4" name="Freeform 4">
            <a:extLst>
              <a:ext uri="{FF2B5EF4-FFF2-40B4-BE49-F238E27FC236}">
                <a16:creationId xmlns:a16="http://schemas.microsoft.com/office/drawing/2014/main" id="{31C968C2-715C-B114-6B27-34FB62DAAA1C}"/>
              </a:ext>
            </a:extLst>
          </p:cNvPr>
          <p:cNvSpPr>
            <a:spLocks noGrp="1" noRot="1" noMove="1" noResize="1" noEditPoints="1" noAdjustHandles="1" noChangeArrowheads="1" noChangeShapeType="1"/>
          </p:cNvSpPr>
          <p:nvPr/>
        </p:nvSpPr>
        <p:spPr>
          <a:xfrm rot="-10800000">
            <a:off x="-18769" y="-1"/>
            <a:ext cx="1549537" cy="4110699"/>
          </a:xfrm>
          <a:custGeom>
            <a:avLst/>
            <a:gdLst/>
            <a:ahLst/>
            <a:cxnLst/>
            <a:rect l="l" t="t" r="r" b="b"/>
            <a:pathLst>
              <a:path w="1549537" h="5080448">
                <a:moveTo>
                  <a:pt x="0" y="0"/>
                </a:moveTo>
                <a:lnTo>
                  <a:pt x="1549536" y="0"/>
                </a:lnTo>
                <a:lnTo>
                  <a:pt x="1549536" y="5080448"/>
                </a:lnTo>
                <a:lnTo>
                  <a:pt x="0" y="5080448"/>
                </a:lnTo>
                <a:lnTo>
                  <a:pt x="0" y="0"/>
                </a:lnTo>
                <a:close/>
              </a:path>
            </a:pathLst>
          </a:custGeom>
          <a:blipFill>
            <a:blip r:embed="rId3">
              <a:alphaModFix amt="83000"/>
              <a:extLst>
                <a:ext uri="{96DAC541-7B7A-43D3-8B79-37D633B846F1}">
                  <asvg:svgBlip xmlns:asvg="http://schemas.microsoft.com/office/drawing/2016/SVG/main" r:embed="rId4"/>
                </a:ext>
              </a:extLst>
            </a:blip>
            <a:stretch>
              <a:fillRect b="-23591"/>
            </a:stretch>
          </a:blipFill>
          <a:ln cap="sq">
            <a:noFill/>
            <a:prstDash val="solid"/>
            <a:miter/>
          </a:ln>
        </p:spPr>
        <p:txBody>
          <a:bodyPr/>
          <a:lstStyle/>
          <a:p>
            <a:endParaRPr lang="ar-SA"/>
          </a:p>
        </p:txBody>
      </p:sp>
      <p:sp>
        <p:nvSpPr>
          <p:cNvPr id="13" name="TextBox 3">
            <a:extLst>
              <a:ext uri="{FF2B5EF4-FFF2-40B4-BE49-F238E27FC236}">
                <a16:creationId xmlns:a16="http://schemas.microsoft.com/office/drawing/2014/main" id="{81CF8D14-AFFA-3B12-ACEF-416B7557121E}"/>
              </a:ext>
            </a:extLst>
          </p:cNvPr>
          <p:cNvSpPr txBox="1"/>
          <p:nvPr/>
        </p:nvSpPr>
        <p:spPr>
          <a:xfrm>
            <a:off x="1922157" y="1657162"/>
            <a:ext cx="3703266" cy="738664"/>
          </a:xfrm>
          <a:prstGeom prst="rect">
            <a:avLst/>
          </a:prstGeom>
          <a:solidFill>
            <a:srgbClr val="D4C2C6"/>
          </a:solidFill>
          <a:effectLst>
            <a:outerShdw blurRad="76200" dir="18900000" sy="23000" kx="-1200000" algn="bl" rotWithShape="0">
              <a:prstClr val="black">
                <a:alpha val="20000"/>
              </a:prstClr>
            </a:outerShdw>
          </a:effectLst>
        </p:spPr>
        <p:txBody>
          <a:bodyPr wrap="square" lIns="0" tIns="0" rIns="0" bIns="0" rtlCol="0" anchor="t">
            <a:spAutoFit/>
          </a:bodyPr>
          <a:lstStyle>
            <a:defPPr>
              <a:defRPr lang="en-US"/>
            </a:defPPr>
            <a:lvl1pPr lvl="0" indent="0" algn="ctr" rtl="1">
              <a:lnSpc>
                <a:spcPct val="150000"/>
              </a:lnSpc>
              <a:spcBef>
                <a:spcPct val="0"/>
              </a:spcBef>
              <a:defRPr u="none" strike="noStrike" spc="-33">
                <a:latin typeface="GE SS Two Light"/>
                <a:ea typeface="GE SS Two Light"/>
                <a:cs typeface="GE SS Two Light"/>
                <a:rtl/>
              </a:defRPr>
            </a:lvl1pPr>
          </a:lstStyle>
          <a:p>
            <a:pPr>
              <a:lnSpc>
                <a:spcPct val="100000"/>
              </a:lnSpc>
            </a:pPr>
            <a:r>
              <a:rPr lang="ar-EG" sz="2400" b="1" dirty="0">
                <a:latin typeface="Sakkal Majalla" panose="02000000000000000000" pitchFamily="2" charset="-78"/>
                <a:cs typeface="Sakkal Majalla" panose="02000000000000000000" pitchFamily="2" charset="-78"/>
                <a:sym typeface="GE SS Two Light"/>
              </a:rPr>
              <a:t>تحسين </a:t>
            </a:r>
          </a:p>
          <a:p>
            <a:pPr>
              <a:lnSpc>
                <a:spcPct val="100000"/>
              </a:lnSpc>
            </a:pPr>
            <a:r>
              <a:rPr lang="ar-EG" sz="2400" b="1" dirty="0">
                <a:latin typeface="Sakkal Majalla" panose="02000000000000000000" pitchFamily="2" charset="-78"/>
                <a:cs typeface="Sakkal Majalla" panose="02000000000000000000" pitchFamily="2" charset="-78"/>
                <a:sym typeface="GE SS Two Light"/>
              </a:rPr>
              <a:t>نتائج المتعلمين 10% </a:t>
            </a:r>
          </a:p>
        </p:txBody>
      </p:sp>
      <p:graphicFrame>
        <p:nvGraphicFramePr>
          <p:cNvPr id="14" name="جدول 13">
            <a:extLst>
              <a:ext uri="{FF2B5EF4-FFF2-40B4-BE49-F238E27FC236}">
                <a16:creationId xmlns:a16="http://schemas.microsoft.com/office/drawing/2014/main" id="{76794715-AF23-C978-FD33-BC95BA303C44}"/>
              </a:ext>
            </a:extLst>
          </p:cNvPr>
          <p:cNvGraphicFramePr>
            <a:graphicFrameLocks noGrp="1"/>
          </p:cNvGraphicFramePr>
          <p:nvPr>
            <p:extLst>
              <p:ext uri="{D42A27DB-BD31-4B8C-83A1-F6EECF244321}">
                <p14:modId xmlns:p14="http://schemas.microsoft.com/office/powerpoint/2010/main" val="2178279256"/>
              </p:ext>
            </p:extLst>
          </p:nvPr>
        </p:nvGraphicFramePr>
        <p:xfrm>
          <a:off x="848791" y="3125750"/>
          <a:ext cx="5849999" cy="2909888"/>
        </p:xfrm>
        <a:graphic>
          <a:graphicData uri="http://schemas.openxmlformats.org/drawingml/2006/table">
            <a:tbl>
              <a:tblPr rtl="1" firstRow="1" bandRow="1">
                <a:tableStyleId>{2D5ABB26-0587-4C30-8999-92F81FD0307C}</a:tableStyleId>
              </a:tblPr>
              <a:tblGrid>
                <a:gridCol w="3288895">
                  <a:extLst>
                    <a:ext uri="{9D8B030D-6E8A-4147-A177-3AD203B41FA5}">
                      <a16:colId xmlns:a16="http://schemas.microsoft.com/office/drawing/2014/main" val="315138284"/>
                    </a:ext>
                  </a:extLst>
                </a:gridCol>
                <a:gridCol w="1280552">
                  <a:extLst>
                    <a:ext uri="{9D8B030D-6E8A-4147-A177-3AD203B41FA5}">
                      <a16:colId xmlns:a16="http://schemas.microsoft.com/office/drawing/2014/main" val="3931588184"/>
                    </a:ext>
                  </a:extLst>
                </a:gridCol>
                <a:gridCol w="1280552">
                  <a:extLst>
                    <a:ext uri="{9D8B030D-6E8A-4147-A177-3AD203B41FA5}">
                      <a16:colId xmlns:a16="http://schemas.microsoft.com/office/drawing/2014/main" val="408297873"/>
                    </a:ext>
                  </a:extLst>
                </a:gridCol>
              </a:tblGrid>
              <a:tr h="299554">
                <a:tc>
                  <a:txBody>
                    <a:bodyPr/>
                    <a:lstStyle/>
                    <a:p>
                      <a:pPr algn="ctr" rtl="1">
                        <a:lnSpc>
                          <a:spcPct val="100000"/>
                        </a:lnSpc>
                      </a:pPr>
                      <a:r>
                        <a:rPr lang="ar-SA" sz="1800" b="1"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الفقرة</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4C2C6"/>
                    </a:solidFill>
                  </a:tcPr>
                </a:tc>
                <a:tc>
                  <a:txBody>
                    <a:bodyPr/>
                    <a:lstStyle/>
                    <a:p>
                      <a:pPr algn="ctr" rtl="1">
                        <a:lnSpc>
                          <a:spcPct val="100000"/>
                        </a:lnSpc>
                      </a:pPr>
                      <a:r>
                        <a:rPr lang="ar-SA" sz="1800" b="1"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متوفر</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4C2C6"/>
                    </a:solidFill>
                  </a:tcPr>
                </a:tc>
                <a:tc>
                  <a:txBody>
                    <a:bodyPr/>
                    <a:lstStyle/>
                    <a:p>
                      <a:pPr algn="ctr" rtl="1">
                        <a:lnSpc>
                          <a:spcPct val="100000"/>
                        </a:lnSpc>
                      </a:pPr>
                      <a:r>
                        <a:rPr lang="ar-SA" sz="1800" b="1"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غير متوفر</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4C2C6"/>
                    </a:solidFill>
                  </a:tcPr>
                </a:tc>
                <a:extLst>
                  <a:ext uri="{0D108BD9-81ED-4DB2-BD59-A6C34878D82A}">
                    <a16:rowId xmlns:a16="http://schemas.microsoft.com/office/drawing/2014/main" val="3681228051"/>
                  </a:ext>
                </a:extLst>
              </a:tr>
              <a:tr h="482283">
                <a:tc>
                  <a:txBody>
                    <a:bodyPr/>
                    <a:lstStyle/>
                    <a:p>
                      <a:pPr marL="0" lvl="0" indent="0" algn="justLow" rtl="1">
                        <a:lnSpc>
                          <a:spcPct val="100000"/>
                        </a:lnSpc>
                        <a:spcAft>
                          <a:spcPts val="800"/>
                        </a:spcAft>
                        <a:buSzPts val="1200"/>
                        <a:buFont typeface="Times New Roman" panose="02020603050405020304" pitchFamily="18" charset="0"/>
                        <a:buNone/>
                      </a:pPr>
                      <a:r>
                        <a:rPr lang="ar-SA" sz="1800" b="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1. تقديم دروس إضافية للطلاب الذين يحتاجون إلى دعم.</a:t>
                      </a:r>
                      <a:endParaRPr lang="en-US" sz="1800"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lnSpc>
                          <a:spcPct val="100000"/>
                        </a:lnSpc>
                      </a:pP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8833806"/>
                  </a:ext>
                </a:extLst>
              </a:tr>
              <a:tr h="723424">
                <a:tc>
                  <a:txBody>
                    <a:bodyPr/>
                    <a:lstStyle/>
                    <a:p>
                      <a:pPr marL="0" lvl="0" indent="0" algn="justLow" rtl="1">
                        <a:lnSpc>
                          <a:spcPct val="100000"/>
                        </a:lnSpc>
                        <a:spcAft>
                          <a:spcPts val="800"/>
                        </a:spcAft>
                        <a:buSzPts val="1200"/>
                        <a:buFont typeface="Times New Roman" panose="02020603050405020304" pitchFamily="18" charset="0"/>
                        <a:buNone/>
                      </a:pPr>
                      <a:r>
                        <a:rPr lang="ar-SA" sz="1800" b="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2. استخدام أساليب تقييم مستمرة لتحديد نقاط الضعف والعمل على تحسينها.</a:t>
                      </a:r>
                      <a:endParaRPr lang="en-US" sz="1800"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lnSpc>
                          <a:spcPct val="100000"/>
                        </a:lnSpc>
                      </a:pPr>
                      <a:endParaRPr lang="ar-SA" sz="1800" b="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2417266"/>
                  </a:ext>
                </a:extLst>
              </a:tr>
              <a:tr h="482283">
                <a:tc>
                  <a:txBody>
                    <a:bodyPr/>
                    <a:lstStyle/>
                    <a:p>
                      <a:pPr marL="0" lvl="0" indent="0" algn="justLow" rtl="1">
                        <a:lnSpc>
                          <a:spcPct val="100000"/>
                        </a:lnSpc>
                        <a:spcAft>
                          <a:spcPts val="800"/>
                        </a:spcAft>
                        <a:buSzPts val="1200"/>
                        <a:buFont typeface="Times New Roman" panose="02020603050405020304" pitchFamily="18" charset="0"/>
                        <a:buNone/>
                      </a:pPr>
                      <a:r>
                        <a:rPr lang="ar-SA" sz="1800" b="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3. تشجيع الطلاب على المشاركة في المسابقات الأكاديمية.</a:t>
                      </a:r>
                      <a:endParaRPr lang="en-US" sz="1800"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lnSpc>
                          <a:spcPct val="100000"/>
                        </a:lnSpc>
                      </a:pP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3305950"/>
                  </a:ext>
                </a:extLst>
              </a:tr>
              <a:tr h="723424">
                <a:tc>
                  <a:txBody>
                    <a:bodyPr/>
                    <a:lstStyle/>
                    <a:p>
                      <a:pPr marL="0" lvl="0" indent="0" algn="justLow" rtl="1">
                        <a:lnSpc>
                          <a:spcPct val="100000"/>
                        </a:lnSpc>
                        <a:spcAft>
                          <a:spcPts val="800"/>
                        </a:spcAft>
                        <a:buSzPts val="1200"/>
                        <a:buFont typeface="Times New Roman" panose="02020603050405020304" pitchFamily="18" charset="0"/>
                        <a:buNone/>
                      </a:pPr>
                      <a:r>
                        <a:rPr lang="ar-SA" sz="1800" b="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4. توفير مصادر تعليمية إضافية مثل الكتب الإلكترونية والمواقع التعليمية.</a:t>
                      </a:r>
                      <a:endParaRPr lang="en-US" sz="1800"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dirty="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lnSpc>
                          <a:spcPct val="100000"/>
                        </a:lnSpc>
                      </a:pP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6843493"/>
                  </a:ext>
                </a:extLst>
              </a:tr>
            </a:tbl>
          </a:graphicData>
        </a:graphic>
      </p:graphicFrame>
      <p:pic>
        <p:nvPicPr>
          <p:cNvPr id="15" name="صورة 14">
            <a:extLst>
              <a:ext uri="{FF2B5EF4-FFF2-40B4-BE49-F238E27FC236}">
                <a16:creationId xmlns:a16="http://schemas.microsoft.com/office/drawing/2014/main" id="{89B3E3C0-76EF-FB66-047B-72C76C26B13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77115" y="8893530"/>
            <a:ext cx="2993353" cy="1675741"/>
          </a:xfrm>
          <a:prstGeom prst="rect">
            <a:avLst/>
          </a:prstGeom>
        </p:spPr>
      </p:pic>
      <p:pic>
        <p:nvPicPr>
          <p:cNvPr id="19" name="صورة 18">
            <a:extLst>
              <a:ext uri="{FF2B5EF4-FFF2-40B4-BE49-F238E27FC236}">
                <a16:creationId xmlns:a16="http://schemas.microsoft.com/office/drawing/2014/main" id="{6D1B6F36-749D-0144-A7CD-CCABC66FAF7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49250" y="9026160"/>
            <a:ext cx="2081065" cy="1165023"/>
          </a:xfrm>
          <a:prstGeom prst="rect">
            <a:avLst/>
          </a:prstGeom>
        </p:spPr>
      </p:pic>
      <p:pic>
        <p:nvPicPr>
          <p:cNvPr id="7" name="صورة 6">
            <a:extLst>
              <a:ext uri="{FF2B5EF4-FFF2-40B4-BE49-F238E27FC236}">
                <a16:creationId xmlns:a16="http://schemas.microsoft.com/office/drawing/2014/main" id="{347E22C9-6F0B-023E-F320-CDB68055C6B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672842" y="6285933"/>
            <a:ext cx="4210816" cy="2357302"/>
          </a:xfrm>
          <a:prstGeom prst="rect">
            <a:avLst/>
          </a:prstGeom>
        </p:spPr>
      </p:pic>
      <p:sp>
        <p:nvSpPr>
          <p:cNvPr id="8" name="عنصر نائب للمحتوى 12">
            <a:extLst>
              <a:ext uri="{FF2B5EF4-FFF2-40B4-BE49-F238E27FC236}">
                <a16:creationId xmlns:a16="http://schemas.microsoft.com/office/drawing/2014/main" id="{25963BA2-6234-D98C-99B2-B960864BBA93}"/>
              </a:ext>
            </a:extLst>
          </p:cNvPr>
          <p:cNvSpPr txBox="1">
            <a:spLocks/>
          </p:cNvSpPr>
          <p:nvPr/>
        </p:nvSpPr>
        <p:spPr>
          <a:xfrm>
            <a:off x="2863852" y="6594026"/>
            <a:ext cx="1828800" cy="176792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en-US" sz="2400" dirty="0"/>
              <a:t>{%qr5}</a:t>
            </a:r>
          </a:p>
        </p:txBody>
      </p:sp>
    </p:spTree>
    <p:extLst>
      <p:ext uri="{BB962C8B-B14F-4D97-AF65-F5344CB8AC3E}">
        <p14:creationId xmlns:p14="http://schemas.microsoft.com/office/powerpoint/2010/main" val="14188644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0190E-D9FD-11B8-C21E-23B6FF85C33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9269110-13B6-5E48-5984-F9BC3B3DDA84}"/>
              </a:ext>
            </a:extLst>
          </p:cNvPr>
          <p:cNvSpPr>
            <a:spLocks noGrp="1" noRot="1" noMove="1" noResize="1" noEditPoints="1" noAdjustHandles="1" noChangeArrowheads="1" noChangeShapeType="1"/>
          </p:cNvSpPr>
          <p:nvPr/>
        </p:nvSpPr>
        <p:spPr>
          <a:xfrm>
            <a:off x="0" y="0"/>
            <a:ext cx="7560000" cy="10692000"/>
          </a:xfrm>
          <a:custGeom>
            <a:avLst/>
            <a:gdLst/>
            <a:ahLst/>
            <a:cxnLst/>
            <a:rect l="l" t="t" r="r" b="b"/>
            <a:pathLst>
              <a:path w="7560000" h="10692000">
                <a:moveTo>
                  <a:pt x="0" y="0"/>
                </a:moveTo>
                <a:lnTo>
                  <a:pt x="7560000" y="0"/>
                </a:lnTo>
                <a:lnTo>
                  <a:pt x="7560000" y="10692000"/>
                </a:lnTo>
                <a:lnTo>
                  <a:pt x="0" y="10692000"/>
                </a:lnTo>
                <a:lnTo>
                  <a:pt x="0" y="0"/>
                </a:lnTo>
                <a:close/>
              </a:path>
            </a:pathLst>
          </a:custGeom>
          <a:blipFill>
            <a:blip r:embed="rId2"/>
            <a:stretch>
              <a:fillRect l="-781" t="-13832" r="-781" b="-13832"/>
            </a:stretch>
          </a:blipFill>
        </p:spPr>
        <p:txBody>
          <a:bodyPr/>
          <a:lstStyle/>
          <a:p>
            <a:endParaRPr lang="ar-SA" dirty="0"/>
          </a:p>
        </p:txBody>
      </p:sp>
      <p:sp>
        <p:nvSpPr>
          <p:cNvPr id="3" name="Freeform 3">
            <a:extLst>
              <a:ext uri="{FF2B5EF4-FFF2-40B4-BE49-F238E27FC236}">
                <a16:creationId xmlns:a16="http://schemas.microsoft.com/office/drawing/2014/main" id="{C10751B2-F800-1F26-77EE-4BE3AC1A8618}"/>
              </a:ext>
            </a:extLst>
          </p:cNvPr>
          <p:cNvSpPr>
            <a:spLocks noGrp="1" noRot="1" noMove="1" noResize="1" noEditPoints="1" noAdjustHandles="1" noChangeArrowheads="1" noChangeShapeType="1"/>
          </p:cNvSpPr>
          <p:nvPr/>
        </p:nvSpPr>
        <p:spPr>
          <a:xfrm>
            <a:off x="6654829" y="7724227"/>
            <a:ext cx="905171" cy="2967773"/>
          </a:xfrm>
          <a:custGeom>
            <a:avLst/>
            <a:gdLst/>
            <a:ahLst/>
            <a:cxnLst/>
            <a:rect l="l" t="t" r="r" b="b"/>
            <a:pathLst>
              <a:path w="905171" h="2967773">
                <a:moveTo>
                  <a:pt x="0" y="0"/>
                </a:moveTo>
                <a:lnTo>
                  <a:pt x="905171" y="0"/>
                </a:lnTo>
                <a:lnTo>
                  <a:pt x="905171" y="2967773"/>
                </a:lnTo>
                <a:lnTo>
                  <a:pt x="0" y="2967773"/>
                </a:lnTo>
                <a:lnTo>
                  <a:pt x="0" y="0"/>
                </a:lnTo>
                <a:close/>
              </a:path>
            </a:pathLst>
          </a:custGeom>
          <a:blipFill>
            <a:blip r:embed="rId3">
              <a:alphaModFix amt="83000"/>
              <a:extLst>
                <a:ext uri="{96DAC541-7B7A-43D3-8B79-37D633B846F1}">
                  <asvg:svgBlip xmlns:asvg="http://schemas.microsoft.com/office/drawing/2016/SVG/main" r:embed="rId4"/>
                </a:ext>
              </a:extLst>
            </a:blip>
            <a:stretch>
              <a:fillRect/>
            </a:stretch>
          </a:blipFill>
        </p:spPr>
        <p:txBody>
          <a:bodyPr/>
          <a:lstStyle/>
          <a:p>
            <a:endParaRPr lang="ar-SA"/>
          </a:p>
        </p:txBody>
      </p:sp>
      <p:sp>
        <p:nvSpPr>
          <p:cNvPr id="4" name="Freeform 4">
            <a:extLst>
              <a:ext uri="{FF2B5EF4-FFF2-40B4-BE49-F238E27FC236}">
                <a16:creationId xmlns:a16="http://schemas.microsoft.com/office/drawing/2014/main" id="{34CDD478-B9AE-19F3-DC30-08CE674687C6}"/>
              </a:ext>
            </a:extLst>
          </p:cNvPr>
          <p:cNvSpPr>
            <a:spLocks noGrp="1" noRot="1" noMove="1" noResize="1" noEditPoints="1" noAdjustHandles="1" noChangeArrowheads="1" noChangeShapeType="1"/>
          </p:cNvSpPr>
          <p:nvPr/>
        </p:nvSpPr>
        <p:spPr>
          <a:xfrm rot="-10800000">
            <a:off x="-18769" y="-1"/>
            <a:ext cx="1549537" cy="4110699"/>
          </a:xfrm>
          <a:custGeom>
            <a:avLst/>
            <a:gdLst/>
            <a:ahLst/>
            <a:cxnLst/>
            <a:rect l="l" t="t" r="r" b="b"/>
            <a:pathLst>
              <a:path w="1549537" h="5080448">
                <a:moveTo>
                  <a:pt x="0" y="0"/>
                </a:moveTo>
                <a:lnTo>
                  <a:pt x="1549536" y="0"/>
                </a:lnTo>
                <a:lnTo>
                  <a:pt x="1549536" y="5080448"/>
                </a:lnTo>
                <a:lnTo>
                  <a:pt x="0" y="5080448"/>
                </a:lnTo>
                <a:lnTo>
                  <a:pt x="0" y="0"/>
                </a:lnTo>
                <a:close/>
              </a:path>
            </a:pathLst>
          </a:custGeom>
          <a:blipFill>
            <a:blip r:embed="rId3">
              <a:alphaModFix amt="83000"/>
              <a:extLst>
                <a:ext uri="{96DAC541-7B7A-43D3-8B79-37D633B846F1}">
                  <asvg:svgBlip xmlns:asvg="http://schemas.microsoft.com/office/drawing/2016/SVG/main" r:embed="rId4"/>
                </a:ext>
              </a:extLst>
            </a:blip>
            <a:stretch>
              <a:fillRect b="-23591"/>
            </a:stretch>
          </a:blipFill>
          <a:ln cap="sq">
            <a:noFill/>
            <a:prstDash val="solid"/>
            <a:miter/>
          </a:ln>
        </p:spPr>
        <p:txBody>
          <a:bodyPr/>
          <a:lstStyle/>
          <a:p>
            <a:endParaRPr lang="ar-SA"/>
          </a:p>
        </p:txBody>
      </p:sp>
      <p:sp>
        <p:nvSpPr>
          <p:cNvPr id="5" name="TextBox 3">
            <a:extLst>
              <a:ext uri="{FF2B5EF4-FFF2-40B4-BE49-F238E27FC236}">
                <a16:creationId xmlns:a16="http://schemas.microsoft.com/office/drawing/2014/main" id="{132C4F18-C6CF-A018-EBC8-821CF2C0AF87}"/>
              </a:ext>
            </a:extLst>
          </p:cNvPr>
          <p:cNvSpPr txBox="1"/>
          <p:nvPr/>
        </p:nvSpPr>
        <p:spPr>
          <a:xfrm>
            <a:off x="2323764" y="2146300"/>
            <a:ext cx="2908970" cy="738664"/>
          </a:xfrm>
          <a:prstGeom prst="rect">
            <a:avLst/>
          </a:prstGeom>
          <a:solidFill>
            <a:srgbClr val="D4C2C6"/>
          </a:solidFill>
          <a:effectLst>
            <a:outerShdw blurRad="76200" dir="18900000" sy="23000" kx="-1200000" algn="bl" rotWithShape="0">
              <a:prstClr val="black">
                <a:alpha val="20000"/>
              </a:prstClr>
            </a:outerShdw>
          </a:effectLst>
        </p:spPr>
        <p:txBody>
          <a:bodyPr wrap="square" lIns="0" tIns="0" rIns="0" bIns="0" rtlCol="0" anchor="t">
            <a:spAutoFit/>
          </a:bodyPr>
          <a:lstStyle>
            <a:defPPr>
              <a:defRPr lang="en-US"/>
            </a:defPPr>
            <a:lvl1pPr lvl="0" indent="0" algn="ctr" rtl="1">
              <a:lnSpc>
                <a:spcPct val="150000"/>
              </a:lnSpc>
              <a:spcBef>
                <a:spcPct val="0"/>
              </a:spcBef>
              <a:defRPr u="none" strike="noStrike" spc="-33">
                <a:latin typeface="GE SS Two Light"/>
                <a:ea typeface="GE SS Two Light"/>
                <a:cs typeface="GE SS Two Light"/>
                <a:rtl/>
              </a:defRPr>
            </a:lvl1pPr>
          </a:lstStyle>
          <a:p>
            <a:pPr>
              <a:lnSpc>
                <a:spcPct val="100000"/>
              </a:lnSpc>
            </a:pPr>
            <a:r>
              <a:rPr lang="ar-EG" sz="2400" b="1" dirty="0">
                <a:latin typeface="Sakkal Majalla" panose="02000000000000000000" pitchFamily="2" charset="-78"/>
                <a:cs typeface="Sakkal Majalla" panose="02000000000000000000" pitchFamily="2" charset="-78"/>
                <a:sym typeface="GE SS Two Light"/>
              </a:rPr>
              <a:t>إعداد</a:t>
            </a:r>
            <a:r>
              <a:rPr lang="ar-SA" sz="2400" b="1" dirty="0">
                <a:latin typeface="Sakkal Majalla" panose="02000000000000000000" pitchFamily="2" charset="-78"/>
                <a:cs typeface="Sakkal Majalla" panose="02000000000000000000" pitchFamily="2" charset="-78"/>
                <a:sym typeface="GE SS Two Light"/>
              </a:rPr>
              <a:t> </a:t>
            </a:r>
            <a:r>
              <a:rPr lang="ar-EG" sz="2400" b="1" dirty="0">
                <a:latin typeface="Sakkal Majalla" panose="02000000000000000000" pitchFamily="2" charset="-78"/>
                <a:cs typeface="Sakkal Majalla" panose="02000000000000000000" pitchFamily="2" charset="-78"/>
                <a:sym typeface="GE SS Two Light"/>
              </a:rPr>
              <a:t>وتنفيذ خطة التعلم</a:t>
            </a:r>
          </a:p>
          <a:p>
            <a:pPr>
              <a:lnSpc>
                <a:spcPct val="100000"/>
              </a:lnSpc>
            </a:pPr>
            <a:r>
              <a:rPr lang="ar-EG" sz="2400" b="1" dirty="0">
                <a:latin typeface="Sakkal Majalla" panose="02000000000000000000" pitchFamily="2" charset="-78"/>
                <a:cs typeface="Sakkal Majalla" panose="02000000000000000000" pitchFamily="2" charset="-78"/>
                <a:sym typeface="GE SS Two Light"/>
              </a:rPr>
              <a:t>10% </a:t>
            </a:r>
          </a:p>
        </p:txBody>
      </p:sp>
      <p:graphicFrame>
        <p:nvGraphicFramePr>
          <p:cNvPr id="6" name="جدول 5">
            <a:extLst>
              <a:ext uri="{FF2B5EF4-FFF2-40B4-BE49-F238E27FC236}">
                <a16:creationId xmlns:a16="http://schemas.microsoft.com/office/drawing/2014/main" id="{75CD7E91-2898-C169-868B-AE987B0105A4}"/>
              </a:ext>
            </a:extLst>
          </p:cNvPr>
          <p:cNvGraphicFramePr>
            <a:graphicFrameLocks noGrp="1"/>
          </p:cNvGraphicFramePr>
          <p:nvPr>
            <p:extLst>
              <p:ext uri="{D42A27DB-BD31-4B8C-83A1-F6EECF244321}">
                <p14:modId xmlns:p14="http://schemas.microsoft.com/office/powerpoint/2010/main" val="221226446"/>
              </p:ext>
            </p:extLst>
          </p:nvPr>
        </p:nvGraphicFramePr>
        <p:xfrm>
          <a:off x="832102" y="3349921"/>
          <a:ext cx="5850000" cy="2624328"/>
        </p:xfrm>
        <a:graphic>
          <a:graphicData uri="http://schemas.openxmlformats.org/drawingml/2006/table">
            <a:tbl>
              <a:tblPr rtl="1" firstRow="1" bandRow="1">
                <a:tableStyleId>{2D5ABB26-0587-4C30-8999-92F81FD0307C}</a:tableStyleId>
              </a:tblPr>
              <a:tblGrid>
                <a:gridCol w="3294532">
                  <a:extLst>
                    <a:ext uri="{9D8B030D-6E8A-4147-A177-3AD203B41FA5}">
                      <a16:colId xmlns:a16="http://schemas.microsoft.com/office/drawing/2014/main" val="315138284"/>
                    </a:ext>
                  </a:extLst>
                </a:gridCol>
                <a:gridCol w="1277734">
                  <a:extLst>
                    <a:ext uri="{9D8B030D-6E8A-4147-A177-3AD203B41FA5}">
                      <a16:colId xmlns:a16="http://schemas.microsoft.com/office/drawing/2014/main" val="3931588184"/>
                    </a:ext>
                  </a:extLst>
                </a:gridCol>
                <a:gridCol w="1277734">
                  <a:extLst>
                    <a:ext uri="{9D8B030D-6E8A-4147-A177-3AD203B41FA5}">
                      <a16:colId xmlns:a16="http://schemas.microsoft.com/office/drawing/2014/main" val="408297873"/>
                    </a:ext>
                  </a:extLst>
                </a:gridCol>
              </a:tblGrid>
              <a:tr h="0">
                <a:tc>
                  <a:txBody>
                    <a:bodyPr/>
                    <a:lstStyle/>
                    <a:p>
                      <a:pPr algn="ctr" rtl="1"/>
                      <a:r>
                        <a:rPr lang="ar-SA" sz="1800" b="1"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الفقرة</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4C2C6"/>
                    </a:solidFill>
                  </a:tcPr>
                </a:tc>
                <a:tc>
                  <a:txBody>
                    <a:bodyPr/>
                    <a:lstStyle/>
                    <a:p>
                      <a:pPr algn="ctr" rtl="1"/>
                      <a:r>
                        <a:rPr lang="ar-SA" sz="1800" b="1"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متوفر</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4C2C6"/>
                    </a:solidFill>
                  </a:tcPr>
                </a:tc>
                <a:tc>
                  <a:txBody>
                    <a:bodyPr/>
                    <a:lstStyle/>
                    <a:p>
                      <a:pPr algn="ctr" rtl="1"/>
                      <a:r>
                        <a:rPr lang="ar-SA" sz="1800" b="1"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غير متوفر</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4C2C6"/>
                    </a:solidFill>
                  </a:tcPr>
                </a:tc>
                <a:extLst>
                  <a:ext uri="{0D108BD9-81ED-4DB2-BD59-A6C34878D82A}">
                    <a16:rowId xmlns:a16="http://schemas.microsoft.com/office/drawing/2014/main" val="3681228051"/>
                  </a:ext>
                </a:extLst>
              </a:tr>
              <a:tr h="0">
                <a:tc>
                  <a:txBody>
                    <a:bodyPr/>
                    <a:lstStyle/>
                    <a:p>
                      <a:pPr marL="0" lvl="0" indent="0" algn="r" rtl="1">
                        <a:lnSpc>
                          <a:spcPct val="115000"/>
                        </a:lnSpc>
                        <a:spcAft>
                          <a:spcPts val="800"/>
                        </a:spcAft>
                        <a:buSzPts val="1200"/>
                        <a:buFont typeface="Times New Roman" panose="02020603050405020304" pitchFamily="18" charset="0"/>
                        <a:buNone/>
                      </a:pPr>
                      <a:r>
                        <a:rPr lang="ar-SA" sz="1800" b="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1. وضع أهداف تعليمية واضحة وقابلة للقياس.</a:t>
                      </a:r>
                      <a:endParaRPr lang="en-US" sz="1800"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8833806"/>
                  </a:ext>
                </a:extLst>
              </a:tr>
              <a:tr h="0">
                <a:tc>
                  <a:txBody>
                    <a:bodyPr/>
                    <a:lstStyle/>
                    <a:p>
                      <a:pPr marL="0" lvl="0" indent="0" algn="r" rtl="1">
                        <a:lnSpc>
                          <a:spcPct val="115000"/>
                        </a:lnSpc>
                        <a:spcAft>
                          <a:spcPts val="800"/>
                        </a:spcAft>
                        <a:buSzPts val="1200"/>
                        <a:buFont typeface="Times New Roman" panose="02020603050405020304" pitchFamily="18" charset="0"/>
                        <a:buNone/>
                      </a:pPr>
                      <a:r>
                        <a:rPr lang="ar-SA" sz="1800" b="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2. تصميم خطط دراسية تتوافق مع المنهج الدراسي واحتياجات الطلاب.</a:t>
                      </a:r>
                      <a:endParaRPr lang="en-US" sz="1800"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2417266"/>
                  </a:ext>
                </a:extLst>
              </a:tr>
              <a:tr h="0">
                <a:tc>
                  <a:txBody>
                    <a:bodyPr/>
                    <a:lstStyle/>
                    <a:p>
                      <a:pPr marL="0" lvl="0" indent="0" algn="r" rtl="1">
                        <a:lnSpc>
                          <a:spcPct val="115000"/>
                        </a:lnSpc>
                        <a:spcAft>
                          <a:spcPts val="800"/>
                        </a:spcAft>
                        <a:buSzPts val="1200"/>
                        <a:buFont typeface="Times New Roman" panose="02020603050405020304" pitchFamily="18" charset="0"/>
                        <a:buNone/>
                      </a:pPr>
                      <a:r>
                        <a:rPr lang="ar-SA" sz="1800" b="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3. مراجعة الخطط بشكل دوري وتعديلها بناءً على نتائج الطلاب.</a:t>
                      </a:r>
                      <a:endParaRPr lang="en-US" sz="1800"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3305950"/>
                  </a:ext>
                </a:extLst>
              </a:tr>
              <a:tr h="0">
                <a:tc>
                  <a:txBody>
                    <a:bodyPr/>
                    <a:lstStyle/>
                    <a:p>
                      <a:pPr marL="0" lvl="0" indent="0" algn="r" rtl="1">
                        <a:lnSpc>
                          <a:spcPct val="115000"/>
                        </a:lnSpc>
                        <a:spcAft>
                          <a:spcPts val="800"/>
                        </a:spcAft>
                        <a:buSzPts val="1200"/>
                        <a:buFont typeface="Times New Roman" panose="02020603050405020304" pitchFamily="18" charset="0"/>
                        <a:buNone/>
                      </a:pPr>
                      <a:r>
                        <a:rPr lang="ar-SA" sz="1800" b="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4. مشاركة الخطط مع الزملاء للحصول على ملاحظات وتحسينها.</a:t>
                      </a:r>
                      <a:endParaRPr lang="en-US" sz="1800"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dirty="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6843493"/>
                  </a:ext>
                </a:extLst>
              </a:tr>
            </a:tbl>
          </a:graphicData>
        </a:graphic>
      </p:graphicFrame>
      <p:pic>
        <p:nvPicPr>
          <p:cNvPr id="7" name="صورة 6">
            <a:extLst>
              <a:ext uri="{FF2B5EF4-FFF2-40B4-BE49-F238E27FC236}">
                <a16:creationId xmlns:a16="http://schemas.microsoft.com/office/drawing/2014/main" id="{05F807E2-E3B0-A6C5-7196-5CBC61D04F0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02617" y="8921408"/>
            <a:ext cx="2993353" cy="1675741"/>
          </a:xfrm>
          <a:prstGeom prst="rect">
            <a:avLst/>
          </a:prstGeom>
        </p:spPr>
      </p:pic>
      <p:pic>
        <p:nvPicPr>
          <p:cNvPr id="9" name="صورة 8">
            <a:extLst>
              <a:ext uri="{FF2B5EF4-FFF2-40B4-BE49-F238E27FC236}">
                <a16:creationId xmlns:a16="http://schemas.microsoft.com/office/drawing/2014/main" id="{E4E14D3E-5FBD-87F8-E8BF-BF0FE2B5AAF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65095" y="9106709"/>
            <a:ext cx="2331348" cy="1305137"/>
          </a:xfrm>
          <a:prstGeom prst="rect">
            <a:avLst/>
          </a:prstGeom>
        </p:spPr>
      </p:pic>
      <p:pic>
        <p:nvPicPr>
          <p:cNvPr id="11" name="صورة 10">
            <a:extLst>
              <a:ext uri="{FF2B5EF4-FFF2-40B4-BE49-F238E27FC236}">
                <a16:creationId xmlns:a16="http://schemas.microsoft.com/office/drawing/2014/main" id="{9681D447-E282-8446-2EFB-65C499B588F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672842" y="6269177"/>
            <a:ext cx="4210816" cy="2357302"/>
          </a:xfrm>
          <a:prstGeom prst="rect">
            <a:avLst/>
          </a:prstGeom>
        </p:spPr>
      </p:pic>
      <p:sp>
        <p:nvSpPr>
          <p:cNvPr id="12" name="عنصر نائب للمحتوى 12">
            <a:extLst>
              <a:ext uri="{FF2B5EF4-FFF2-40B4-BE49-F238E27FC236}">
                <a16:creationId xmlns:a16="http://schemas.microsoft.com/office/drawing/2014/main" id="{5D4B9C30-356D-A62D-0143-6B18C2EE4D70}"/>
              </a:ext>
            </a:extLst>
          </p:cNvPr>
          <p:cNvSpPr txBox="1">
            <a:spLocks/>
          </p:cNvSpPr>
          <p:nvPr/>
        </p:nvSpPr>
        <p:spPr>
          <a:xfrm>
            <a:off x="2863852" y="6577270"/>
            <a:ext cx="1828800" cy="176792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en-US" sz="2400" dirty="0"/>
              <a:t>{%qr6}</a:t>
            </a:r>
          </a:p>
        </p:txBody>
      </p:sp>
    </p:spTree>
    <p:extLst>
      <p:ext uri="{BB962C8B-B14F-4D97-AF65-F5344CB8AC3E}">
        <p14:creationId xmlns:p14="http://schemas.microsoft.com/office/powerpoint/2010/main" val="17328778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DE6B9-DE37-AF0E-00A0-16051A566C3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397010A-8A3E-9ED5-AF1F-5019B282596F}"/>
              </a:ext>
            </a:extLst>
          </p:cNvPr>
          <p:cNvSpPr>
            <a:spLocks noGrp="1" noRot="1" noMove="1" noResize="1" noEditPoints="1" noAdjustHandles="1" noChangeArrowheads="1" noChangeShapeType="1"/>
          </p:cNvSpPr>
          <p:nvPr/>
        </p:nvSpPr>
        <p:spPr>
          <a:xfrm>
            <a:off x="0" y="0"/>
            <a:ext cx="7560000" cy="10692000"/>
          </a:xfrm>
          <a:custGeom>
            <a:avLst/>
            <a:gdLst/>
            <a:ahLst/>
            <a:cxnLst/>
            <a:rect l="l" t="t" r="r" b="b"/>
            <a:pathLst>
              <a:path w="7560000" h="10692000">
                <a:moveTo>
                  <a:pt x="0" y="0"/>
                </a:moveTo>
                <a:lnTo>
                  <a:pt x="7560000" y="0"/>
                </a:lnTo>
                <a:lnTo>
                  <a:pt x="7560000" y="10692000"/>
                </a:lnTo>
                <a:lnTo>
                  <a:pt x="0" y="10692000"/>
                </a:lnTo>
                <a:lnTo>
                  <a:pt x="0" y="0"/>
                </a:lnTo>
                <a:close/>
              </a:path>
            </a:pathLst>
          </a:custGeom>
          <a:blipFill>
            <a:blip r:embed="rId2"/>
            <a:stretch>
              <a:fillRect l="-781" t="-13832" r="-781" b="-13832"/>
            </a:stretch>
          </a:blipFill>
        </p:spPr>
        <p:txBody>
          <a:bodyPr/>
          <a:lstStyle/>
          <a:p>
            <a:endParaRPr lang="ar-SA" dirty="0"/>
          </a:p>
        </p:txBody>
      </p:sp>
      <p:sp>
        <p:nvSpPr>
          <p:cNvPr id="3" name="Freeform 3">
            <a:extLst>
              <a:ext uri="{FF2B5EF4-FFF2-40B4-BE49-F238E27FC236}">
                <a16:creationId xmlns:a16="http://schemas.microsoft.com/office/drawing/2014/main" id="{45AC590D-FA9D-EA0D-1260-618B8D00CFF6}"/>
              </a:ext>
            </a:extLst>
          </p:cNvPr>
          <p:cNvSpPr>
            <a:spLocks noGrp="1" noRot="1" noMove="1" noResize="1" noEditPoints="1" noAdjustHandles="1" noChangeArrowheads="1" noChangeShapeType="1"/>
          </p:cNvSpPr>
          <p:nvPr/>
        </p:nvSpPr>
        <p:spPr>
          <a:xfrm>
            <a:off x="6654829" y="7724227"/>
            <a:ext cx="905171" cy="2967773"/>
          </a:xfrm>
          <a:custGeom>
            <a:avLst/>
            <a:gdLst/>
            <a:ahLst/>
            <a:cxnLst/>
            <a:rect l="l" t="t" r="r" b="b"/>
            <a:pathLst>
              <a:path w="905171" h="2967773">
                <a:moveTo>
                  <a:pt x="0" y="0"/>
                </a:moveTo>
                <a:lnTo>
                  <a:pt x="905171" y="0"/>
                </a:lnTo>
                <a:lnTo>
                  <a:pt x="905171" y="2967773"/>
                </a:lnTo>
                <a:lnTo>
                  <a:pt x="0" y="2967773"/>
                </a:lnTo>
                <a:lnTo>
                  <a:pt x="0" y="0"/>
                </a:lnTo>
                <a:close/>
              </a:path>
            </a:pathLst>
          </a:custGeom>
          <a:blipFill>
            <a:blip r:embed="rId3">
              <a:alphaModFix amt="83000"/>
              <a:extLst>
                <a:ext uri="{96DAC541-7B7A-43D3-8B79-37D633B846F1}">
                  <asvg:svgBlip xmlns:asvg="http://schemas.microsoft.com/office/drawing/2016/SVG/main" r:embed="rId4"/>
                </a:ext>
              </a:extLst>
            </a:blip>
            <a:stretch>
              <a:fillRect/>
            </a:stretch>
          </a:blipFill>
        </p:spPr>
        <p:txBody>
          <a:bodyPr/>
          <a:lstStyle/>
          <a:p>
            <a:endParaRPr lang="ar-SA"/>
          </a:p>
        </p:txBody>
      </p:sp>
      <p:sp>
        <p:nvSpPr>
          <p:cNvPr id="4" name="Freeform 4">
            <a:extLst>
              <a:ext uri="{FF2B5EF4-FFF2-40B4-BE49-F238E27FC236}">
                <a16:creationId xmlns:a16="http://schemas.microsoft.com/office/drawing/2014/main" id="{C543C3A3-CF73-050E-7157-0B2DEF426037}"/>
              </a:ext>
            </a:extLst>
          </p:cNvPr>
          <p:cNvSpPr>
            <a:spLocks noGrp="1" noRot="1" noMove="1" noResize="1" noEditPoints="1" noAdjustHandles="1" noChangeArrowheads="1" noChangeShapeType="1"/>
          </p:cNvSpPr>
          <p:nvPr/>
        </p:nvSpPr>
        <p:spPr>
          <a:xfrm rot="-10800000">
            <a:off x="-18769" y="-1"/>
            <a:ext cx="1549537" cy="4110699"/>
          </a:xfrm>
          <a:custGeom>
            <a:avLst/>
            <a:gdLst/>
            <a:ahLst/>
            <a:cxnLst/>
            <a:rect l="l" t="t" r="r" b="b"/>
            <a:pathLst>
              <a:path w="1549537" h="5080448">
                <a:moveTo>
                  <a:pt x="0" y="0"/>
                </a:moveTo>
                <a:lnTo>
                  <a:pt x="1549536" y="0"/>
                </a:lnTo>
                <a:lnTo>
                  <a:pt x="1549536" y="5080448"/>
                </a:lnTo>
                <a:lnTo>
                  <a:pt x="0" y="5080448"/>
                </a:lnTo>
                <a:lnTo>
                  <a:pt x="0" y="0"/>
                </a:lnTo>
                <a:close/>
              </a:path>
            </a:pathLst>
          </a:custGeom>
          <a:blipFill>
            <a:blip r:embed="rId3">
              <a:alphaModFix amt="83000"/>
              <a:extLst>
                <a:ext uri="{96DAC541-7B7A-43D3-8B79-37D633B846F1}">
                  <asvg:svgBlip xmlns:asvg="http://schemas.microsoft.com/office/drawing/2016/SVG/main" r:embed="rId4"/>
                </a:ext>
              </a:extLst>
            </a:blip>
            <a:stretch>
              <a:fillRect b="-23591"/>
            </a:stretch>
          </a:blipFill>
          <a:ln cap="sq">
            <a:noFill/>
            <a:prstDash val="solid"/>
            <a:miter/>
          </a:ln>
        </p:spPr>
        <p:txBody>
          <a:bodyPr/>
          <a:lstStyle/>
          <a:p>
            <a:endParaRPr lang="ar-SA"/>
          </a:p>
        </p:txBody>
      </p:sp>
      <p:sp>
        <p:nvSpPr>
          <p:cNvPr id="5" name="TextBox 3">
            <a:extLst>
              <a:ext uri="{FF2B5EF4-FFF2-40B4-BE49-F238E27FC236}">
                <a16:creationId xmlns:a16="http://schemas.microsoft.com/office/drawing/2014/main" id="{79DC7236-11CE-7955-1A8A-F8D9507AF3E1}"/>
              </a:ext>
            </a:extLst>
          </p:cNvPr>
          <p:cNvSpPr txBox="1"/>
          <p:nvPr/>
        </p:nvSpPr>
        <p:spPr>
          <a:xfrm>
            <a:off x="2135982" y="2131425"/>
            <a:ext cx="3276814" cy="738664"/>
          </a:xfrm>
          <a:prstGeom prst="rect">
            <a:avLst/>
          </a:prstGeom>
          <a:solidFill>
            <a:srgbClr val="D4C2C6"/>
          </a:solidFill>
          <a:effectLst>
            <a:outerShdw blurRad="76200" dir="18900000" sy="23000" kx="-1200000" algn="bl" rotWithShape="0">
              <a:prstClr val="black">
                <a:alpha val="20000"/>
              </a:prstClr>
            </a:outerShdw>
          </a:effectLst>
        </p:spPr>
        <p:txBody>
          <a:bodyPr wrap="square" lIns="0" tIns="0" rIns="0" bIns="0" rtlCol="0" anchor="t">
            <a:spAutoFit/>
          </a:bodyPr>
          <a:lstStyle>
            <a:defPPr>
              <a:defRPr lang="en-US"/>
            </a:defPPr>
            <a:lvl1pPr lvl="0" indent="0" algn="ctr" rtl="1">
              <a:lnSpc>
                <a:spcPct val="150000"/>
              </a:lnSpc>
              <a:spcBef>
                <a:spcPct val="0"/>
              </a:spcBef>
              <a:defRPr u="none" strike="noStrike" spc="-33">
                <a:latin typeface="GE SS Two Light"/>
                <a:ea typeface="GE SS Two Light"/>
                <a:cs typeface="GE SS Two Light"/>
                <a:rtl/>
              </a:defRPr>
            </a:lvl1pPr>
          </a:lstStyle>
          <a:p>
            <a:pPr>
              <a:lnSpc>
                <a:spcPct val="100000"/>
              </a:lnSpc>
            </a:pPr>
            <a:r>
              <a:rPr lang="ar-EG" sz="2400" b="1" dirty="0">
                <a:latin typeface="Sakkal Majalla" panose="02000000000000000000" pitchFamily="2" charset="-78"/>
                <a:cs typeface="Sakkal Majalla" panose="02000000000000000000" pitchFamily="2" charset="-78"/>
                <a:sym typeface="GE SS Two Light"/>
              </a:rPr>
              <a:t>توظيف تقنيات </a:t>
            </a:r>
            <a:endParaRPr lang="ar-SA" sz="2400" b="1" dirty="0">
              <a:latin typeface="Sakkal Majalla" panose="02000000000000000000" pitchFamily="2" charset="-78"/>
              <a:cs typeface="Sakkal Majalla" panose="02000000000000000000" pitchFamily="2" charset="-78"/>
              <a:sym typeface="GE SS Two Light"/>
            </a:endParaRPr>
          </a:p>
          <a:p>
            <a:pPr>
              <a:lnSpc>
                <a:spcPct val="100000"/>
              </a:lnSpc>
            </a:pPr>
            <a:r>
              <a:rPr lang="ar-EG" sz="2400" b="1" dirty="0">
                <a:latin typeface="Sakkal Majalla" panose="02000000000000000000" pitchFamily="2" charset="-78"/>
                <a:cs typeface="Sakkal Majalla" panose="02000000000000000000" pitchFamily="2" charset="-78"/>
                <a:sym typeface="GE SS Two Light"/>
              </a:rPr>
              <a:t>ووسائل التعلم المناسبة</a:t>
            </a:r>
            <a:r>
              <a:rPr lang="ar-SA" sz="2400" b="1" dirty="0">
                <a:latin typeface="Sakkal Majalla" panose="02000000000000000000" pitchFamily="2" charset="-78"/>
                <a:cs typeface="Sakkal Majalla" panose="02000000000000000000" pitchFamily="2" charset="-78"/>
                <a:sym typeface="GE SS Two Light"/>
              </a:rPr>
              <a:t>10</a:t>
            </a:r>
            <a:r>
              <a:rPr lang="ar-EG" sz="2400" b="1" dirty="0">
                <a:latin typeface="Sakkal Majalla" panose="02000000000000000000" pitchFamily="2" charset="-78"/>
                <a:cs typeface="Sakkal Majalla" panose="02000000000000000000" pitchFamily="2" charset="-78"/>
                <a:sym typeface="GE SS Two Light"/>
              </a:rPr>
              <a:t>% </a:t>
            </a:r>
          </a:p>
        </p:txBody>
      </p:sp>
      <p:graphicFrame>
        <p:nvGraphicFramePr>
          <p:cNvPr id="6" name="جدول 5">
            <a:extLst>
              <a:ext uri="{FF2B5EF4-FFF2-40B4-BE49-F238E27FC236}">
                <a16:creationId xmlns:a16="http://schemas.microsoft.com/office/drawing/2014/main" id="{94D3AE03-2DAD-EA21-40A7-FC674354EFF6}"/>
              </a:ext>
            </a:extLst>
          </p:cNvPr>
          <p:cNvGraphicFramePr>
            <a:graphicFrameLocks noGrp="1"/>
          </p:cNvGraphicFramePr>
          <p:nvPr>
            <p:extLst>
              <p:ext uri="{D42A27DB-BD31-4B8C-83A1-F6EECF244321}">
                <p14:modId xmlns:p14="http://schemas.microsoft.com/office/powerpoint/2010/main" val="923631126"/>
              </p:ext>
            </p:extLst>
          </p:nvPr>
        </p:nvGraphicFramePr>
        <p:xfrm>
          <a:off x="860603" y="3344847"/>
          <a:ext cx="5849999" cy="2907215"/>
        </p:xfrm>
        <a:graphic>
          <a:graphicData uri="http://schemas.openxmlformats.org/drawingml/2006/table">
            <a:tbl>
              <a:tblPr rtl="1" firstRow="1" bandRow="1">
                <a:tableStyleId>{2D5ABB26-0587-4C30-8999-92F81FD0307C}</a:tableStyleId>
              </a:tblPr>
              <a:tblGrid>
                <a:gridCol w="3374867">
                  <a:extLst>
                    <a:ext uri="{9D8B030D-6E8A-4147-A177-3AD203B41FA5}">
                      <a16:colId xmlns:a16="http://schemas.microsoft.com/office/drawing/2014/main" val="315138284"/>
                    </a:ext>
                  </a:extLst>
                </a:gridCol>
                <a:gridCol w="1237566">
                  <a:extLst>
                    <a:ext uri="{9D8B030D-6E8A-4147-A177-3AD203B41FA5}">
                      <a16:colId xmlns:a16="http://schemas.microsoft.com/office/drawing/2014/main" val="3931588184"/>
                    </a:ext>
                  </a:extLst>
                </a:gridCol>
                <a:gridCol w="1237566">
                  <a:extLst>
                    <a:ext uri="{9D8B030D-6E8A-4147-A177-3AD203B41FA5}">
                      <a16:colId xmlns:a16="http://schemas.microsoft.com/office/drawing/2014/main" val="408297873"/>
                    </a:ext>
                  </a:extLst>
                </a:gridCol>
              </a:tblGrid>
              <a:tr h="383471">
                <a:tc>
                  <a:txBody>
                    <a:bodyPr/>
                    <a:lstStyle/>
                    <a:p>
                      <a:pPr algn="ctr" rtl="1"/>
                      <a:r>
                        <a:rPr lang="ar-SA" sz="1800" b="1"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الفقرة</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4C2C6"/>
                    </a:solidFill>
                  </a:tcPr>
                </a:tc>
                <a:tc>
                  <a:txBody>
                    <a:bodyPr/>
                    <a:lstStyle/>
                    <a:p>
                      <a:pPr algn="ctr" rtl="1"/>
                      <a:r>
                        <a:rPr lang="ar-SA" sz="1800" b="1"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متوفر</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4C2C6"/>
                    </a:solidFill>
                  </a:tcPr>
                </a:tc>
                <a:tc>
                  <a:txBody>
                    <a:bodyPr/>
                    <a:lstStyle/>
                    <a:p>
                      <a:pPr algn="ctr" rtl="1"/>
                      <a:r>
                        <a:rPr lang="ar-SA" sz="1800" b="1"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غير متوفر</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4C2C6"/>
                    </a:solidFill>
                  </a:tcPr>
                </a:tc>
                <a:extLst>
                  <a:ext uri="{0D108BD9-81ED-4DB2-BD59-A6C34878D82A}">
                    <a16:rowId xmlns:a16="http://schemas.microsoft.com/office/drawing/2014/main" val="3681228051"/>
                  </a:ext>
                </a:extLst>
              </a:tr>
              <a:tr h="383471">
                <a:tc>
                  <a:txBody>
                    <a:bodyPr/>
                    <a:lstStyle/>
                    <a:p>
                      <a:pPr marL="0" lvl="0" indent="0" algn="r" rtl="1">
                        <a:lnSpc>
                          <a:spcPct val="115000"/>
                        </a:lnSpc>
                        <a:spcAft>
                          <a:spcPts val="800"/>
                        </a:spcAft>
                        <a:buSzPts val="1200"/>
                        <a:buFont typeface="Times New Roman" panose="02020603050405020304" pitchFamily="18" charset="0"/>
                        <a:buNone/>
                      </a:pPr>
                      <a:r>
                        <a:rPr lang="ar-SA" sz="1800" b="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1. استخدام السبورات الذكية والأجهزة اللوحية في التدريس.</a:t>
                      </a:r>
                      <a:endParaRPr lang="en-US" sz="1800"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8833806"/>
                  </a:ext>
                </a:extLst>
              </a:tr>
              <a:tr h="383471">
                <a:tc>
                  <a:txBody>
                    <a:bodyPr/>
                    <a:lstStyle/>
                    <a:p>
                      <a:pPr marL="0" lvl="0" indent="0" algn="r" rtl="1">
                        <a:lnSpc>
                          <a:spcPct val="115000"/>
                        </a:lnSpc>
                        <a:spcAft>
                          <a:spcPts val="800"/>
                        </a:spcAft>
                        <a:buSzPts val="1200"/>
                        <a:buFont typeface="Times New Roman" panose="02020603050405020304" pitchFamily="18" charset="0"/>
                        <a:buNone/>
                      </a:pPr>
                      <a:r>
                        <a:rPr lang="ar-SA" sz="1800" b="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2. تطبيق برامج التعلم الإلكتروني مثل منصات التعليم عن بعد.</a:t>
                      </a:r>
                      <a:endParaRPr lang="en-US" sz="1800"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endParaRPr lang="ar-SA" sz="1800" b="0">
                        <a:latin typeface="Sakkal Majalla" panose="02000000000000000000" pitchFamily="2" charset="-78"/>
                        <a:ea typeface="GE SS Two Light" panose="020A0503020102020204" pitchFamily="18" charset="-78"/>
                        <a:cs typeface="Sakkal Majalla" panose="02000000000000000000" pitchFamily="2" charset="-7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2417266"/>
                  </a:ext>
                </a:extLst>
              </a:tr>
              <a:tr h="383471">
                <a:tc>
                  <a:txBody>
                    <a:bodyPr/>
                    <a:lstStyle/>
                    <a:p>
                      <a:pPr marL="0" lvl="0" indent="0" algn="r" rtl="1">
                        <a:lnSpc>
                          <a:spcPct val="115000"/>
                        </a:lnSpc>
                        <a:spcAft>
                          <a:spcPts val="800"/>
                        </a:spcAft>
                        <a:buSzPts val="1200"/>
                        <a:buFont typeface="Times New Roman" panose="02020603050405020304" pitchFamily="18" charset="0"/>
                        <a:buNone/>
                      </a:pPr>
                      <a:r>
                        <a:rPr lang="ar-SA" sz="1800" b="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3. تشجيع الطلاب على استخدام التطبيقات التعليمية لتعزيز التعلم الذاتي.</a:t>
                      </a:r>
                      <a:endParaRPr lang="en-US" sz="1800"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3305950"/>
                  </a:ext>
                </a:extLst>
              </a:tr>
              <a:tr h="383471">
                <a:tc>
                  <a:txBody>
                    <a:bodyPr/>
                    <a:lstStyle/>
                    <a:p>
                      <a:pPr marL="0" lvl="0" indent="0" algn="r" rtl="1">
                        <a:lnSpc>
                          <a:spcPct val="115000"/>
                        </a:lnSpc>
                        <a:spcAft>
                          <a:spcPts val="800"/>
                        </a:spcAft>
                        <a:buSzPts val="1200"/>
                        <a:buFont typeface="Times New Roman" panose="02020603050405020304" pitchFamily="18" charset="0"/>
                        <a:buNone/>
                      </a:pPr>
                      <a:r>
                        <a:rPr lang="ar-SA" sz="1800" b="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4. تنظيم ورش عمل حول استخدام التكنولوجيا في التعليم.</a:t>
                      </a:r>
                      <a:endParaRPr lang="en-US" sz="1800"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dirty="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6843493"/>
                  </a:ext>
                </a:extLst>
              </a:tr>
            </a:tbl>
          </a:graphicData>
        </a:graphic>
      </p:graphicFrame>
      <p:pic>
        <p:nvPicPr>
          <p:cNvPr id="7" name="صورة 6">
            <a:extLst>
              <a:ext uri="{FF2B5EF4-FFF2-40B4-BE49-F238E27FC236}">
                <a16:creationId xmlns:a16="http://schemas.microsoft.com/office/drawing/2014/main" id="{2BDE2E3E-1CBF-65D4-2F14-2E0F2E7F0AE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88927" y="8929307"/>
            <a:ext cx="2993353" cy="1675741"/>
          </a:xfrm>
          <a:prstGeom prst="rect">
            <a:avLst/>
          </a:prstGeom>
        </p:spPr>
      </p:pic>
      <p:pic>
        <p:nvPicPr>
          <p:cNvPr id="9" name="صورة 8">
            <a:extLst>
              <a:ext uri="{FF2B5EF4-FFF2-40B4-BE49-F238E27FC236}">
                <a16:creationId xmlns:a16="http://schemas.microsoft.com/office/drawing/2014/main" id="{DDA009A7-25BE-E4F7-1D22-8211F5BFF1A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66478" y="9232900"/>
            <a:ext cx="1908747" cy="1068556"/>
          </a:xfrm>
          <a:prstGeom prst="rect">
            <a:avLst/>
          </a:prstGeom>
        </p:spPr>
      </p:pic>
      <p:pic>
        <p:nvPicPr>
          <p:cNvPr id="10" name="صورة 9">
            <a:extLst>
              <a:ext uri="{FF2B5EF4-FFF2-40B4-BE49-F238E27FC236}">
                <a16:creationId xmlns:a16="http://schemas.microsoft.com/office/drawing/2014/main" id="{93E5CD02-86C9-4655-D9D5-927299A880F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672842" y="6412033"/>
            <a:ext cx="4210816" cy="2357302"/>
          </a:xfrm>
          <a:prstGeom prst="rect">
            <a:avLst/>
          </a:prstGeom>
        </p:spPr>
      </p:pic>
      <p:sp>
        <p:nvSpPr>
          <p:cNvPr id="12" name="عنصر نائب للمحتوى 12">
            <a:extLst>
              <a:ext uri="{FF2B5EF4-FFF2-40B4-BE49-F238E27FC236}">
                <a16:creationId xmlns:a16="http://schemas.microsoft.com/office/drawing/2014/main" id="{A3CDB417-DB3B-537B-5A33-CCBCD1BA8CDB}"/>
              </a:ext>
            </a:extLst>
          </p:cNvPr>
          <p:cNvSpPr txBox="1">
            <a:spLocks/>
          </p:cNvSpPr>
          <p:nvPr/>
        </p:nvSpPr>
        <p:spPr>
          <a:xfrm>
            <a:off x="2863852" y="6720126"/>
            <a:ext cx="1828800" cy="176792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en-US" sz="2400" dirty="0"/>
              <a:t>{%qr7}</a:t>
            </a:r>
          </a:p>
        </p:txBody>
      </p:sp>
    </p:spTree>
    <p:extLst>
      <p:ext uri="{BB962C8B-B14F-4D97-AF65-F5344CB8AC3E}">
        <p14:creationId xmlns:p14="http://schemas.microsoft.com/office/powerpoint/2010/main" val="23943424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CADBF-8EE3-E616-ABF3-25B67348383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31610E8-FA76-2409-8A3A-9D405464B1E3}"/>
              </a:ext>
            </a:extLst>
          </p:cNvPr>
          <p:cNvSpPr>
            <a:spLocks noGrp="1" noRot="1" noMove="1" noResize="1" noEditPoints="1" noAdjustHandles="1" noChangeArrowheads="1" noChangeShapeType="1"/>
          </p:cNvSpPr>
          <p:nvPr/>
        </p:nvSpPr>
        <p:spPr>
          <a:xfrm>
            <a:off x="0" y="0"/>
            <a:ext cx="7560000" cy="10692000"/>
          </a:xfrm>
          <a:custGeom>
            <a:avLst/>
            <a:gdLst/>
            <a:ahLst/>
            <a:cxnLst/>
            <a:rect l="l" t="t" r="r" b="b"/>
            <a:pathLst>
              <a:path w="7560000" h="10692000">
                <a:moveTo>
                  <a:pt x="0" y="0"/>
                </a:moveTo>
                <a:lnTo>
                  <a:pt x="7560000" y="0"/>
                </a:lnTo>
                <a:lnTo>
                  <a:pt x="7560000" y="10692000"/>
                </a:lnTo>
                <a:lnTo>
                  <a:pt x="0" y="10692000"/>
                </a:lnTo>
                <a:lnTo>
                  <a:pt x="0" y="0"/>
                </a:lnTo>
                <a:close/>
              </a:path>
            </a:pathLst>
          </a:custGeom>
          <a:blipFill>
            <a:blip r:embed="rId2"/>
            <a:stretch>
              <a:fillRect l="-781" t="-13832" r="-781" b="-13832"/>
            </a:stretch>
          </a:blipFill>
        </p:spPr>
        <p:txBody>
          <a:bodyPr/>
          <a:lstStyle/>
          <a:p>
            <a:endParaRPr lang="ar-SA" dirty="0"/>
          </a:p>
        </p:txBody>
      </p:sp>
      <p:sp>
        <p:nvSpPr>
          <p:cNvPr id="3" name="Freeform 3">
            <a:extLst>
              <a:ext uri="{FF2B5EF4-FFF2-40B4-BE49-F238E27FC236}">
                <a16:creationId xmlns:a16="http://schemas.microsoft.com/office/drawing/2014/main" id="{B8F7E18E-FD08-38A3-866E-2D39F7758B7A}"/>
              </a:ext>
            </a:extLst>
          </p:cNvPr>
          <p:cNvSpPr>
            <a:spLocks noGrp="1" noRot="1" noMove="1" noResize="1" noEditPoints="1" noAdjustHandles="1" noChangeArrowheads="1" noChangeShapeType="1"/>
          </p:cNvSpPr>
          <p:nvPr/>
        </p:nvSpPr>
        <p:spPr>
          <a:xfrm>
            <a:off x="6654829" y="7724227"/>
            <a:ext cx="905171" cy="2967773"/>
          </a:xfrm>
          <a:custGeom>
            <a:avLst/>
            <a:gdLst/>
            <a:ahLst/>
            <a:cxnLst/>
            <a:rect l="l" t="t" r="r" b="b"/>
            <a:pathLst>
              <a:path w="905171" h="2967773">
                <a:moveTo>
                  <a:pt x="0" y="0"/>
                </a:moveTo>
                <a:lnTo>
                  <a:pt x="905171" y="0"/>
                </a:lnTo>
                <a:lnTo>
                  <a:pt x="905171" y="2967773"/>
                </a:lnTo>
                <a:lnTo>
                  <a:pt x="0" y="2967773"/>
                </a:lnTo>
                <a:lnTo>
                  <a:pt x="0" y="0"/>
                </a:lnTo>
                <a:close/>
              </a:path>
            </a:pathLst>
          </a:custGeom>
          <a:blipFill>
            <a:blip r:embed="rId3">
              <a:alphaModFix amt="83000"/>
              <a:extLst>
                <a:ext uri="{96DAC541-7B7A-43D3-8B79-37D633B846F1}">
                  <asvg:svgBlip xmlns:asvg="http://schemas.microsoft.com/office/drawing/2016/SVG/main" r:embed="rId4"/>
                </a:ext>
              </a:extLst>
            </a:blip>
            <a:stretch>
              <a:fillRect/>
            </a:stretch>
          </a:blipFill>
        </p:spPr>
        <p:txBody>
          <a:bodyPr/>
          <a:lstStyle/>
          <a:p>
            <a:endParaRPr lang="ar-SA"/>
          </a:p>
        </p:txBody>
      </p:sp>
      <p:sp>
        <p:nvSpPr>
          <p:cNvPr id="4" name="Freeform 4">
            <a:extLst>
              <a:ext uri="{FF2B5EF4-FFF2-40B4-BE49-F238E27FC236}">
                <a16:creationId xmlns:a16="http://schemas.microsoft.com/office/drawing/2014/main" id="{BE6871F5-D60F-96A2-662E-A4D19EA8E243}"/>
              </a:ext>
            </a:extLst>
          </p:cNvPr>
          <p:cNvSpPr>
            <a:spLocks noGrp="1" noRot="1" noMove="1" noResize="1" noEditPoints="1" noAdjustHandles="1" noChangeArrowheads="1" noChangeShapeType="1"/>
          </p:cNvSpPr>
          <p:nvPr/>
        </p:nvSpPr>
        <p:spPr>
          <a:xfrm rot="-10800000">
            <a:off x="-18769" y="-1"/>
            <a:ext cx="1549537" cy="4110699"/>
          </a:xfrm>
          <a:custGeom>
            <a:avLst/>
            <a:gdLst/>
            <a:ahLst/>
            <a:cxnLst/>
            <a:rect l="l" t="t" r="r" b="b"/>
            <a:pathLst>
              <a:path w="1549537" h="5080448">
                <a:moveTo>
                  <a:pt x="0" y="0"/>
                </a:moveTo>
                <a:lnTo>
                  <a:pt x="1549536" y="0"/>
                </a:lnTo>
                <a:lnTo>
                  <a:pt x="1549536" y="5080448"/>
                </a:lnTo>
                <a:lnTo>
                  <a:pt x="0" y="5080448"/>
                </a:lnTo>
                <a:lnTo>
                  <a:pt x="0" y="0"/>
                </a:lnTo>
                <a:close/>
              </a:path>
            </a:pathLst>
          </a:custGeom>
          <a:blipFill>
            <a:blip r:embed="rId3">
              <a:alphaModFix amt="83000"/>
              <a:extLst>
                <a:ext uri="{96DAC541-7B7A-43D3-8B79-37D633B846F1}">
                  <asvg:svgBlip xmlns:asvg="http://schemas.microsoft.com/office/drawing/2016/SVG/main" r:embed="rId4"/>
                </a:ext>
              </a:extLst>
            </a:blip>
            <a:stretch>
              <a:fillRect b="-23591"/>
            </a:stretch>
          </a:blipFill>
          <a:ln cap="sq">
            <a:noFill/>
            <a:prstDash val="solid"/>
            <a:miter/>
          </a:ln>
        </p:spPr>
        <p:txBody>
          <a:bodyPr/>
          <a:lstStyle/>
          <a:p>
            <a:endParaRPr lang="ar-SA"/>
          </a:p>
        </p:txBody>
      </p:sp>
      <p:pic>
        <p:nvPicPr>
          <p:cNvPr id="5" name="صورة 4">
            <a:extLst>
              <a:ext uri="{FF2B5EF4-FFF2-40B4-BE49-F238E27FC236}">
                <a16:creationId xmlns:a16="http://schemas.microsoft.com/office/drawing/2014/main" id="{3F911D53-FCAB-243D-3362-FDBFB7144F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32597" y="8815229"/>
            <a:ext cx="2760378" cy="1545317"/>
          </a:xfrm>
          <a:prstGeom prst="rect">
            <a:avLst/>
          </a:prstGeom>
        </p:spPr>
      </p:pic>
      <p:sp>
        <p:nvSpPr>
          <p:cNvPr id="6" name="TextBox 3">
            <a:extLst>
              <a:ext uri="{FF2B5EF4-FFF2-40B4-BE49-F238E27FC236}">
                <a16:creationId xmlns:a16="http://schemas.microsoft.com/office/drawing/2014/main" id="{789E7F89-B0AA-09C5-5580-F7D780B0A8CF}"/>
              </a:ext>
            </a:extLst>
          </p:cNvPr>
          <p:cNvSpPr txBox="1"/>
          <p:nvPr/>
        </p:nvSpPr>
        <p:spPr>
          <a:xfrm>
            <a:off x="2456229" y="2260189"/>
            <a:ext cx="2913113" cy="738664"/>
          </a:xfrm>
          <a:prstGeom prst="rect">
            <a:avLst/>
          </a:prstGeom>
          <a:solidFill>
            <a:srgbClr val="D4C2C6"/>
          </a:solidFill>
          <a:effectLst>
            <a:outerShdw blurRad="76200" dir="18900000" sy="23000" kx="-1200000" algn="bl" rotWithShape="0">
              <a:prstClr val="black">
                <a:alpha val="20000"/>
              </a:prstClr>
            </a:outerShdw>
          </a:effectLst>
        </p:spPr>
        <p:txBody>
          <a:bodyPr wrap="square" lIns="0" tIns="0" rIns="0" bIns="0" rtlCol="0" anchor="t">
            <a:spAutoFit/>
          </a:bodyPr>
          <a:lstStyle>
            <a:defPPr>
              <a:defRPr lang="en-US"/>
            </a:defPPr>
            <a:lvl1pPr lvl="0" indent="0" algn="ctr" rtl="1">
              <a:lnSpc>
                <a:spcPct val="150000"/>
              </a:lnSpc>
              <a:spcBef>
                <a:spcPct val="0"/>
              </a:spcBef>
              <a:defRPr u="none" strike="noStrike" spc="-33">
                <a:latin typeface="GE SS Two Light"/>
                <a:ea typeface="GE SS Two Light"/>
                <a:cs typeface="GE SS Two Light"/>
                <a:rtl/>
              </a:defRPr>
            </a:lvl1pPr>
          </a:lstStyle>
          <a:p>
            <a:pPr>
              <a:lnSpc>
                <a:spcPct val="100000"/>
              </a:lnSpc>
            </a:pPr>
            <a:r>
              <a:rPr lang="ar-EG" sz="2400" b="1" dirty="0">
                <a:latin typeface="Sakkal Majalla" panose="02000000000000000000" pitchFamily="2" charset="-78"/>
                <a:cs typeface="Sakkal Majalla" panose="02000000000000000000" pitchFamily="2" charset="-78"/>
                <a:sym typeface="GE SS Two Light"/>
              </a:rPr>
              <a:t>تهيئة بيئة تعليمية</a:t>
            </a:r>
          </a:p>
          <a:p>
            <a:pPr>
              <a:lnSpc>
                <a:spcPct val="100000"/>
              </a:lnSpc>
            </a:pPr>
            <a:r>
              <a:rPr lang="ar-EG" sz="2400" b="1" dirty="0">
                <a:latin typeface="Sakkal Majalla" panose="02000000000000000000" pitchFamily="2" charset="-78"/>
                <a:cs typeface="Sakkal Majalla" panose="02000000000000000000" pitchFamily="2" charset="-78"/>
                <a:sym typeface="GE SS Two Light"/>
              </a:rPr>
              <a:t>5%</a:t>
            </a:r>
          </a:p>
        </p:txBody>
      </p:sp>
      <p:graphicFrame>
        <p:nvGraphicFramePr>
          <p:cNvPr id="7" name="جدول 6">
            <a:extLst>
              <a:ext uri="{FF2B5EF4-FFF2-40B4-BE49-F238E27FC236}">
                <a16:creationId xmlns:a16="http://schemas.microsoft.com/office/drawing/2014/main" id="{B1E5B12B-0FF0-72F6-F3F9-ACD0A4B5DC5D}"/>
              </a:ext>
            </a:extLst>
          </p:cNvPr>
          <p:cNvGraphicFramePr>
            <a:graphicFrameLocks noGrp="1"/>
          </p:cNvGraphicFramePr>
          <p:nvPr>
            <p:extLst>
              <p:ext uri="{D42A27DB-BD31-4B8C-83A1-F6EECF244321}">
                <p14:modId xmlns:p14="http://schemas.microsoft.com/office/powerpoint/2010/main" val="799773430"/>
              </p:ext>
            </p:extLst>
          </p:nvPr>
        </p:nvGraphicFramePr>
        <p:xfrm>
          <a:off x="853249" y="3740917"/>
          <a:ext cx="5850001" cy="1463040"/>
        </p:xfrm>
        <a:graphic>
          <a:graphicData uri="http://schemas.openxmlformats.org/drawingml/2006/table">
            <a:tbl>
              <a:tblPr rtl="1" firstRow="1" bandRow="1">
                <a:tableStyleId>{2D5ABB26-0587-4C30-8999-92F81FD0307C}</a:tableStyleId>
              </a:tblPr>
              <a:tblGrid>
                <a:gridCol w="3395687">
                  <a:extLst>
                    <a:ext uri="{9D8B030D-6E8A-4147-A177-3AD203B41FA5}">
                      <a16:colId xmlns:a16="http://schemas.microsoft.com/office/drawing/2014/main" val="315138284"/>
                    </a:ext>
                  </a:extLst>
                </a:gridCol>
                <a:gridCol w="1227157">
                  <a:extLst>
                    <a:ext uri="{9D8B030D-6E8A-4147-A177-3AD203B41FA5}">
                      <a16:colId xmlns:a16="http://schemas.microsoft.com/office/drawing/2014/main" val="3931588184"/>
                    </a:ext>
                  </a:extLst>
                </a:gridCol>
                <a:gridCol w="1227157">
                  <a:extLst>
                    <a:ext uri="{9D8B030D-6E8A-4147-A177-3AD203B41FA5}">
                      <a16:colId xmlns:a16="http://schemas.microsoft.com/office/drawing/2014/main" val="408297873"/>
                    </a:ext>
                  </a:extLst>
                </a:gridCol>
              </a:tblGrid>
              <a:tr h="0">
                <a:tc>
                  <a:txBody>
                    <a:bodyPr/>
                    <a:lstStyle/>
                    <a:p>
                      <a:pPr algn="ctr" rtl="1"/>
                      <a:r>
                        <a:rPr lang="ar-SA" sz="1800" b="1"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الفقرة</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4C2C6"/>
                    </a:solidFill>
                  </a:tcPr>
                </a:tc>
                <a:tc>
                  <a:txBody>
                    <a:bodyPr/>
                    <a:lstStyle/>
                    <a:p>
                      <a:pPr algn="ctr" rtl="1"/>
                      <a:r>
                        <a:rPr lang="ar-SA" sz="1800" b="1"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متوفر</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4C2C6"/>
                    </a:solidFill>
                  </a:tcPr>
                </a:tc>
                <a:tc>
                  <a:txBody>
                    <a:bodyPr/>
                    <a:lstStyle/>
                    <a:p>
                      <a:pPr algn="ctr" rtl="1"/>
                      <a:r>
                        <a:rPr lang="ar-SA" sz="1800" b="1"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غير متوفر</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4C2C6"/>
                    </a:solidFill>
                  </a:tcPr>
                </a:tc>
                <a:extLst>
                  <a:ext uri="{0D108BD9-81ED-4DB2-BD59-A6C34878D82A}">
                    <a16:rowId xmlns:a16="http://schemas.microsoft.com/office/drawing/2014/main" val="3681228051"/>
                  </a:ext>
                </a:extLst>
              </a:tr>
              <a:tr h="0">
                <a:tc>
                  <a:txBody>
                    <a:bodyPr/>
                    <a:lstStyle/>
                    <a:p>
                      <a:pPr marL="0" lvl="0" indent="0" algn="r" rtl="1">
                        <a:lnSpc>
                          <a:spcPct val="115000"/>
                        </a:lnSpc>
                        <a:spcAft>
                          <a:spcPts val="800"/>
                        </a:spcAft>
                        <a:buSzPts val="1200"/>
                        <a:buFont typeface="Times New Roman" panose="02020603050405020304" pitchFamily="18" charset="0"/>
                        <a:buNone/>
                      </a:pPr>
                      <a:r>
                        <a:rPr lang="ar-SA" sz="1800" b="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1. تزيين الفصل بوسائل تعليمية جذابة.</a:t>
                      </a:r>
                      <a:endParaRPr lang="en-US" sz="1800"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8833806"/>
                  </a:ext>
                </a:extLst>
              </a:tr>
              <a:tr h="0">
                <a:tc>
                  <a:txBody>
                    <a:bodyPr/>
                    <a:lstStyle/>
                    <a:p>
                      <a:pPr marL="0" lvl="0" indent="0" algn="r" rtl="1">
                        <a:lnSpc>
                          <a:spcPct val="115000"/>
                        </a:lnSpc>
                        <a:spcAft>
                          <a:spcPts val="800"/>
                        </a:spcAft>
                        <a:buSzPts val="1200"/>
                        <a:buFont typeface="Times New Roman" panose="02020603050405020304" pitchFamily="18" charset="0"/>
                        <a:buNone/>
                      </a:pPr>
                      <a:r>
                        <a:rPr lang="ar-SA" sz="1800" b="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2. تنظيم الفصل بشكل يسهل الحركة والتفاعل.</a:t>
                      </a:r>
                      <a:endParaRPr lang="en-US" sz="1800"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endParaRPr lang="ar-SA" sz="1800" b="0">
                        <a:latin typeface="Sakkal Majalla" panose="02000000000000000000" pitchFamily="2" charset="-78"/>
                        <a:ea typeface="GE SS Two Light" panose="020A0503020102020204" pitchFamily="18" charset="-78"/>
                        <a:cs typeface="Sakkal Majalla" panose="02000000000000000000" pitchFamily="2" charset="-7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2417266"/>
                  </a:ext>
                </a:extLst>
              </a:tr>
              <a:tr h="0">
                <a:tc>
                  <a:txBody>
                    <a:bodyPr/>
                    <a:lstStyle/>
                    <a:p>
                      <a:pPr marL="0" lvl="0" indent="0" algn="r" rtl="1">
                        <a:lnSpc>
                          <a:spcPct val="115000"/>
                        </a:lnSpc>
                        <a:spcAft>
                          <a:spcPts val="800"/>
                        </a:spcAft>
                        <a:buSzPts val="1200"/>
                        <a:buFont typeface="Times New Roman" panose="02020603050405020304" pitchFamily="18" charset="0"/>
                        <a:buNone/>
                      </a:pPr>
                      <a:r>
                        <a:rPr lang="ar-SA" sz="1800" b="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3. توفير الأدوات والموارد التعليمية اللازمة.</a:t>
                      </a:r>
                      <a:endParaRPr lang="en-US" sz="1800"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dirty="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3305950"/>
                  </a:ext>
                </a:extLst>
              </a:tr>
            </a:tbl>
          </a:graphicData>
        </a:graphic>
      </p:graphicFrame>
      <p:pic>
        <p:nvPicPr>
          <p:cNvPr id="9" name="صورة 8">
            <a:extLst>
              <a:ext uri="{FF2B5EF4-FFF2-40B4-BE49-F238E27FC236}">
                <a16:creationId xmlns:a16="http://schemas.microsoft.com/office/drawing/2014/main" id="{B1C320FA-AE96-20F1-563C-AF3E6A97037D}"/>
              </a:ext>
            </a:extLst>
          </p:cNvPr>
          <p:cNvPicPr>
            <a:picLocks noChangeAspect="1"/>
          </p:cNvPicPr>
          <p:nvPr/>
        </p:nvPicPr>
        <p:blipFill>
          <a:blip r:embed="rId6" cstate="print">
            <a:extLst>
              <a:ext uri="{28A0092B-C50C-407E-A947-70E740481C1C}">
                <a14:useLocalDpi xmlns:a14="http://schemas.microsoft.com/office/drawing/2010/main" val="0"/>
              </a:ext>
            </a:extLst>
          </a:blip>
          <a:srcRect t="13562" b="18501"/>
          <a:stretch/>
        </p:blipFill>
        <p:spPr>
          <a:xfrm>
            <a:off x="278709" y="9176891"/>
            <a:ext cx="2235045" cy="821991"/>
          </a:xfrm>
          <a:prstGeom prst="rect">
            <a:avLst/>
          </a:prstGeom>
        </p:spPr>
      </p:pic>
      <p:pic>
        <p:nvPicPr>
          <p:cNvPr id="10" name="صورة 9">
            <a:extLst>
              <a:ext uri="{FF2B5EF4-FFF2-40B4-BE49-F238E27FC236}">
                <a16:creationId xmlns:a16="http://schemas.microsoft.com/office/drawing/2014/main" id="{A3A40AB2-F744-9022-C246-8AC7A423AE2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672840" y="5632881"/>
            <a:ext cx="4210816" cy="2357302"/>
          </a:xfrm>
          <a:prstGeom prst="rect">
            <a:avLst/>
          </a:prstGeom>
        </p:spPr>
      </p:pic>
      <p:sp>
        <p:nvSpPr>
          <p:cNvPr id="12" name="عنصر نائب للمحتوى 12">
            <a:extLst>
              <a:ext uri="{FF2B5EF4-FFF2-40B4-BE49-F238E27FC236}">
                <a16:creationId xmlns:a16="http://schemas.microsoft.com/office/drawing/2014/main" id="{A7BE01B5-5DB7-FA33-0E38-5E1394C8DF20}"/>
              </a:ext>
            </a:extLst>
          </p:cNvPr>
          <p:cNvSpPr txBox="1">
            <a:spLocks/>
          </p:cNvSpPr>
          <p:nvPr/>
        </p:nvSpPr>
        <p:spPr>
          <a:xfrm>
            <a:off x="2863850" y="5940974"/>
            <a:ext cx="1828800" cy="176792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en-US" sz="2400" dirty="0"/>
              <a:t>{%qr8}</a:t>
            </a:r>
          </a:p>
        </p:txBody>
      </p:sp>
    </p:spTree>
    <p:extLst>
      <p:ext uri="{BB962C8B-B14F-4D97-AF65-F5344CB8AC3E}">
        <p14:creationId xmlns:p14="http://schemas.microsoft.com/office/powerpoint/2010/main" val="2081957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7E007-EA86-91ED-D293-955305285B5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75B33C5-E3AA-E1B3-9AA7-753A270F5CF4}"/>
              </a:ext>
            </a:extLst>
          </p:cNvPr>
          <p:cNvSpPr>
            <a:spLocks noGrp="1" noRot="1" noMove="1" noResize="1" noEditPoints="1" noAdjustHandles="1" noChangeArrowheads="1" noChangeShapeType="1"/>
          </p:cNvSpPr>
          <p:nvPr/>
        </p:nvSpPr>
        <p:spPr>
          <a:xfrm>
            <a:off x="0" y="0"/>
            <a:ext cx="7560000" cy="10692000"/>
          </a:xfrm>
          <a:custGeom>
            <a:avLst/>
            <a:gdLst/>
            <a:ahLst/>
            <a:cxnLst/>
            <a:rect l="l" t="t" r="r" b="b"/>
            <a:pathLst>
              <a:path w="7560000" h="10692000">
                <a:moveTo>
                  <a:pt x="0" y="0"/>
                </a:moveTo>
                <a:lnTo>
                  <a:pt x="7560000" y="0"/>
                </a:lnTo>
                <a:lnTo>
                  <a:pt x="7560000" y="10692000"/>
                </a:lnTo>
                <a:lnTo>
                  <a:pt x="0" y="10692000"/>
                </a:lnTo>
                <a:lnTo>
                  <a:pt x="0" y="0"/>
                </a:lnTo>
                <a:close/>
              </a:path>
            </a:pathLst>
          </a:custGeom>
          <a:blipFill>
            <a:blip r:embed="rId2"/>
            <a:stretch>
              <a:fillRect l="-781" t="-13832" r="-781" b="-13832"/>
            </a:stretch>
          </a:blipFill>
        </p:spPr>
        <p:txBody>
          <a:bodyPr/>
          <a:lstStyle/>
          <a:p>
            <a:endParaRPr lang="ar-SA" dirty="0"/>
          </a:p>
        </p:txBody>
      </p:sp>
      <p:sp>
        <p:nvSpPr>
          <p:cNvPr id="3" name="Freeform 3">
            <a:extLst>
              <a:ext uri="{FF2B5EF4-FFF2-40B4-BE49-F238E27FC236}">
                <a16:creationId xmlns:a16="http://schemas.microsoft.com/office/drawing/2014/main" id="{3A9AC1C6-6D6D-F31D-B714-AE0F3D41C02C}"/>
              </a:ext>
            </a:extLst>
          </p:cNvPr>
          <p:cNvSpPr>
            <a:spLocks noGrp="1" noRot="1" noMove="1" noResize="1" noEditPoints="1" noAdjustHandles="1" noChangeArrowheads="1" noChangeShapeType="1"/>
          </p:cNvSpPr>
          <p:nvPr/>
        </p:nvSpPr>
        <p:spPr>
          <a:xfrm>
            <a:off x="6654829" y="7724227"/>
            <a:ext cx="905171" cy="2967773"/>
          </a:xfrm>
          <a:custGeom>
            <a:avLst/>
            <a:gdLst/>
            <a:ahLst/>
            <a:cxnLst/>
            <a:rect l="l" t="t" r="r" b="b"/>
            <a:pathLst>
              <a:path w="905171" h="2967773">
                <a:moveTo>
                  <a:pt x="0" y="0"/>
                </a:moveTo>
                <a:lnTo>
                  <a:pt x="905171" y="0"/>
                </a:lnTo>
                <a:lnTo>
                  <a:pt x="905171" y="2967773"/>
                </a:lnTo>
                <a:lnTo>
                  <a:pt x="0" y="2967773"/>
                </a:lnTo>
                <a:lnTo>
                  <a:pt x="0" y="0"/>
                </a:lnTo>
                <a:close/>
              </a:path>
            </a:pathLst>
          </a:custGeom>
          <a:blipFill>
            <a:blip r:embed="rId3">
              <a:alphaModFix amt="83000"/>
              <a:extLst>
                <a:ext uri="{96DAC541-7B7A-43D3-8B79-37D633B846F1}">
                  <asvg:svgBlip xmlns:asvg="http://schemas.microsoft.com/office/drawing/2016/SVG/main" r:embed="rId4"/>
                </a:ext>
              </a:extLst>
            </a:blip>
            <a:stretch>
              <a:fillRect/>
            </a:stretch>
          </a:blipFill>
        </p:spPr>
        <p:txBody>
          <a:bodyPr/>
          <a:lstStyle/>
          <a:p>
            <a:endParaRPr lang="ar-SA"/>
          </a:p>
        </p:txBody>
      </p:sp>
      <p:sp>
        <p:nvSpPr>
          <p:cNvPr id="4" name="Freeform 4">
            <a:extLst>
              <a:ext uri="{FF2B5EF4-FFF2-40B4-BE49-F238E27FC236}">
                <a16:creationId xmlns:a16="http://schemas.microsoft.com/office/drawing/2014/main" id="{ED4F5B52-D828-4D33-18AB-516B80BA5F62}"/>
              </a:ext>
            </a:extLst>
          </p:cNvPr>
          <p:cNvSpPr>
            <a:spLocks noGrp="1" noRot="1" noMove="1" noResize="1" noEditPoints="1" noAdjustHandles="1" noChangeArrowheads="1" noChangeShapeType="1"/>
          </p:cNvSpPr>
          <p:nvPr/>
        </p:nvSpPr>
        <p:spPr>
          <a:xfrm rot="-10800000">
            <a:off x="-18769" y="-1"/>
            <a:ext cx="1549537" cy="4110699"/>
          </a:xfrm>
          <a:custGeom>
            <a:avLst/>
            <a:gdLst/>
            <a:ahLst/>
            <a:cxnLst/>
            <a:rect l="l" t="t" r="r" b="b"/>
            <a:pathLst>
              <a:path w="1549537" h="5080448">
                <a:moveTo>
                  <a:pt x="0" y="0"/>
                </a:moveTo>
                <a:lnTo>
                  <a:pt x="1549536" y="0"/>
                </a:lnTo>
                <a:lnTo>
                  <a:pt x="1549536" y="5080448"/>
                </a:lnTo>
                <a:lnTo>
                  <a:pt x="0" y="5080448"/>
                </a:lnTo>
                <a:lnTo>
                  <a:pt x="0" y="0"/>
                </a:lnTo>
                <a:close/>
              </a:path>
            </a:pathLst>
          </a:custGeom>
          <a:blipFill>
            <a:blip r:embed="rId3">
              <a:alphaModFix amt="83000"/>
              <a:extLst>
                <a:ext uri="{96DAC541-7B7A-43D3-8B79-37D633B846F1}">
                  <asvg:svgBlip xmlns:asvg="http://schemas.microsoft.com/office/drawing/2016/SVG/main" r:embed="rId4"/>
                </a:ext>
              </a:extLst>
            </a:blip>
            <a:stretch>
              <a:fillRect b="-23591"/>
            </a:stretch>
          </a:blipFill>
          <a:ln cap="sq">
            <a:noFill/>
            <a:prstDash val="solid"/>
            <a:miter/>
          </a:ln>
        </p:spPr>
        <p:txBody>
          <a:bodyPr/>
          <a:lstStyle/>
          <a:p>
            <a:endParaRPr lang="ar-SA"/>
          </a:p>
        </p:txBody>
      </p:sp>
      <p:sp>
        <p:nvSpPr>
          <p:cNvPr id="5" name="TextBox 3">
            <a:extLst>
              <a:ext uri="{FF2B5EF4-FFF2-40B4-BE49-F238E27FC236}">
                <a16:creationId xmlns:a16="http://schemas.microsoft.com/office/drawing/2014/main" id="{206E3FAE-5788-00DF-B77A-EFF95961F0CE}"/>
              </a:ext>
            </a:extLst>
          </p:cNvPr>
          <p:cNvSpPr txBox="1"/>
          <p:nvPr/>
        </p:nvSpPr>
        <p:spPr>
          <a:xfrm>
            <a:off x="2309064" y="2124633"/>
            <a:ext cx="2938370" cy="738664"/>
          </a:xfrm>
          <a:prstGeom prst="rect">
            <a:avLst/>
          </a:prstGeom>
          <a:solidFill>
            <a:srgbClr val="D4C2C6"/>
          </a:solidFill>
          <a:effectLst>
            <a:outerShdw blurRad="76200" dir="18900000" sy="23000" kx="-1200000" algn="bl" rotWithShape="0">
              <a:prstClr val="black">
                <a:alpha val="20000"/>
              </a:prstClr>
            </a:outerShdw>
          </a:effectLst>
        </p:spPr>
        <p:txBody>
          <a:bodyPr wrap="square" lIns="0" tIns="0" rIns="0" bIns="0" rtlCol="0" anchor="t">
            <a:spAutoFit/>
          </a:bodyPr>
          <a:lstStyle>
            <a:defPPr>
              <a:defRPr lang="en-US"/>
            </a:defPPr>
            <a:lvl1pPr lvl="0" indent="0" algn="ctr" rtl="1">
              <a:lnSpc>
                <a:spcPct val="150000"/>
              </a:lnSpc>
              <a:spcBef>
                <a:spcPct val="0"/>
              </a:spcBef>
              <a:defRPr u="none" strike="noStrike" spc="-33">
                <a:latin typeface="GE SS Two Light"/>
                <a:ea typeface="GE SS Two Light"/>
                <a:cs typeface="GE SS Two Light"/>
                <a:rtl/>
              </a:defRPr>
            </a:lvl1pPr>
          </a:lstStyle>
          <a:p>
            <a:pPr>
              <a:lnSpc>
                <a:spcPct val="100000"/>
              </a:lnSpc>
            </a:pPr>
            <a:r>
              <a:rPr lang="ar-EG" sz="2400" b="1" dirty="0">
                <a:latin typeface="Sakkal Majalla" panose="02000000000000000000" pitchFamily="2" charset="-78"/>
                <a:cs typeface="Sakkal Majalla" panose="02000000000000000000" pitchFamily="2" charset="-78"/>
                <a:sym typeface="GE SS Two Light"/>
              </a:rPr>
              <a:t>الإدارة الصفية</a:t>
            </a:r>
          </a:p>
          <a:p>
            <a:pPr>
              <a:lnSpc>
                <a:spcPct val="100000"/>
              </a:lnSpc>
            </a:pPr>
            <a:r>
              <a:rPr lang="ar-EG" sz="2400" b="1" dirty="0">
                <a:latin typeface="Sakkal Majalla" panose="02000000000000000000" pitchFamily="2" charset="-78"/>
                <a:cs typeface="Sakkal Majalla" panose="02000000000000000000" pitchFamily="2" charset="-78"/>
                <a:sym typeface="GE SS Two Light"/>
              </a:rPr>
              <a:t>5%</a:t>
            </a:r>
          </a:p>
        </p:txBody>
      </p:sp>
      <p:graphicFrame>
        <p:nvGraphicFramePr>
          <p:cNvPr id="6" name="جدول 5">
            <a:extLst>
              <a:ext uri="{FF2B5EF4-FFF2-40B4-BE49-F238E27FC236}">
                <a16:creationId xmlns:a16="http://schemas.microsoft.com/office/drawing/2014/main" id="{90FB231A-C243-518F-5496-8C3BA6AEEC11}"/>
              </a:ext>
            </a:extLst>
          </p:cNvPr>
          <p:cNvGraphicFramePr>
            <a:graphicFrameLocks noGrp="1"/>
          </p:cNvGraphicFramePr>
          <p:nvPr>
            <p:extLst>
              <p:ext uri="{D42A27DB-BD31-4B8C-83A1-F6EECF244321}">
                <p14:modId xmlns:p14="http://schemas.microsoft.com/office/powerpoint/2010/main" val="2736056315"/>
              </p:ext>
            </p:extLst>
          </p:nvPr>
        </p:nvGraphicFramePr>
        <p:xfrm>
          <a:off x="853250" y="3401231"/>
          <a:ext cx="5849999" cy="2512542"/>
        </p:xfrm>
        <a:graphic>
          <a:graphicData uri="http://schemas.openxmlformats.org/drawingml/2006/table">
            <a:tbl>
              <a:tblPr rtl="1" firstRow="1" bandRow="1">
                <a:tableStyleId>{2D5ABB26-0587-4C30-8999-92F81FD0307C}</a:tableStyleId>
              </a:tblPr>
              <a:tblGrid>
                <a:gridCol w="3593253">
                  <a:extLst>
                    <a:ext uri="{9D8B030D-6E8A-4147-A177-3AD203B41FA5}">
                      <a16:colId xmlns:a16="http://schemas.microsoft.com/office/drawing/2014/main" val="315138284"/>
                    </a:ext>
                  </a:extLst>
                </a:gridCol>
                <a:gridCol w="1128373">
                  <a:extLst>
                    <a:ext uri="{9D8B030D-6E8A-4147-A177-3AD203B41FA5}">
                      <a16:colId xmlns:a16="http://schemas.microsoft.com/office/drawing/2014/main" val="3931588184"/>
                    </a:ext>
                  </a:extLst>
                </a:gridCol>
                <a:gridCol w="1128373">
                  <a:extLst>
                    <a:ext uri="{9D8B030D-6E8A-4147-A177-3AD203B41FA5}">
                      <a16:colId xmlns:a16="http://schemas.microsoft.com/office/drawing/2014/main" val="408297873"/>
                    </a:ext>
                  </a:extLst>
                </a:gridCol>
              </a:tblGrid>
              <a:tr h="313840">
                <a:tc>
                  <a:txBody>
                    <a:bodyPr/>
                    <a:lstStyle/>
                    <a:p>
                      <a:pPr algn="ctr" rtl="1"/>
                      <a:r>
                        <a:rPr lang="ar-SA" sz="1800" b="1"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الفقرة</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4C2C6"/>
                    </a:solidFill>
                  </a:tcPr>
                </a:tc>
                <a:tc>
                  <a:txBody>
                    <a:bodyPr/>
                    <a:lstStyle/>
                    <a:p>
                      <a:pPr algn="ctr" rtl="1"/>
                      <a:r>
                        <a:rPr lang="ar-SA" sz="1800" b="1"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متوفر</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4C2C6"/>
                    </a:solidFill>
                  </a:tcPr>
                </a:tc>
                <a:tc>
                  <a:txBody>
                    <a:bodyPr/>
                    <a:lstStyle/>
                    <a:p>
                      <a:pPr algn="ctr" rtl="1"/>
                      <a:r>
                        <a:rPr lang="ar-SA" sz="1800" b="1"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غير متوفر</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4C2C6"/>
                    </a:solidFill>
                  </a:tcPr>
                </a:tc>
                <a:extLst>
                  <a:ext uri="{0D108BD9-81ED-4DB2-BD59-A6C34878D82A}">
                    <a16:rowId xmlns:a16="http://schemas.microsoft.com/office/drawing/2014/main" val="3681228051"/>
                  </a:ext>
                </a:extLst>
              </a:tr>
              <a:tr h="505282">
                <a:tc>
                  <a:txBody>
                    <a:bodyPr/>
                    <a:lstStyle/>
                    <a:p>
                      <a:pPr marL="0" lvl="0" indent="0" algn="r" rtl="1">
                        <a:lnSpc>
                          <a:spcPct val="115000"/>
                        </a:lnSpc>
                        <a:spcAft>
                          <a:spcPts val="800"/>
                        </a:spcAft>
                        <a:buSzPts val="1200"/>
                        <a:buFont typeface="Times New Roman" panose="02020603050405020304" pitchFamily="18" charset="0"/>
                        <a:buNone/>
                      </a:pPr>
                      <a:r>
                        <a:rPr lang="ar-SA" sz="180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1. وضع قواعد واضحة للسلوك في الصف.</a:t>
                      </a:r>
                      <a:endParaRPr lang="en-US" sz="180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8833806"/>
                  </a:ext>
                </a:extLst>
              </a:tr>
              <a:tr h="505282">
                <a:tc>
                  <a:txBody>
                    <a:bodyPr/>
                    <a:lstStyle/>
                    <a:p>
                      <a:pPr marL="0" lvl="0" indent="0" algn="r" rtl="1">
                        <a:lnSpc>
                          <a:spcPct val="115000"/>
                        </a:lnSpc>
                        <a:spcAft>
                          <a:spcPts val="800"/>
                        </a:spcAft>
                        <a:buSzPts val="1200"/>
                        <a:buFont typeface="Times New Roman" panose="02020603050405020304" pitchFamily="18" charset="0"/>
                        <a:buNone/>
                      </a:pPr>
                      <a:r>
                        <a:rPr lang="ar-SA" sz="180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2. استخدام أساليب تحفيزية لتشجيع الطلاب على الالتزام.</a:t>
                      </a:r>
                      <a:endParaRPr lang="en-US" sz="180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endParaRPr lang="ar-SA" sz="1800" b="0">
                        <a:latin typeface="Sakkal Majalla" panose="02000000000000000000" pitchFamily="2" charset="-78"/>
                        <a:ea typeface="GE SS Two Light" panose="020A0503020102020204" pitchFamily="18" charset="-78"/>
                        <a:cs typeface="Sakkal Majalla" panose="02000000000000000000" pitchFamily="2" charset="-7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2417266"/>
                  </a:ext>
                </a:extLst>
              </a:tr>
              <a:tr h="505282">
                <a:tc>
                  <a:txBody>
                    <a:bodyPr/>
                    <a:lstStyle/>
                    <a:p>
                      <a:pPr marL="0" lvl="0" indent="0" algn="r" rtl="1">
                        <a:lnSpc>
                          <a:spcPct val="115000"/>
                        </a:lnSpc>
                        <a:spcAft>
                          <a:spcPts val="800"/>
                        </a:spcAft>
                        <a:buSzPts val="1200"/>
                        <a:buFont typeface="Times New Roman" panose="02020603050405020304" pitchFamily="18" charset="0"/>
                        <a:buNone/>
                      </a:pPr>
                      <a:r>
                        <a:rPr lang="ar-SA" sz="180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3. التعامل مع المشكلات السلوكية بشكل عادل وحازم.</a:t>
                      </a:r>
                      <a:endParaRPr lang="en-US" sz="180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3305950"/>
                  </a:ext>
                </a:extLst>
              </a:tr>
              <a:tr h="505282">
                <a:tc>
                  <a:txBody>
                    <a:bodyPr/>
                    <a:lstStyle/>
                    <a:p>
                      <a:pPr marL="0" lvl="0" indent="0" algn="r" rtl="1">
                        <a:lnSpc>
                          <a:spcPct val="115000"/>
                        </a:lnSpc>
                        <a:spcAft>
                          <a:spcPts val="800"/>
                        </a:spcAft>
                        <a:buSzPts val="1200"/>
                        <a:buFont typeface="Times New Roman" panose="02020603050405020304" pitchFamily="18" charset="0"/>
                        <a:buNone/>
                      </a:pPr>
                      <a:r>
                        <a:rPr lang="ar-SA" sz="180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4. تنظيم الوقت بشكل فعال خلال الحصة.</a:t>
                      </a:r>
                      <a:endParaRPr lang="en-US" sz="180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dirty="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6843493"/>
                  </a:ext>
                </a:extLst>
              </a:tr>
            </a:tbl>
          </a:graphicData>
        </a:graphic>
      </p:graphicFrame>
      <p:pic>
        <p:nvPicPr>
          <p:cNvPr id="7" name="صورة 6">
            <a:extLst>
              <a:ext uri="{FF2B5EF4-FFF2-40B4-BE49-F238E27FC236}">
                <a16:creationId xmlns:a16="http://schemas.microsoft.com/office/drawing/2014/main" id="{8BD03077-DFC7-C00B-E93E-21784AFB2AA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19083" y="8818948"/>
            <a:ext cx="2918331" cy="1633742"/>
          </a:xfrm>
          <a:prstGeom prst="rect">
            <a:avLst/>
          </a:prstGeom>
        </p:spPr>
      </p:pic>
      <p:pic>
        <p:nvPicPr>
          <p:cNvPr id="9" name="صورة 8">
            <a:extLst>
              <a:ext uri="{FF2B5EF4-FFF2-40B4-BE49-F238E27FC236}">
                <a16:creationId xmlns:a16="http://schemas.microsoft.com/office/drawing/2014/main" id="{7A074846-62AA-B54D-6612-45CEAC5FCFB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51037" y="9057118"/>
            <a:ext cx="1959463" cy="1096948"/>
          </a:xfrm>
          <a:prstGeom prst="rect">
            <a:avLst/>
          </a:prstGeom>
        </p:spPr>
      </p:pic>
      <p:pic>
        <p:nvPicPr>
          <p:cNvPr id="13" name="صورة 12">
            <a:extLst>
              <a:ext uri="{FF2B5EF4-FFF2-40B4-BE49-F238E27FC236}">
                <a16:creationId xmlns:a16="http://schemas.microsoft.com/office/drawing/2014/main" id="{7CE2B3A0-0BE8-0F93-FA42-D3D00145EA6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672840" y="6342198"/>
            <a:ext cx="4210816" cy="2357302"/>
          </a:xfrm>
          <a:prstGeom prst="rect">
            <a:avLst/>
          </a:prstGeom>
        </p:spPr>
      </p:pic>
      <p:sp>
        <p:nvSpPr>
          <p:cNvPr id="14" name="عنصر نائب للمحتوى 12">
            <a:extLst>
              <a:ext uri="{FF2B5EF4-FFF2-40B4-BE49-F238E27FC236}">
                <a16:creationId xmlns:a16="http://schemas.microsoft.com/office/drawing/2014/main" id="{3FEC7AB4-B0F3-69D1-56E8-DBB7B15BFE06}"/>
              </a:ext>
            </a:extLst>
          </p:cNvPr>
          <p:cNvSpPr txBox="1">
            <a:spLocks/>
          </p:cNvSpPr>
          <p:nvPr/>
        </p:nvSpPr>
        <p:spPr>
          <a:xfrm>
            <a:off x="2863850" y="6650291"/>
            <a:ext cx="1828800" cy="176792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en-US" sz="2400" dirty="0"/>
              <a:t>{%qr9}</a:t>
            </a:r>
          </a:p>
        </p:txBody>
      </p:sp>
    </p:spTree>
    <p:extLst>
      <p:ext uri="{BB962C8B-B14F-4D97-AF65-F5344CB8AC3E}">
        <p14:creationId xmlns:p14="http://schemas.microsoft.com/office/powerpoint/2010/main" val="33821265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C8199-56AA-6153-3FAA-8CED828AB48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7BDD741-E727-4149-36F7-0BF555F0D85B}"/>
              </a:ext>
            </a:extLst>
          </p:cNvPr>
          <p:cNvSpPr>
            <a:spLocks noGrp="1" noRot="1" noMove="1" noResize="1" noEditPoints="1" noAdjustHandles="1" noChangeArrowheads="1" noChangeShapeType="1"/>
          </p:cNvSpPr>
          <p:nvPr/>
        </p:nvSpPr>
        <p:spPr>
          <a:xfrm>
            <a:off x="0" y="0"/>
            <a:ext cx="7560000" cy="10692000"/>
          </a:xfrm>
          <a:custGeom>
            <a:avLst/>
            <a:gdLst/>
            <a:ahLst/>
            <a:cxnLst/>
            <a:rect l="l" t="t" r="r" b="b"/>
            <a:pathLst>
              <a:path w="7560000" h="10692000">
                <a:moveTo>
                  <a:pt x="0" y="0"/>
                </a:moveTo>
                <a:lnTo>
                  <a:pt x="7560000" y="0"/>
                </a:lnTo>
                <a:lnTo>
                  <a:pt x="7560000" y="10692000"/>
                </a:lnTo>
                <a:lnTo>
                  <a:pt x="0" y="10692000"/>
                </a:lnTo>
                <a:lnTo>
                  <a:pt x="0" y="0"/>
                </a:lnTo>
                <a:close/>
              </a:path>
            </a:pathLst>
          </a:custGeom>
          <a:blipFill>
            <a:blip r:embed="rId2"/>
            <a:stretch>
              <a:fillRect l="-781" t="-13832" r="-781" b="-13832"/>
            </a:stretch>
          </a:blipFill>
        </p:spPr>
        <p:txBody>
          <a:bodyPr/>
          <a:lstStyle/>
          <a:p>
            <a:endParaRPr lang="ar-SA" dirty="0">
              <a:latin typeface="Sakkal Majalla" panose="02000000000000000000" pitchFamily="2" charset="-78"/>
              <a:cs typeface="Sakkal Majalla" panose="02000000000000000000" pitchFamily="2" charset="-78"/>
            </a:endParaRPr>
          </a:p>
        </p:txBody>
      </p:sp>
      <p:sp>
        <p:nvSpPr>
          <p:cNvPr id="3" name="Freeform 3">
            <a:extLst>
              <a:ext uri="{FF2B5EF4-FFF2-40B4-BE49-F238E27FC236}">
                <a16:creationId xmlns:a16="http://schemas.microsoft.com/office/drawing/2014/main" id="{779F7FA9-B573-BF37-4C9E-7641956535B4}"/>
              </a:ext>
            </a:extLst>
          </p:cNvPr>
          <p:cNvSpPr>
            <a:spLocks noGrp="1" noRot="1" noMove="1" noResize="1" noEditPoints="1" noAdjustHandles="1" noChangeArrowheads="1" noChangeShapeType="1"/>
          </p:cNvSpPr>
          <p:nvPr/>
        </p:nvSpPr>
        <p:spPr>
          <a:xfrm>
            <a:off x="6654829" y="7724227"/>
            <a:ext cx="905171" cy="2967773"/>
          </a:xfrm>
          <a:custGeom>
            <a:avLst/>
            <a:gdLst/>
            <a:ahLst/>
            <a:cxnLst/>
            <a:rect l="l" t="t" r="r" b="b"/>
            <a:pathLst>
              <a:path w="905171" h="2967773">
                <a:moveTo>
                  <a:pt x="0" y="0"/>
                </a:moveTo>
                <a:lnTo>
                  <a:pt x="905171" y="0"/>
                </a:lnTo>
                <a:lnTo>
                  <a:pt x="905171" y="2967773"/>
                </a:lnTo>
                <a:lnTo>
                  <a:pt x="0" y="2967773"/>
                </a:lnTo>
                <a:lnTo>
                  <a:pt x="0" y="0"/>
                </a:lnTo>
                <a:close/>
              </a:path>
            </a:pathLst>
          </a:custGeom>
          <a:blipFill>
            <a:blip r:embed="rId3">
              <a:alphaModFix amt="83000"/>
              <a:extLst>
                <a:ext uri="{96DAC541-7B7A-43D3-8B79-37D633B846F1}">
                  <asvg:svgBlip xmlns:asvg="http://schemas.microsoft.com/office/drawing/2016/SVG/main" r:embed="rId4"/>
                </a:ext>
              </a:extLst>
            </a:blip>
            <a:stretch>
              <a:fillRect/>
            </a:stretch>
          </a:blipFill>
        </p:spPr>
        <p:txBody>
          <a:bodyPr/>
          <a:lstStyle/>
          <a:p>
            <a:endParaRPr lang="ar-SA"/>
          </a:p>
        </p:txBody>
      </p:sp>
      <p:sp>
        <p:nvSpPr>
          <p:cNvPr id="4" name="Freeform 4">
            <a:extLst>
              <a:ext uri="{FF2B5EF4-FFF2-40B4-BE49-F238E27FC236}">
                <a16:creationId xmlns:a16="http://schemas.microsoft.com/office/drawing/2014/main" id="{30964DA3-1E82-C6F4-B14F-4476846ED81A}"/>
              </a:ext>
            </a:extLst>
          </p:cNvPr>
          <p:cNvSpPr>
            <a:spLocks noGrp="1" noRot="1" noMove="1" noResize="1" noEditPoints="1" noAdjustHandles="1" noChangeArrowheads="1" noChangeShapeType="1"/>
          </p:cNvSpPr>
          <p:nvPr/>
        </p:nvSpPr>
        <p:spPr>
          <a:xfrm rot="-10800000">
            <a:off x="-18769" y="-1"/>
            <a:ext cx="1549537" cy="4110699"/>
          </a:xfrm>
          <a:custGeom>
            <a:avLst/>
            <a:gdLst/>
            <a:ahLst/>
            <a:cxnLst/>
            <a:rect l="l" t="t" r="r" b="b"/>
            <a:pathLst>
              <a:path w="1549537" h="5080448">
                <a:moveTo>
                  <a:pt x="0" y="0"/>
                </a:moveTo>
                <a:lnTo>
                  <a:pt x="1549536" y="0"/>
                </a:lnTo>
                <a:lnTo>
                  <a:pt x="1549536" y="5080448"/>
                </a:lnTo>
                <a:lnTo>
                  <a:pt x="0" y="5080448"/>
                </a:lnTo>
                <a:lnTo>
                  <a:pt x="0" y="0"/>
                </a:lnTo>
                <a:close/>
              </a:path>
            </a:pathLst>
          </a:custGeom>
          <a:blipFill>
            <a:blip r:embed="rId3">
              <a:alphaModFix amt="83000"/>
              <a:extLst>
                <a:ext uri="{96DAC541-7B7A-43D3-8B79-37D633B846F1}">
                  <asvg:svgBlip xmlns:asvg="http://schemas.microsoft.com/office/drawing/2016/SVG/main" r:embed="rId4"/>
                </a:ext>
              </a:extLst>
            </a:blip>
            <a:stretch>
              <a:fillRect b="-23591"/>
            </a:stretch>
          </a:blipFill>
          <a:ln cap="sq">
            <a:noFill/>
            <a:prstDash val="solid"/>
            <a:miter/>
          </a:ln>
        </p:spPr>
        <p:txBody>
          <a:bodyPr/>
          <a:lstStyle/>
          <a:p>
            <a:endParaRPr lang="ar-SA"/>
          </a:p>
        </p:txBody>
      </p:sp>
      <p:sp>
        <p:nvSpPr>
          <p:cNvPr id="5" name="TextBox 3">
            <a:extLst>
              <a:ext uri="{FF2B5EF4-FFF2-40B4-BE49-F238E27FC236}">
                <a16:creationId xmlns:a16="http://schemas.microsoft.com/office/drawing/2014/main" id="{423EED74-6D50-EC80-5127-8B87635F35F5}"/>
              </a:ext>
            </a:extLst>
          </p:cNvPr>
          <p:cNvSpPr txBox="1"/>
          <p:nvPr/>
        </p:nvSpPr>
        <p:spPr>
          <a:xfrm>
            <a:off x="1514259" y="2496620"/>
            <a:ext cx="4436038" cy="738664"/>
          </a:xfrm>
          <a:prstGeom prst="rect">
            <a:avLst/>
          </a:prstGeom>
          <a:solidFill>
            <a:srgbClr val="D4C2C6"/>
          </a:solidFill>
          <a:effectLst>
            <a:outerShdw blurRad="76200" dir="18900000" sy="23000" kx="-1200000" algn="bl" rotWithShape="0">
              <a:prstClr val="black">
                <a:alpha val="20000"/>
              </a:prstClr>
            </a:outerShdw>
          </a:effectLst>
        </p:spPr>
        <p:txBody>
          <a:bodyPr wrap="square" lIns="0" tIns="0" rIns="0" bIns="0" rtlCol="0" anchor="t">
            <a:spAutoFit/>
          </a:bodyPr>
          <a:lstStyle>
            <a:defPPr>
              <a:defRPr lang="en-US"/>
            </a:defPPr>
            <a:lvl1pPr lvl="0" indent="0" algn="ctr" rtl="1">
              <a:lnSpc>
                <a:spcPct val="150000"/>
              </a:lnSpc>
              <a:spcBef>
                <a:spcPct val="0"/>
              </a:spcBef>
              <a:defRPr u="none" strike="noStrike" spc="-33">
                <a:latin typeface="GE SS Two Light"/>
                <a:ea typeface="GE SS Two Light"/>
                <a:cs typeface="GE SS Two Light"/>
                <a:rtl/>
              </a:defRPr>
            </a:lvl1pPr>
          </a:lstStyle>
          <a:p>
            <a:pPr>
              <a:lnSpc>
                <a:spcPct val="100000"/>
              </a:lnSpc>
            </a:pPr>
            <a:r>
              <a:rPr lang="ar-EG" sz="2400" b="1" dirty="0">
                <a:latin typeface="Sakkal Majalla" panose="02000000000000000000" pitchFamily="2" charset="-78"/>
                <a:cs typeface="Sakkal Majalla" panose="02000000000000000000" pitchFamily="2" charset="-78"/>
                <a:sym typeface="GE SS Two Light"/>
              </a:rPr>
              <a:t>تحليل نتائج المتعلمين وتشخيص مستوياتهم</a:t>
            </a:r>
          </a:p>
          <a:p>
            <a:pPr>
              <a:lnSpc>
                <a:spcPct val="100000"/>
              </a:lnSpc>
            </a:pPr>
            <a:r>
              <a:rPr lang="ar-EG" sz="2400" b="1" dirty="0">
                <a:latin typeface="Sakkal Majalla" panose="02000000000000000000" pitchFamily="2" charset="-78"/>
                <a:cs typeface="Sakkal Majalla" panose="02000000000000000000" pitchFamily="2" charset="-78"/>
                <a:sym typeface="GE SS Two Light"/>
              </a:rPr>
              <a:t>10% </a:t>
            </a:r>
          </a:p>
        </p:txBody>
      </p:sp>
      <p:graphicFrame>
        <p:nvGraphicFramePr>
          <p:cNvPr id="6" name="جدول 5">
            <a:extLst>
              <a:ext uri="{FF2B5EF4-FFF2-40B4-BE49-F238E27FC236}">
                <a16:creationId xmlns:a16="http://schemas.microsoft.com/office/drawing/2014/main" id="{80721ACF-5A35-FE34-9C74-7C0DB2B41E92}"/>
              </a:ext>
            </a:extLst>
          </p:cNvPr>
          <p:cNvGraphicFramePr>
            <a:graphicFrameLocks noGrp="1"/>
          </p:cNvGraphicFramePr>
          <p:nvPr>
            <p:extLst>
              <p:ext uri="{D42A27DB-BD31-4B8C-83A1-F6EECF244321}">
                <p14:modId xmlns:p14="http://schemas.microsoft.com/office/powerpoint/2010/main" val="3453104254"/>
              </p:ext>
            </p:extLst>
          </p:nvPr>
        </p:nvGraphicFramePr>
        <p:xfrm>
          <a:off x="732264" y="3862621"/>
          <a:ext cx="5849999" cy="2359152"/>
        </p:xfrm>
        <a:graphic>
          <a:graphicData uri="http://schemas.openxmlformats.org/drawingml/2006/table">
            <a:tbl>
              <a:tblPr rtl="1" firstRow="1" bandRow="1">
                <a:tableStyleId>{2D5ABB26-0587-4C30-8999-92F81FD0307C}</a:tableStyleId>
              </a:tblPr>
              <a:tblGrid>
                <a:gridCol w="3593253">
                  <a:extLst>
                    <a:ext uri="{9D8B030D-6E8A-4147-A177-3AD203B41FA5}">
                      <a16:colId xmlns:a16="http://schemas.microsoft.com/office/drawing/2014/main" val="315138284"/>
                    </a:ext>
                  </a:extLst>
                </a:gridCol>
                <a:gridCol w="1128373">
                  <a:extLst>
                    <a:ext uri="{9D8B030D-6E8A-4147-A177-3AD203B41FA5}">
                      <a16:colId xmlns:a16="http://schemas.microsoft.com/office/drawing/2014/main" val="3931588184"/>
                    </a:ext>
                  </a:extLst>
                </a:gridCol>
                <a:gridCol w="1128373">
                  <a:extLst>
                    <a:ext uri="{9D8B030D-6E8A-4147-A177-3AD203B41FA5}">
                      <a16:colId xmlns:a16="http://schemas.microsoft.com/office/drawing/2014/main" val="408297873"/>
                    </a:ext>
                  </a:extLst>
                </a:gridCol>
              </a:tblGrid>
              <a:tr h="0">
                <a:tc>
                  <a:txBody>
                    <a:bodyPr/>
                    <a:lstStyle/>
                    <a:p>
                      <a:pPr algn="ctr" rtl="1"/>
                      <a:r>
                        <a:rPr lang="ar-SA" sz="1800" b="1"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الفقرة</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4C2C6"/>
                    </a:solidFill>
                  </a:tcPr>
                </a:tc>
                <a:tc>
                  <a:txBody>
                    <a:bodyPr/>
                    <a:lstStyle/>
                    <a:p>
                      <a:pPr algn="ctr" rtl="1"/>
                      <a:r>
                        <a:rPr lang="ar-SA" sz="1800" b="1"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متوفر</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4C2C6"/>
                    </a:solidFill>
                  </a:tcPr>
                </a:tc>
                <a:tc>
                  <a:txBody>
                    <a:bodyPr/>
                    <a:lstStyle/>
                    <a:p>
                      <a:pPr algn="ctr" rtl="1"/>
                      <a:r>
                        <a:rPr lang="ar-SA" sz="1800" b="1"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غير متوفر</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4C2C6"/>
                    </a:solidFill>
                  </a:tcPr>
                </a:tc>
                <a:extLst>
                  <a:ext uri="{0D108BD9-81ED-4DB2-BD59-A6C34878D82A}">
                    <a16:rowId xmlns:a16="http://schemas.microsoft.com/office/drawing/2014/main" val="3681228051"/>
                  </a:ext>
                </a:extLst>
              </a:tr>
              <a:tr h="0">
                <a:tc>
                  <a:txBody>
                    <a:bodyPr/>
                    <a:lstStyle/>
                    <a:p>
                      <a:pPr marL="0" lvl="0" indent="0" algn="r" rtl="1">
                        <a:lnSpc>
                          <a:spcPct val="115000"/>
                        </a:lnSpc>
                        <a:spcAft>
                          <a:spcPts val="800"/>
                        </a:spcAft>
                        <a:buSzPts val="1200"/>
                        <a:buFont typeface="Times New Roman" panose="02020603050405020304" pitchFamily="18" charset="0"/>
                        <a:buNone/>
                      </a:pPr>
                      <a:r>
                        <a:rPr lang="ar-SA" sz="180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1. استخدام اختبارات تقييمية دورية لقياس تقدم الطلاب.</a:t>
                      </a:r>
                      <a:endParaRPr lang="en-US" sz="180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8833806"/>
                  </a:ext>
                </a:extLst>
              </a:tr>
              <a:tr h="0">
                <a:tc>
                  <a:txBody>
                    <a:bodyPr/>
                    <a:lstStyle/>
                    <a:p>
                      <a:pPr marL="0" lvl="0" indent="0" algn="r" rtl="1">
                        <a:lnSpc>
                          <a:spcPct val="115000"/>
                        </a:lnSpc>
                        <a:spcAft>
                          <a:spcPts val="800"/>
                        </a:spcAft>
                        <a:buSzPts val="1200"/>
                        <a:buFont typeface="Times New Roman" panose="02020603050405020304" pitchFamily="18" charset="0"/>
                        <a:buNone/>
                      </a:pPr>
                      <a:r>
                        <a:rPr lang="ar-SA" sz="180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2. تحليل النتائج لتحديد نقاط القوة والضعف.</a:t>
                      </a:r>
                      <a:endParaRPr lang="en-US" sz="180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2417266"/>
                  </a:ext>
                </a:extLst>
              </a:tr>
              <a:tr h="0">
                <a:tc>
                  <a:txBody>
                    <a:bodyPr/>
                    <a:lstStyle/>
                    <a:p>
                      <a:pPr marL="0" lvl="0" indent="0" algn="r" rtl="1">
                        <a:lnSpc>
                          <a:spcPct val="115000"/>
                        </a:lnSpc>
                        <a:spcAft>
                          <a:spcPts val="800"/>
                        </a:spcAft>
                        <a:buSzPts val="1200"/>
                        <a:buFont typeface="Times New Roman" panose="02020603050405020304" pitchFamily="18" charset="0"/>
                        <a:buNone/>
                      </a:pPr>
                      <a:r>
                        <a:rPr lang="ar-SA" sz="180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3. توفير تغذية راجعة فردية للطلاب.</a:t>
                      </a:r>
                      <a:endParaRPr lang="en-US" sz="180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3305950"/>
                  </a:ext>
                </a:extLst>
              </a:tr>
              <a:tr h="0">
                <a:tc>
                  <a:txBody>
                    <a:bodyPr/>
                    <a:lstStyle/>
                    <a:p>
                      <a:pPr marL="0" lvl="0" indent="0" algn="r" rtl="1">
                        <a:lnSpc>
                          <a:spcPct val="115000"/>
                        </a:lnSpc>
                        <a:spcAft>
                          <a:spcPts val="800"/>
                        </a:spcAft>
                        <a:buSzPts val="1200"/>
                        <a:buFont typeface="Times New Roman" panose="02020603050405020304" pitchFamily="18" charset="0"/>
                        <a:buNone/>
                      </a:pPr>
                      <a:r>
                        <a:rPr lang="ar-SA" sz="180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4. تطبيق خطط علاجية للطلاب الذين يحتاجون إلى دعم.</a:t>
                      </a:r>
                      <a:endParaRPr lang="en-US" sz="180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dirty="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6843493"/>
                  </a:ext>
                </a:extLst>
              </a:tr>
            </a:tbl>
          </a:graphicData>
        </a:graphic>
      </p:graphicFrame>
      <p:pic>
        <p:nvPicPr>
          <p:cNvPr id="7" name="صورة 6">
            <a:extLst>
              <a:ext uri="{FF2B5EF4-FFF2-40B4-BE49-F238E27FC236}">
                <a16:creationId xmlns:a16="http://schemas.microsoft.com/office/drawing/2014/main" id="{6F0E7D76-5E29-F689-23F6-4234A86E2BB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33766" y="8986259"/>
            <a:ext cx="2846997" cy="1593808"/>
          </a:xfrm>
          <a:prstGeom prst="rect">
            <a:avLst/>
          </a:prstGeom>
        </p:spPr>
      </p:pic>
      <p:pic>
        <p:nvPicPr>
          <p:cNvPr id="9" name="صورة 8">
            <a:extLst>
              <a:ext uri="{FF2B5EF4-FFF2-40B4-BE49-F238E27FC236}">
                <a16:creationId xmlns:a16="http://schemas.microsoft.com/office/drawing/2014/main" id="{A412C093-478F-893F-3789-EDF0481505A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68368" y="9229952"/>
            <a:ext cx="1497030" cy="838068"/>
          </a:xfrm>
          <a:prstGeom prst="rect">
            <a:avLst/>
          </a:prstGeom>
        </p:spPr>
      </p:pic>
      <p:pic>
        <p:nvPicPr>
          <p:cNvPr id="10" name="صورة 9">
            <a:extLst>
              <a:ext uri="{FF2B5EF4-FFF2-40B4-BE49-F238E27FC236}">
                <a16:creationId xmlns:a16="http://schemas.microsoft.com/office/drawing/2014/main" id="{30537252-82E6-381A-B429-AFDB5D5F809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672840" y="6646998"/>
            <a:ext cx="4210816" cy="2357302"/>
          </a:xfrm>
          <a:prstGeom prst="rect">
            <a:avLst/>
          </a:prstGeom>
        </p:spPr>
      </p:pic>
      <p:sp>
        <p:nvSpPr>
          <p:cNvPr id="12" name="عنصر نائب للمحتوى 12">
            <a:extLst>
              <a:ext uri="{FF2B5EF4-FFF2-40B4-BE49-F238E27FC236}">
                <a16:creationId xmlns:a16="http://schemas.microsoft.com/office/drawing/2014/main" id="{6867B9B9-4A99-3F17-09F3-3FAE5AFEDA50}"/>
              </a:ext>
            </a:extLst>
          </p:cNvPr>
          <p:cNvSpPr txBox="1">
            <a:spLocks/>
          </p:cNvSpPr>
          <p:nvPr/>
        </p:nvSpPr>
        <p:spPr>
          <a:xfrm>
            <a:off x="2863850" y="6955091"/>
            <a:ext cx="1828800" cy="176792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en-US" sz="2400" dirty="0"/>
              <a:t>{%qr10}</a:t>
            </a:r>
          </a:p>
        </p:txBody>
      </p:sp>
    </p:spTree>
    <p:extLst>
      <p:ext uri="{BB962C8B-B14F-4D97-AF65-F5344CB8AC3E}">
        <p14:creationId xmlns:p14="http://schemas.microsoft.com/office/powerpoint/2010/main" val="20128948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C2875-A82C-7052-00E3-1DFB172DE19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F1D9825-68BD-ED37-7657-F48E43DEFEA7}"/>
              </a:ext>
            </a:extLst>
          </p:cNvPr>
          <p:cNvSpPr>
            <a:spLocks noGrp="1" noRot="1" noMove="1" noResize="1" noEditPoints="1" noAdjustHandles="1" noChangeArrowheads="1" noChangeShapeType="1"/>
          </p:cNvSpPr>
          <p:nvPr/>
        </p:nvSpPr>
        <p:spPr>
          <a:xfrm>
            <a:off x="0" y="0"/>
            <a:ext cx="7560000" cy="10692000"/>
          </a:xfrm>
          <a:custGeom>
            <a:avLst/>
            <a:gdLst/>
            <a:ahLst/>
            <a:cxnLst/>
            <a:rect l="l" t="t" r="r" b="b"/>
            <a:pathLst>
              <a:path w="7560000" h="10692000">
                <a:moveTo>
                  <a:pt x="0" y="0"/>
                </a:moveTo>
                <a:lnTo>
                  <a:pt x="7560000" y="0"/>
                </a:lnTo>
                <a:lnTo>
                  <a:pt x="7560000" y="10692000"/>
                </a:lnTo>
                <a:lnTo>
                  <a:pt x="0" y="10692000"/>
                </a:lnTo>
                <a:lnTo>
                  <a:pt x="0" y="0"/>
                </a:lnTo>
                <a:close/>
              </a:path>
            </a:pathLst>
          </a:custGeom>
          <a:blipFill>
            <a:blip r:embed="rId2"/>
            <a:stretch>
              <a:fillRect l="-781" t="-13832" r="-781" b="-13832"/>
            </a:stretch>
          </a:blipFill>
        </p:spPr>
        <p:txBody>
          <a:bodyPr/>
          <a:lstStyle/>
          <a:p>
            <a:endParaRPr lang="ar-SA" dirty="0"/>
          </a:p>
        </p:txBody>
      </p:sp>
      <p:sp>
        <p:nvSpPr>
          <p:cNvPr id="3" name="Freeform 3">
            <a:extLst>
              <a:ext uri="{FF2B5EF4-FFF2-40B4-BE49-F238E27FC236}">
                <a16:creationId xmlns:a16="http://schemas.microsoft.com/office/drawing/2014/main" id="{3A2A2E53-B976-9480-DE88-1E3E022AB6A4}"/>
              </a:ext>
            </a:extLst>
          </p:cNvPr>
          <p:cNvSpPr>
            <a:spLocks noGrp="1" noRot="1" noMove="1" noResize="1" noEditPoints="1" noAdjustHandles="1" noChangeArrowheads="1" noChangeShapeType="1"/>
          </p:cNvSpPr>
          <p:nvPr/>
        </p:nvSpPr>
        <p:spPr>
          <a:xfrm>
            <a:off x="6654829" y="7724227"/>
            <a:ext cx="905171" cy="2967773"/>
          </a:xfrm>
          <a:custGeom>
            <a:avLst/>
            <a:gdLst/>
            <a:ahLst/>
            <a:cxnLst/>
            <a:rect l="l" t="t" r="r" b="b"/>
            <a:pathLst>
              <a:path w="905171" h="2967773">
                <a:moveTo>
                  <a:pt x="0" y="0"/>
                </a:moveTo>
                <a:lnTo>
                  <a:pt x="905171" y="0"/>
                </a:lnTo>
                <a:lnTo>
                  <a:pt x="905171" y="2967773"/>
                </a:lnTo>
                <a:lnTo>
                  <a:pt x="0" y="2967773"/>
                </a:lnTo>
                <a:lnTo>
                  <a:pt x="0" y="0"/>
                </a:lnTo>
                <a:close/>
              </a:path>
            </a:pathLst>
          </a:custGeom>
          <a:blipFill>
            <a:blip r:embed="rId3">
              <a:alphaModFix amt="83000"/>
              <a:extLst>
                <a:ext uri="{96DAC541-7B7A-43D3-8B79-37D633B846F1}">
                  <asvg:svgBlip xmlns:asvg="http://schemas.microsoft.com/office/drawing/2016/SVG/main" r:embed="rId4"/>
                </a:ext>
              </a:extLst>
            </a:blip>
            <a:stretch>
              <a:fillRect/>
            </a:stretch>
          </a:blipFill>
        </p:spPr>
        <p:txBody>
          <a:bodyPr/>
          <a:lstStyle/>
          <a:p>
            <a:endParaRPr lang="ar-SA"/>
          </a:p>
        </p:txBody>
      </p:sp>
      <p:sp>
        <p:nvSpPr>
          <p:cNvPr id="4" name="Freeform 4">
            <a:extLst>
              <a:ext uri="{FF2B5EF4-FFF2-40B4-BE49-F238E27FC236}">
                <a16:creationId xmlns:a16="http://schemas.microsoft.com/office/drawing/2014/main" id="{D023D302-B48F-25D5-BEE4-58D6090EA187}"/>
              </a:ext>
            </a:extLst>
          </p:cNvPr>
          <p:cNvSpPr>
            <a:spLocks noGrp="1" noRot="1" noMove="1" noResize="1" noEditPoints="1" noAdjustHandles="1" noChangeArrowheads="1" noChangeShapeType="1"/>
          </p:cNvSpPr>
          <p:nvPr/>
        </p:nvSpPr>
        <p:spPr>
          <a:xfrm rot="-10800000">
            <a:off x="-18769" y="-1"/>
            <a:ext cx="1549537" cy="4110699"/>
          </a:xfrm>
          <a:custGeom>
            <a:avLst/>
            <a:gdLst/>
            <a:ahLst/>
            <a:cxnLst/>
            <a:rect l="l" t="t" r="r" b="b"/>
            <a:pathLst>
              <a:path w="1549537" h="5080448">
                <a:moveTo>
                  <a:pt x="0" y="0"/>
                </a:moveTo>
                <a:lnTo>
                  <a:pt x="1549536" y="0"/>
                </a:lnTo>
                <a:lnTo>
                  <a:pt x="1549536" y="5080448"/>
                </a:lnTo>
                <a:lnTo>
                  <a:pt x="0" y="5080448"/>
                </a:lnTo>
                <a:lnTo>
                  <a:pt x="0" y="0"/>
                </a:lnTo>
                <a:close/>
              </a:path>
            </a:pathLst>
          </a:custGeom>
          <a:blipFill>
            <a:blip r:embed="rId3">
              <a:alphaModFix amt="83000"/>
              <a:extLst>
                <a:ext uri="{96DAC541-7B7A-43D3-8B79-37D633B846F1}">
                  <asvg:svgBlip xmlns:asvg="http://schemas.microsoft.com/office/drawing/2016/SVG/main" r:embed="rId4"/>
                </a:ext>
              </a:extLst>
            </a:blip>
            <a:stretch>
              <a:fillRect b="-23591"/>
            </a:stretch>
          </a:blipFill>
          <a:ln cap="sq">
            <a:noFill/>
            <a:prstDash val="solid"/>
            <a:miter/>
          </a:ln>
        </p:spPr>
        <p:txBody>
          <a:bodyPr/>
          <a:lstStyle/>
          <a:p>
            <a:endParaRPr lang="ar-SA"/>
          </a:p>
        </p:txBody>
      </p:sp>
      <p:pic>
        <p:nvPicPr>
          <p:cNvPr id="5" name="صورة 4">
            <a:extLst>
              <a:ext uri="{FF2B5EF4-FFF2-40B4-BE49-F238E27FC236}">
                <a16:creationId xmlns:a16="http://schemas.microsoft.com/office/drawing/2014/main" id="{71933B49-BC21-F4BB-7E3D-E345DD2B7B3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45775" y="8851423"/>
            <a:ext cx="2846997" cy="1593808"/>
          </a:xfrm>
          <a:prstGeom prst="rect">
            <a:avLst/>
          </a:prstGeom>
        </p:spPr>
      </p:pic>
      <p:sp>
        <p:nvSpPr>
          <p:cNvPr id="6" name="TextBox 3">
            <a:extLst>
              <a:ext uri="{FF2B5EF4-FFF2-40B4-BE49-F238E27FC236}">
                <a16:creationId xmlns:a16="http://schemas.microsoft.com/office/drawing/2014/main" id="{46C9292A-F8DD-6FE2-1DF0-A9D250112927}"/>
              </a:ext>
            </a:extLst>
          </p:cNvPr>
          <p:cNvSpPr txBox="1"/>
          <p:nvPr/>
        </p:nvSpPr>
        <p:spPr>
          <a:xfrm>
            <a:off x="2323001" y="2320491"/>
            <a:ext cx="2892547" cy="738664"/>
          </a:xfrm>
          <a:prstGeom prst="rect">
            <a:avLst/>
          </a:prstGeom>
          <a:solidFill>
            <a:srgbClr val="D4C2C6"/>
          </a:solidFill>
          <a:effectLst>
            <a:outerShdw blurRad="76200" dir="18900000" sy="23000" kx="-1200000" algn="bl" rotWithShape="0">
              <a:prstClr val="black">
                <a:alpha val="20000"/>
              </a:prstClr>
            </a:outerShdw>
          </a:effectLst>
        </p:spPr>
        <p:txBody>
          <a:bodyPr wrap="square" lIns="0" tIns="0" rIns="0" bIns="0" rtlCol="0" anchor="t">
            <a:spAutoFit/>
          </a:bodyPr>
          <a:lstStyle>
            <a:defPPr>
              <a:defRPr lang="en-US"/>
            </a:defPPr>
            <a:lvl1pPr lvl="0" indent="0" algn="ctr" rtl="1">
              <a:lnSpc>
                <a:spcPct val="150000"/>
              </a:lnSpc>
              <a:spcBef>
                <a:spcPct val="0"/>
              </a:spcBef>
              <a:defRPr u="none" strike="noStrike" spc="-33">
                <a:latin typeface="GE SS Two Light"/>
                <a:ea typeface="GE SS Two Light"/>
                <a:cs typeface="GE SS Two Light"/>
                <a:rtl/>
              </a:defRPr>
            </a:lvl1pPr>
          </a:lstStyle>
          <a:p>
            <a:pPr>
              <a:lnSpc>
                <a:spcPct val="100000"/>
              </a:lnSpc>
            </a:pPr>
            <a:r>
              <a:rPr lang="ar-EG" sz="2400" b="1" dirty="0">
                <a:latin typeface="Sakkal Majalla" panose="02000000000000000000" pitchFamily="2" charset="-78"/>
                <a:cs typeface="Sakkal Majalla" panose="02000000000000000000" pitchFamily="2" charset="-78"/>
                <a:sym typeface="GE SS Two Light"/>
              </a:rPr>
              <a:t>تنوع أساليب التقويم</a:t>
            </a:r>
          </a:p>
          <a:p>
            <a:pPr>
              <a:lnSpc>
                <a:spcPct val="100000"/>
              </a:lnSpc>
            </a:pPr>
            <a:r>
              <a:rPr lang="ar-EG" sz="2400" b="1" dirty="0">
                <a:latin typeface="Sakkal Majalla" panose="02000000000000000000" pitchFamily="2" charset="-78"/>
                <a:cs typeface="Sakkal Majalla" panose="02000000000000000000" pitchFamily="2" charset="-78"/>
                <a:sym typeface="GE SS Two Light"/>
              </a:rPr>
              <a:t>10% </a:t>
            </a:r>
          </a:p>
        </p:txBody>
      </p:sp>
      <p:graphicFrame>
        <p:nvGraphicFramePr>
          <p:cNvPr id="7" name="جدول 6">
            <a:extLst>
              <a:ext uri="{FF2B5EF4-FFF2-40B4-BE49-F238E27FC236}">
                <a16:creationId xmlns:a16="http://schemas.microsoft.com/office/drawing/2014/main" id="{00FDDE09-A50F-EAEC-5682-B802A334DF45}"/>
              </a:ext>
            </a:extLst>
          </p:cNvPr>
          <p:cNvGraphicFramePr>
            <a:graphicFrameLocks noGrp="1"/>
          </p:cNvGraphicFramePr>
          <p:nvPr>
            <p:extLst>
              <p:ext uri="{D42A27DB-BD31-4B8C-83A1-F6EECF244321}">
                <p14:modId xmlns:p14="http://schemas.microsoft.com/office/powerpoint/2010/main" val="4218776578"/>
              </p:ext>
            </p:extLst>
          </p:nvPr>
        </p:nvGraphicFramePr>
        <p:xfrm>
          <a:off x="853249" y="3888427"/>
          <a:ext cx="5849999" cy="1728216"/>
        </p:xfrm>
        <a:graphic>
          <a:graphicData uri="http://schemas.openxmlformats.org/drawingml/2006/table">
            <a:tbl>
              <a:tblPr rtl="1" firstRow="1" bandRow="1">
                <a:tableStyleId>{2D5ABB26-0587-4C30-8999-92F81FD0307C}</a:tableStyleId>
              </a:tblPr>
              <a:tblGrid>
                <a:gridCol w="3593253">
                  <a:extLst>
                    <a:ext uri="{9D8B030D-6E8A-4147-A177-3AD203B41FA5}">
                      <a16:colId xmlns:a16="http://schemas.microsoft.com/office/drawing/2014/main" val="315138284"/>
                    </a:ext>
                  </a:extLst>
                </a:gridCol>
                <a:gridCol w="1128373">
                  <a:extLst>
                    <a:ext uri="{9D8B030D-6E8A-4147-A177-3AD203B41FA5}">
                      <a16:colId xmlns:a16="http://schemas.microsoft.com/office/drawing/2014/main" val="3931588184"/>
                    </a:ext>
                  </a:extLst>
                </a:gridCol>
                <a:gridCol w="1128373">
                  <a:extLst>
                    <a:ext uri="{9D8B030D-6E8A-4147-A177-3AD203B41FA5}">
                      <a16:colId xmlns:a16="http://schemas.microsoft.com/office/drawing/2014/main" val="408297873"/>
                    </a:ext>
                  </a:extLst>
                </a:gridCol>
              </a:tblGrid>
              <a:tr h="0">
                <a:tc>
                  <a:txBody>
                    <a:bodyPr/>
                    <a:lstStyle/>
                    <a:p>
                      <a:pPr algn="ctr" rtl="1"/>
                      <a:r>
                        <a:rPr lang="ar-SA" sz="1800" b="0"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الفقرة</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4C2C6"/>
                    </a:solidFill>
                  </a:tcPr>
                </a:tc>
                <a:tc>
                  <a:txBody>
                    <a:bodyPr/>
                    <a:lstStyle/>
                    <a:p>
                      <a:pPr algn="ctr" rtl="1"/>
                      <a:r>
                        <a:rPr lang="ar-SA" sz="1800" b="0"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متوفر</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4C2C6"/>
                    </a:solidFill>
                  </a:tcPr>
                </a:tc>
                <a:tc>
                  <a:txBody>
                    <a:bodyPr/>
                    <a:lstStyle/>
                    <a:p>
                      <a:pPr algn="ctr" rtl="1"/>
                      <a:r>
                        <a:rPr lang="ar-SA" sz="1800" b="0" dirty="0">
                          <a:solidFill>
                            <a:schemeClr val="tx1"/>
                          </a:solidFill>
                          <a:latin typeface="Sakkal Majalla" panose="02000000000000000000" pitchFamily="2" charset="-78"/>
                          <a:ea typeface="GE SS Two Light" panose="020A0503020102020204" pitchFamily="18" charset="-78"/>
                          <a:cs typeface="Sakkal Majalla" panose="02000000000000000000" pitchFamily="2" charset="-78"/>
                        </a:rPr>
                        <a:t>غير متوفر</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4C2C6"/>
                    </a:solidFill>
                  </a:tcPr>
                </a:tc>
                <a:extLst>
                  <a:ext uri="{0D108BD9-81ED-4DB2-BD59-A6C34878D82A}">
                    <a16:rowId xmlns:a16="http://schemas.microsoft.com/office/drawing/2014/main" val="3681228051"/>
                  </a:ext>
                </a:extLst>
              </a:tr>
              <a:tr h="0">
                <a:tc>
                  <a:txBody>
                    <a:bodyPr/>
                    <a:lstStyle/>
                    <a:p>
                      <a:pPr marL="0" lvl="0" indent="0" algn="r" rtl="1">
                        <a:lnSpc>
                          <a:spcPct val="115000"/>
                        </a:lnSpc>
                        <a:spcAft>
                          <a:spcPts val="800"/>
                        </a:spcAft>
                        <a:buSzPts val="1200"/>
                        <a:buFont typeface="Times New Roman" panose="02020603050405020304" pitchFamily="18" charset="0"/>
                        <a:buNone/>
                      </a:pPr>
                      <a:r>
                        <a:rPr lang="ar-SA" sz="1800" b="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1. استخدام الاختبارات الكتابية والشفوية.</a:t>
                      </a:r>
                      <a:endParaRPr lang="en-US" sz="1800" b="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8833806"/>
                  </a:ext>
                </a:extLst>
              </a:tr>
              <a:tr h="0">
                <a:tc>
                  <a:txBody>
                    <a:bodyPr/>
                    <a:lstStyle/>
                    <a:p>
                      <a:pPr marL="0" lvl="0" indent="0" algn="r" rtl="1">
                        <a:lnSpc>
                          <a:spcPct val="115000"/>
                        </a:lnSpc>
                        <a:spcAft>
                          <a:spcPts val="800"/>
                        </a:spcAft>
                        <a:buSzPts val="1200"/>
                        <a:buFont typeface="Times New Roman" panose="02020603050405020304" pitchFamily="18" charset="0"/>
                        <a:buNone/>
                      </a:pPr>
                      <a:r>
                        <a:rPr lang="ar-SA" sz="180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2. تطبيق التقييم العملي من خلال المشاريع والعروض.</a:t>
                      </a:r>
                      <a:endParaRPr lang="en-US" sz="180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2417266"/>
                  </a:ext>
                </a:extLst>
              </a:tr>
              <a:tr h="0">
                <a:tc>
                  <a:txBody>
                    <a:bodyPr/>
                    <a:lstStyle/>
                    <a:p>
                      <a:pPr marL="0" lvl="0" indent="0" algn="r" rtl="1">
                        <a:lnSpc>
                          <a:spcPct val="115000"/>
                        </a:lnSpc>
                        <a:spcAft>
                          <a:spcPts val="800"/>
                        </a:spcAft>
                        <a:buSzPts val="1200"/>
                        <a:buFont typeface="Times New Roman" panose="02020603050405020304" pitchFamily="18" charset="0"/>
                        <a:buNone/>
                      </a:pPr>
                      <a:r>
                        <a:rPr lang="ar-SA" sz="1800" kern="100" dirty="0">
                          <a:solidFill>
                            <a:srgbClr val="000000"/>
                          </a:solidFill>
                          <a:effectLst/>
                          <a:latin typeface="Sakkal Majalla" panose="02000000000000000000" pitchFamily="2" charset="-78"/>
                          <a:ea typeface="GE SS Two Light" panose="020A0503020102020204" pitchFamily="18" charset="-78"/>
                          <a:cs typeface="Sakkal Majalla" panose="02000000000000000000" pitchFamily="2" charset="-78"/>
                        </a:rPr>
                        <a:t>3. استخدام التقييم التكويني لتتبع تقدم الطلاب بشكل مستمر.</a:t>
                      </a:r>
                      <a:endParaRPr lang="en-US" sz="1800"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rtl="1"/>
                      <a:r>
                        <a:rPr lang="ar-SA" b="0" i="0" dirty="0">
                          <a:solidFill>
                            <a:srgbClr val="1F1F1F"/>
                          </a:solidFill>
                          <a:effectLst/>
                          <a:latin typeface="Arial" panose="020B0604020202020204" pitchFamily="34" charset="0"/>
                        </a:rPr>
                        <a:t>✔</a:t>
                      </a:r>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rtl="1"/>
                      <a:endParaRPr lang="ar-SA" sz="1800" b="0" dirty="0">
                        <a:latin typeface="Sakkal Majalla" panose="02000000000000000000" pitchFamily="2" charset="-78"/>
                        <a:ea typeface="GE SS Two Light" panose="020A0503020102020204" pitchFamily="18" charset="-78"/>
                        <a:cs typeface="Sakkal Majalla" panose="02000000000000000000" pitchFamily="2" charset="-78"/>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3305950"/>
                  </a:ext>
                </a:extLst>
              </a:tr>
            </a:tbl>
          </a:graphicData>
        </a:graphic>
      </p:graphicFrame>
      <p:pic>
        <p:nvPicPr>
          <p:cNvPr id="9" name="صورة 8">
            <a:extLst>
              <a:ext uri="{FF2B5EF4-FFF2-40B4-BE49-F238E27FC236}">
                <a16:creationId xmlns:a16="http://schemas.microsoft.com/office/drawing/2014/main" id="{14F45B64-7231-EEC5-752D-E47A02BAB43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96690" y="9032781"/>
            <a:ext cx="2199084" cy="1231092"/>
          </a:xfrm>
          <a:prstGeom prst="rect">
            <a:avLst/>
          </a:prstGeom>
        </p:spPr>
      </p:pic>
      <p:pic>
        <p:nvPicPr>
          <p:cNvPr id="10" name="صورة 9">
            <a:extLst>
              <a:ext uri="{FF2B5EF4-FFF2-40B4-BE49-F238E27FC236}">
                <a16:creationId xmlns:a16="http://schemas.microsoft.com/office/drawing/2014/main" id="{2A17DFC6-0B76-F436-C6BD-D91668C1818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672840" y="6189798"/>
            <a:ext cx="4210816" cy="2357302"/>
          </a:xfrm>
          <a:prstGeom prst="rect">
            <a:avLst/>
          </a:prstGeom>
        </p:spPr>
      </p:pic>
      <p:sp>
        <p:nvSpPr>
          <p:cNvPr id="12" name="عنصر نائب للمحتوى 12">
            <a:extLst>
              <a:ext uri="{FF2B5EF4-FFF2-40B4-BE49-F238E27FC236}">
                <a16:creationId xmlns:a16="http://schemas.microsoft.com/office/drawing/2014/main" id="{7F2519E2-532D-BABF-D1A6-3DE92C899B34}"/>
              </a:ext>
            </a:extLst>
          </p:cNvPr>
          <p:cNvSpPr txBox="1">
            <a:spLocks/>
          </p:cNvSpPr>
          <p:nvPr/>
        </p:nvSpPr>
        <p:spPr>
          <a:xfrm>
            <a:off x="2863850" y="6497891"/>
            <a:ext cx="1828800" cy="176792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en-US" sz="2400"/>
              <a:t>{%qr11}</a:t>
            </a:r>
            <a:endParaRPr lang="en-US" sz="2400" dirty="0"/>
          </a:p>
        </p:txBody>
      </p:sp>
    </p:spTree>
    <p:extLst>
      <p:ext uri="{BB962C8B-B14F-4D97-AF65-F5344CB8AC3E}">
        <p14:creationId xmlns:p14="http://schemas.microsoft.com/office/powerpoint/2010/main" val="15981915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B0E96-FDF9-0750-6BAC-322A9396711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D5716B5-11D8-FC8C-414F-44034E43535E}"/>
              </a:ext>
            </a:extLst>
          </p:cNvPr>
          <p:cNvSpPr>
            <a:spLocks noGrp="1" noRot="1" noMove="1" noResize="1" noEditPoints="1" noAdjustHandles="1" noChangeArrowheads="1" noChangeShapeType="1"/>
          </p:cNvSpPr>
          <p:nvPr/>
        </p:nvSpPr>
        <p:spPr>
          <a:xfrm>
            <a:off x="0" y="0"/>
            <a:ext cx="7560000" cy="10692000"/>
          </a:xfrm>
          <a:custGeom>
            <a:avLst/>
            <a:gdLst/>
            <a:ahLst/>
            <a:cxnLst/>
            <a:rect l="l" t="t" r="r" b="b"/>
            <a:pathLst>
              <a:path w="7560000" h="10692000">
                <a:moveTo>
                  <a:pt x="0" y="0"/>
                </a:moveTo>
                <a:lnTo>
                  <a:pt x="7560000" y="0"/>
                </a:lnTo>
                <a:lnTo>
                  <a:pt x="7560000" y="10692000"/>
                </a:lnTo>
                <a:lnTo>
                  <a:pt x="0" y="10692000"/>
                </a:lnTo>
                <a:lnTo>
                  <a:pt x="0" y="0"/>
                </a:lnTo>
                <a:close/>
              </a:path>
            </a:pathLst>
          </a:custGeom>
          <a:blipFill>
            <a:blip r:embed="rId2"/>
            <a:stretch>
              <a:fillRect l="-781" t="-13832" r="-781" b="-13832"/>
            </a:stretch>
          </a:blipFill>
        </p:spPr>
        <p:txBody>
          <a:bodyPr/>
          <a:lstStyle/>
          <a:p>
            <a:endParaRPr lang="ar-SA" dirty="0">
              <a:latin typeface="Sakkal Majalla" panose="02000000000000000000" pitchFamily="2" charset="-78"/>
              <a:cs typeface="Sakkal Majalla" panose="02000000000000000000" pitchFamily="2" charset="-78"/>
            </a:endParaRPr>
          </a:p>
        </p:txBody>
      </p:sp>
      <p:sp>
        <p:nvSpPr>
          <p:cNvPr id="3" name="Freeform 3">
            <a:extLst>
              <a:ext uri="{FF2B5EF4-FFF2-40B4-BE49-F238E27FC236}">
                <a16:creationId xmlns:a16="http://schemas.microsoft.com/office/drawing/2014/main" id="{468490D8-5EA7-C77F-906A-D16173E15143}"/>
              </a:ext>
            </a:extLst>
          </p:cNvPr>
          <p:cNvSpPr>
            <a:spLocks noGrp="1" noRot="1" noMove="1" noResize="1" noEditPoints="1" noAdjustHandles="1" noChangeArrowheads="1" noChangeShapeType="1"/>
          </p:cNvSpPr>
          <p:nvPr/>
        </p:nvSpPr>
        <p:spPr>
          <a:xfrm>
            <a:off x="6654829" y="7724227"/>
            <a:ext cx="905171" cy="2967773"/>
          </a:xfrm>
          <a:custGeom>
            <a:avLst/>
            <a:gdLst/>
            <a:ahLst/>
            <a:cxnLst/>
            <a:rect l="l" t="t" r="r" b="b"/>
            <a:pathLst>
              <a:path w="905171" h="2967773">
                <a:moveTo>
                  <a:pt x="0" y="0"/>
                </a:moveTo>
                <a:lnTo>
                  <a:pt x="905171" y="0"/>
                </a:lnTo>
                <a:lnTo>
                  <a:pt x="905171" y="2967773"/>
                </a:lnTo>
                <a:lnTo>
                  <a:pt x="0" y="2967773"/>
                </a:lnTo>
                <a:lnTo>
                  <a:pt x="0" y="0"/>
                </a:lnTo>
                <a:close/>
              </a:path>
            </a:pathLst>
          </a:custGeom>
          <a:blipFill>
            <a:blip r:embed="rId3">
              <a:alphaModFix amt="83000"/>
              <a:extLst>
                <a:ext uri="{96DAC541-7B7A-43D3-8B79-37D633B846F1}">
                  <asvg:svgBlip xmlns:asvg="http://schemas.microsoft.com/office/drawing/2016/SVG/main" r:embed="rId4"/>
                </a:ext>
              </a:extLst>
            </a:blip>
            <a:stretch>
              <a:fillRect/>
            </a:stretch>
          </a:blipFill>
        </p:spPr>
        <p:txBody>
          <a:bodyPr/>
          <a:lstStyle/>
          <a:p>
            <a:endParaRPr lang="ar-SA">
              <a:latin typeface="Sakkal Majalla" panose="02000000000000000000" pitchFamily="2" charset="-78"/>
              <a:cs typeface="Sakkal Majalla" panose="02000000000000000000" pitchFamily="2" charset="-78"/>
            </a:endParaRPr>
          </a:p>
        </p:txBody>
      </p:sp>
      <p:sp>
        <p:nvSpPr>
          <p:cNvPr id="4" name="Freeform 4">
            <a:extLst>
              <a:ext uri="{FF2B5EF4-FFF2-40B4-BE49-F238E27FC236}">
                <a16:creationId xmlns:a16="http://schemas.microsoft.com/office/drawing/2014/main" id="{5694A9B1-7A4F-F2C0-6883-CD06B2EE32D9}"/>
              </a:ext>
            </a:extLst>
          </p:cNvPr>
          <p:cNvSpPr>
            <a:spLocks noGrp="1" noRot="1" noMove="1" noResize="1" noEditPoints="1" noAdjustHandles="1" noChangeArrowheads="1" noChangeShapeType="1"/>
          </p:cNvSpPr>
          <p:nvPr/>
        </p:nvSpPr>
        <p:spPr>
          <a:xfrm rot="-10800000">
            <a:off x="-18769" y="-1"/>
            <a:ext cx="1549537" cy="4110699"/>
          </a:xfrm>
          <a:custGeom>
            <a:avLst/>
            <a:gdLst/>
            <a:ahLst/>
            <a:cxnLst/>
            <a:rect l="l" t="t" r="r" b="b"/>
            <a:pathLst>
              <a:path w="1549537" h="5080448">
                <a:moveTo>
                  <a:pt x="0" y="0"/>
                </a:moveTo>
                <a:lnTo>
                  <a:pt x="1549536" y="0"/>
                </a:lnTo>
                <a:lnTo>
                  <a:pt x="1549536" y="5080448"/>
                </a:lnTo>
                <a:lnTo>
                  <a:pt x="0" y="5080448"/>
                </a:lnTo>
                <a:lnTo>
                  <a:pt x="0" y="0"/>
                </a:lnTo>
                <a:close/>
              </a:path>
            </a:pathLst>
          </a:custGeom>
          <a:blipFill>
            <a:blip r:embed="rId3">
              <a:alphaModFix amt="83000"/>
              <a:extLst>
                <a:ext uri="{96DAC541-7B7A-43D3-8B79-37D633B846F1}">
                  <asvg:svgBlip xmlns:asvg="http://schemas.microsoft.com/office/drawing/2016/SVG/main" r:embed="rId4"/>
                </a:ext>
              </a:extLst>
            </a:blip>
            <a:stretch>
              <a:fillRect b="-23591"/>
            </a:stretch>
          </a:blipFill>
          <a:ln cap="sq">
            <a:noFill/>
            <a:prstDash val="solid"/>
            <a:miter/>
          </a:ln>
        </p:spPr>
        <p:txBody>
          <a:bodyPr/>
          <a:lstStyle/>
          <a:p>
            <a:endParaRPr lang="ar-SA">
              <a:latin typeface="Sakkal Majalla" panose="02000000000000000000" pitchFamily="2" charset="-78"/>
              <a:cs typeface="Sakkal Majalla" panose="02000000000000000000" pitchFamily="2" charset="-78"/>
            </a:endParaRPr>
          </a:p>
        </p:txBody>
      </p:sp>
      <p:sp>
        <p:nvSpPr>
          <p:cNvPr id="5" name="TextBox 3">
            <a:extLst>
              <a:ext uri="{FF2B5EF4-FFF2-40B4-BE49-F238E27FC236}">
                <a16:creationId xmlns:a16="http://schemas.microsoft.com/office/drawing/2014/main" id="{3992B825-B16E-9FE6-9CB9-E49A8E5E31C7}"/>
              </a:ext>
            </a:extLst>
          </p:cNvPr>
          <p:cNvSpPr txBox="1"/>
          <p:nvPr/>
        </p:nvSpPr>
        <p:spPr>
          <a:xfrm>
            <a:off x="1726986" y="2889647"/>
            <a:ext cx="4436038" cy="430887"/>
          </a:xfrm>
          <a:prstGeom prst="rect">
            <a:avLst/>
          </a:prstGeom>
          <a:solidFill>
            <a:srgbClr val="D4C2C6"/>
          </a:solidFill>
          <a:effectLst>
            <a:outerShdw blurRad="76200" dir="18900000" sy="23000" kx="-1200000" algn="bl" rotWithShape="0">
              <a:prstClr val="black">
                <a:alpha val="20000"/>
              </a:prstClr>
            </a:outerShdw>
          </a:effectLst>
        </p:spPr>
        <p:txBody>
          <a:bodyPr wrap="square" lIns="0" tIns="0" rIns="0" bIns="0" rtlCol="0" anchor="t">
            <a:spAutoFit/>
          </a:bodyPr>
          <a:lstStyle>
            <a:defPPr>
              <a:defRPr lang="en-US"/>
            </a:defPPr>
            <a:lvl1pPr lvl="0" indent="0" algn="ctr" rtl="1">
              <a:lnSpc>
                <a:spcPct val="150000"/>
              </a:lnSpc>
              <a:spcBef>
                <a:spcPct val="0"/>
              </a:spcBef>
              <a:defRPr u="none" strike="noStrike" spc="-33">
                <a:latin typeface="GE SS Two Light"/>
                <a:ea typeface="GE SS Two Light"/>
                <a:cs typeface="GE SS Two Light"/>
                <a:rtl/>
              </a:defRPr>
            </a:lvl1pPr>
          </a:lstStyle>
          <a:p>
            <a:pPr>
              <a:lnSpc>
                <a:spcPct val="100000"/>
              </a:lnSpc>
            </a:pPr>
            <a:r>
              <a:rPr lang="ar-SA" sz="2800" dirty="0">
                <a:latin typeface="Sakkal Majalla" panose="02000000000000000000" pitchFamily="2" charset="-78"/>
                <a:cs typeface="Sakkal Majalla" panose="02000000000000000000" pitchFamily="2" charset="-78"/>
                <a:sym typeface="GE SS Two Light"/>
              </a:rPr>
              <a:t>متابعة التوثيق</a:t>
            </a:r>
            <a:endParaRPr lang="ar-EG" sz="2800" dirty="0">
              <a:latin typeface="Sakkal Majalla" panose="02000000000000000000" pitchFamily="2" charset="-78"/>
              <a:cs typeface="Sakkal Majalla" panose="02000000000000000000" pitchFamily="2" charset="-78"/>
              <a:sym typeface="GE SS Two Light"/>
            </a:endParaRPr>
          </a:p>
        </p:txBody>
      </p:sp>
      <p:graphicFrame>
        <p:nvGraphicFramePr>
          <p:cNvPr id="6" name="جدول 5">
            <a:extLst>
              <a:ext uri="{FF2B5EF4-FFF2-40B4-BE49-F238E27FC236}">
                <a16:creationId xmlns:a16="http://schemas.microsoft.com/office/drawing/2014/main" id="{B45A3F40-09C0-4F89-FD71-3CBBE4041CCB}"/>
              </a:ext>
            </a:extLst>
          </p:cNvPr>
          <p:cNvGraphicFramePr>
            <a:graphicFrameLocks noGrp="1"/>
          </p:cNvGraphicFramePr>
          <p:nvPr>
            <p:extLst>
              <p:ext uri="{D42A27DB-BD31-4B8C-83A1-F6EECF244321}">
                <p14:modId xmlns:p14="http://schemas.microsoft.com/office/powerpoint/2010/main" val="2603869974"/>
              </p:ext>
            </p:extLst>
          </p:nvPr>
        </p:nvGraphicFramePr>
        <p:xfrm>
          <a:off x="1020005" y="3816697"/>
          <a:ext cx="5850000" cy="4188224"/>
        </p:xfrm>
        <a:graphic>
          <a:graphicData uri="http://schemas.openxmlformats.org/drawingml/2006/table">
            <a:tbl>
              <a:tblPr rtl="1" bandRow="1">
                <a:tableStyleId>{2D5ABB26-0587-4C30-8999-92F81FD0307C}</a:tableStyleId>
              </a:tblPr>
              <a:tblGrid>
                <a:gridCol w="1488092">
                  <a:extLst>
                    <a:ext uri="{9D8B030D-6E8A-4147-A177-3AD203B41FA5}">
                      <a16:colId xmlns:a16="http://schemas.microsoft.com/office/drawing/2014/main" val="3296915585"/>
                    </a:ext>
                  </a:extLst>
                </a:gridCol>
                <a:gridCol w="1413509">
                  <a:extLst>
                    <a:ext uri="{9D8B030D-6E8A-4147-A177-3AD203B41FA5}">
                      <a16:colId xmlns:a16="http://schemas.microsoft.com/office/drawing/2014/main" val="1019103702"/>
                    </a:ext>
                  </a:extLst>
                </a:gridCol>
                <a:gridCol w="1262498">
                  <a:extLst>
                    <a:ext uri="{9D8B030D-6E8A-4147-A177-3AD203B41FA5}">
                      <a16:colId xmlns:a16="http://schemas.microsoft.com/office/drawing/2014/main" val="1259942246"/>
                    </a:ext>
                  </a:extLst>
                </a:gridCol>
                <a:gridCol w="1685901">
                  <a:extLst>
                    <a:ext uri="{9D8B030D-6E8A-4147-A177-3AD203B41FA5}">
                      <a16:colId xmlns:a16="http://schemas.microsoft.com/office/drawing/2014/main" val="2645825546"/>
                    </a:ext>
                  </a:extLst>
                </a:gridCol>
              </a:tblGrid>
              <a:tr h="439168">
                <a:tc gridSpan="2">
                  <a:txBody>
                    <a:bodyPr/>
                    <a:lstStyle/>
                    <a:p>
                      <a:pPr marL="17780" algn="ctr" rtl="1">
                        <a:lnSpc>
                          <a:spcPct val="115000"/>
                        </a:lnSpc>
                        <a:spcAft>
                          <a:spcPts val="800"/>
                        </a:spcAft>
                      </a:pPr>
                      <a:r>
                        <a:rPr lang="ar-SA" sz="1800" b="1" kern="100" dirty="0">
                          <a:solidFill>
                            <a:schemeClr val="tx1"/>
                          </a:solidFill>
                          <a:effectLst/>
                          <a:latin typeface="Sakkal Majalla" panose="02000000000000000000" pitchFamily="2" charset="-78"/>
                          <a:ea typeface="GE SS Two Light" panose="020A0503020102020204" pitchFamily="18" charset="-78"/>
                          <a:cs typeface="Sakkal Majalla" panose="02000000000000000000" pitchFamily="2" charset="-78"/>
                        </a:rPr>
                        <a:t>المتابعة الأولى</a:t>
                      </a:r>
                      <a:endParaRPr lang="en-US" sz="1800" b="1" kern="100" dirty="0">
                        <a:solidFill>
                          <a:schemeClr val="tx1"/>
                        </a:solidFill>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4C2C6"/>
                    </a:solidFill>
                  </a:tcPr>
                </a:tc>
                <a:tc hMerge="1">
                  <a:txBody>
                    <a:bodyPr/>
                    <a:lstStyle/>
                    <a:p>
                      <a:pPr rtl="1"/>
                      <a:endParaRPr lang="ar-SA"/>
                    </a:p>
                  </a:txBody>
                  <a:tcPr/>
                </a:tc>
                <a:tc gridSpan="2">
                  <a:txBody>
                    <a:bodyPr/>
                    <a:lstStyle/>
                    <a:p>
                      <a:pPr marL="17780" algn="ctr" rtl="1">
                        <a:lnSpc>
                          <a:spcPct val="115000"/>
                        </a:lnSpc>
                        <a:spcAft>
                          <a:spcPts val="800"/>
                        </a:spcAft>
                      </a:pPr>
                      <a:r>
                        <a:rPr lang="ar-SA" sz="1800" b="1" kern="100" dirty="0">
                          <a:solidFill>
                            <a:schemeClr val="tx1"/>
                          </a:solidFill>
                          <a:effectLst/>
                          <a:latin typeface="Sakkal Majalla" panose="02000000000000000000" pitchFamily="2" charset="-78"/>
                          <a:ea typeface="GE SS Two Light" panose="020A0503020102020204" pitchFamily="18" charset="-78"/>
                          <a:cs typeface="Sakkal Majalla" panose="02000000000000000000" pitchFamily="2" charset="-78"/>
                        </a:rPr>
                        <a:t>المتابعة الثانية</a:t>
                      </a:r>
                      <a:endParaRPr lang="en-US" sz="1800" b="1" kern="100" dirty="0">
                        <a:solidFill>
                          <a:schemeClr val="tx1"/>
                        </a:solidFill>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4C2C6"/>
                    </a:solidFill>
                  </a:tcPr>
                </a:tc>
                <a:tc hMerge="1">
                  <a:txBody>
                    <a:bodyPr/>
                    <a:lstStyle/>
                    <a:p>
                      <a:pPr rtl="1"/>
                      <a:endParaRPr lang="ar-SA"/>
                    </a:p>
                  </a:txBody>
                  <a:tcPr/>
                </a:tc>
                <a:extLst>
                  <a:ext uri="{0D108BD9-81ED-4DB2-BD59-A6C34878D82A}">
                    <a16:rowId xmlns:a16="http://schemas.microsoft.com/office/drawing/2014/main" val="4165442"/>
                  </a:ext>
                </a:extLst>
              </a:tr>
              <a:tr h="439168">
                <a:tc gridSpan="2">
                  <a:txBody>
                    <a:bodyPr/>
                    <a:lstStyle/>
                    <a:p>
                      <a:pPr marL="17780" algn="ctr" rtl="1">
                        <a:lnSpc>
                          <a:spcPct val="115000"/>
                        </a:lnSpc>
                        <a:spcAft>
                          <a:spcPts val="800"/>
                        </a:spcAft>
                      </a:pPr>
                      <a:r>
                        <a:rPr lang="ar-SA" sz="1800" b="1" kern="100" dirty="0">
                          <a:solidFill>
                            <a:schemeClr val="tx1"/>
                          </a:solidFill>
                          <a:effectLst/>
                          <a:latin typeface="Sakkal Majalla" panose="02000000000000000000" pitchFamily="2" charset="-78"/>
                          <a:ea typeface="GE SS Two Light" panose="020A0503020102020204" pitchFamily="18" charset="-78"/>
                          <a:cs typeface="Sakkal Majalla" panose="02000000000000000000" pitchFamily="2" charset="-78"/>
                        </a:rPr>
                        <a:t>التوصيات</a:t>
                      </a:r>
                      <a:endParaRPr lang="en-US" sz="1800" b="1" kern="100" dirty="0">
                        <a:solidFill>
                          <a:schemeClr val="tx1"/>
                        </a:solidFill>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4C2C6"/>
                    </a:solidFill>
                  </a:tcPr>
                </a:tc>
                <a:tc hMerge="1">
                  <a:txBody>
                    <a:bodyPr/>
                    <a:lstStyle/>
                    <a:p>
                      <a:pPr rtl="1"/>
                      <a:endParaRPr lang="ar-SA"/>
                    </a:p>
                  </a:txBody>
                  <a:tcPr/>
                </a:tc>
                <a:tc gridSpan="2">
                  <a:txBody>
                    <a:bodyPr/>
                    <a:lstStyle/>
                    <a:p>
                      <a:pPr marL="17780" algn="ctr" rtl="1">
                        <a:lnSpc>
                          <a:spcPct val="115000"/>
                        </a:lnSpc>
                        <a:spcAft>
                          <a:spcPts val="800"/>
                        </a:spcAft>
                      </a:pPr>
                      <a:r>
                        <a:rPr lang="ar-SA" sz="1800" b="1" kern="100" dirty="0">
                          <a:solidFill>
                            <a:schemeClr val="tx1"/>
                          </a:solidFill>
                          <a:effectLst/>
                          <a:latin typeface="Sakkal Majalla" panose="02000000000000000000" pitchFamily="2" charset="-78"/>
                          <a:ea typeface="GE SS Two Light" panose="020A0503020102020204" pitchFamily="18" charset="-78"/>
                          <a:cs typeface="Sakkal Majalla" panose="02000000000000000000" pitchFamily="2" charset="-78"/>
                        </a:rPr>
                        <a:t>التوصيات</a:t>
                      </a:r>
                      <a:endParaRPr lang="en-US" sz="1800" b="1" kern="100" dirty="0">
                        <a:solidFill>
                          <a:schemeClr val="tx1"/>
                        </a:solidFill>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D4C2C6"/>
                    </a:solidFill>
                  </a:tcPr>
                </a:tc>
                <a:tc hMerge="1">
                  <a:txBody>
                    <a:bodyPr/>
                    <a:lstStyle/>
                    <a:p>
                      <a:pPr rtl="1"/>
                      <a:endParaRPr lang="ar-SA"/>
                    </a:p>
                  </a:txBody>
                  <a:tcPr/>
                </a:tc>
                <a:extLst>
                  <a:ext uri="{0D108BD9-81ED-4DB2-BD59-A6C34878D82A}">
                    <a16:rowId xmlns:a16="http://schemas.microsoft.com/office/drawing/2014/main" val="1208223218"/>
                  </a:ext>
                </a:extLst>
              </a:tr>
              <a:tr h="1992384">
                <a:tc gridSpan="2">
                  <a:txBody>
                    <a:bodyPr/>
                    <a:lstStyle/>
                    <a:p>
                      <a:pPr marL="17780" algn="ctr" rtl="1">
                        <a:lnSpc>
                          <a:spcPct val="115000"/>
                        </a:lnSpc>
                        <a:spcAft>
                          <a:spcPts val="800"/>
                        </a:spcAft>
                      </a:pPr>
                      <a:r>
                        <a:rPr lang="ar-SA" sz="1800" b="1" kern="100" dirty="0">
                          <a:effectLst/>
                          <a:latin typeface="Sakkal Majalla" panose="02000000000000000000" pitchFamily="2" charset="-78"/>
                          <a:ea typeface="GE SS Two Light" panose="020A0503020102020204" pitchFamily="18" charset="-78"/>
                          <a:cs typeface="Sakkal Majalla" panose="02000000000000000000" pitchFamily="2" charset="-78"/>
                        </a:rPr>
                        <a:t> </a:t>
                      </a:r>
                      <a:endParaRPr lang="en-US" sz="1800" b="1" kern="100" dirty="0">
                        <a:effectLst/>
                        <a:latin typeface="Sakkal Majalla" panose="02000000000000000000" pitchFamily="2" charset="-78"/>
                        <a:ea typeface="GE SS Two Light" panose="020A0503020102020204" pitchFamily="18" charset="-78"/>
                        <a:cs typeface="Sakkal Majalla" panose="02000000000000000000" pitchFamily="2" charset="-78"/>
                      </a:endParaRPr>
                    </a:p>
                    <a:p>
                      <a:pPr marL="17780" algn="ctr" rtl="1">
                        <a:lnSpc>
                          <a:spcPct val="115000"/>
                        </a:lnSpc>
                        <a:spcAft>
                          <a:spcPts val="800"/>
                        </a:spcAft>
                      </a:pPr>
                      <a:r>
                        <a:rPr lang="ar-SA" sz="1800" b="1" kern="100" dirty="0">
                          <a:effectLst/>
                          <a:latin typeface="Sakkal Majalla" panose="02000000000000000000" pitchFamily="2" charset="-78"/>
                          <a:ea typeface="GE SS Two Light" panose="020A0503020102020204" pitchFamily="18" charset="-78"/>
                          <a:cs typeface="Sakkal Majalla" panose="02000000000000000000" pitchFamily="2" charset="-78"/>
                        </a:rPr>
                        <a:t> </a:t>
                      </a:r>
                    </a:p>
                    <a:p>
                      <a:pPr marL="17780" algn="ctr" rtl="1">
                        <a:lnSpc>
                          <a:spcPct val="115000"/>
                        </a:lnSpc>
                        <a:spcAft>
                          <a:spcPts val="800"/>
                        </a:spcAft>
                      </a:pPr>
                      <a:endParaRPr lang="ar-SA" sz="1800" b="1" kern="100" dirty="0">
                        <a:effectLst/>
                        <a:latin typeface="Sakkal Majalla" panose="02000000000000000000" pitchFamily="2" charset="-78"/>
                        <a:ea typeface="GE SS Two Light" panose="020A0503020102020204" pitchFamily="18" charset="-78"/>
                        <a:cs typeface="Sakkal Majalla" panose="02000000000000000000" pitchFamily="2" charset="-78"/>
                      </a:endParaRPr>
                    </a:p>
                    <a:p>
                      <a:pPr marL="17780" algn="ctr" rtl="1">
                        <a:lnSpc>
                          <a:spcPct val="115000"/>
                        </a:lnSpc>
                        <a:spcAft>
                          <a:spcPts val="800"/>
                        </a:spcAft>
                      </a:pPr>
                      <a:endParaRPr lang="en-US" sz="1800" b="1" kern="100" dirty="0">
                        <a:effectLst/>
                        <a:latin typeface="Sakkal Majalla" panose="02000000000000000000" pitchFamily="2" charset="-78"/>
                        <a:ea typeface="GE SS Two Light" panose="020A0503020102020204" pitchFamily="18" charset="-78"/>
                        <a:cs typeface="Sakkal Majalla" panose="02000000000000000000" pitchFamily="2" charset="-78"/>
                      </a:endParaRPr>
                    </a:p>
                    <a:p>
                      <a:pPr marL="17780" algn="ctr" rtl="1">
                        <a:lnSpc>
                          <a:spcPct val="115000"/>
                        </a:lnSpc>
                        <a:spcAft>
                          <a:spcPts val="800"/>
                        </a:spcAft>
                      </a:pPr>
                      <a:r>
                        <a:rPr lang="ar-SA" sz="1800" b="1" kern="100" dirty="0">
                          <a:effectLst/>
                          <a:latin typeface="Sakkal Majalla" panose="02000000000000000000" pitchFamily="2" charset="-78"/>
                          <a:ea typeface="GE SS Two Light" panose="020A0503020102020204" pitchFamily="18" charset="-78"/>
                          <a:cs typeface="Sakkal Majalla" panose="02000000000000000000" pitchFamily="2" charset="-78"/>
                        </a:rPr>
                        <a:t> </a:t>
                      </a:r>
                      <a:endParaRPr lang="en-US" sz="1800" b="1"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hMerge="1">
                  <a:txBody>
                    <a:bodyPr/>
                    <a:lstStyle/>
                    <a:p>
                      <a:pPr rtl="1"/>
                      <a:endParaRPr lang="ar-SA"/>
                    </a:p>
                  </a:txBody>
                  <a:tcPr/>
                </a:tc>
                <a:tc gridSpan="2">
                  <a:txBody>
                    <a:bodyPr/>
                    <a:lstStyle/>
                    <a:p>
                      <a:pPr marL="17780" algn="ctr" rtl="1">
                        <a:lnSpc>
                          <a:spcPct val="115000"/>
                        </a:lnSpc>
                        <a:spcAft>
                          <a:spcPts val="800"/>
                        </a:spcAft>
                      </a:pPr>
                      <a:r>
                        <a:rPr lang="ar-SA" sz="1800" b="1" kern="100" dirty="0">
                          <a:effectLst/>
                          <a:latin typeface="Sakkal Majalla" panose="02000000000000000000" pitchFamily="2" charset="-78"/>
                          <a:ea typeface="GE SS Two Light" panose="020A0503020102020204" pitchFamily="18" charset="-78"/>
                          <a:cs typeface="Sakkal Majalla" panose="02000000000000000000" pitchFamily="2" charset="-78"/>
                        </a:rPr>
                        <a:t> </a:t>
                      </a:r>
                      <a:endParaRPr lang="en-US" sz="1800" b="1"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hMerge="1">
                  <a:txBody>
                    <a:bodyPr/>
                    <a:lstStyle/>
                    <a:p>
                      <a:pPr rtl="1"/>
                      <a:endParaRPr lang="ar-SA"/>
                    </a:p>
                  </a:txBody>
                  <a:tcPr/>
                </a:tc>
                <a:extLst>
                  <a:ext uri="{0D108BD9-81ED-4DB2-BD59-A6C34878D82A}">
                    <a16:rowId xmlns:a16="http://schemas.microsoft.com/office/drawing/2014/main" val="1711079452"/>
                  </a:ext>
                </a:extLst>
              </a:tr>
              <a:tr h="439168">
                <a:tc>
                  <a:txBody>
                    <a:bodyPr/>
                    <a:lstStyle/>
                    <a:p>
                      <a:pPr algn="r" rtl="1">
                        <a:lnSpc>
                          <a:spcPct val="115000"/>
                        </a:lnSpc>
                        <a:spcBef>
                          <a:spcPts val="600"/>
                        </a:spcBef>
                        <a:spcAft>
                          <a:spcPts val="600"/>
                        </a:spcAft>
                      </a:pPr>
                      <a:r>
                        <a:rPr lang="ar-SA" sz="1800" b="1" kern="100" dirty="0">
                          <a:effectLst/>
                          <a:latin typeface="Sakkal Majalla" panose="02000000000000000000" pitchFamily="2" charset="-78"/>
                          <a:ea typeface="GE SS Two Light" panose="020A0503020102020204" pitchFamily="18" charset="-78"/>
                          <a:cs typeface="Sakkal Majalla" panose="02000000000000000000" pitchFamily="2" charset="-78"/>
                        </a:rPr>
                        <a:t>اليوم:</a:t>
                      </a:r>
                      <a:endParaRPr lang="en-US" sz="1800" b="1"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rtl="1">
                        <a:lnSpc>
                          <a:spcPct val="115000"/>
                        </a:lnSpc>
                        <a:spcAft>
                          <a:spcPts val="800"/>
                        </a:spcAft>
                      </a:pPr>
                      <a:r>
                        <a:rPr lang="en-US" sz="1800" b="1" kern="100" dirty="0">
                          <a:effectLst/>
                          <a:latin typeface="Sakkal Majalla" panose="02000000000000000000" pitchFamily="2" charset="-78"/>
                          <a:ea typeface="GE SS Two Light" panose="020A0503020102020204" pitchFamily="18" charset="-78"/>
                          <a:cs typeface="Sakkal Majalla" panose="02000000000000000000" pitchFamily="2" charset="-78"/>
                        </a:rPr>
                        <a:t> </a:t>
                      </a: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rtl="1">
                        <a:lnSpc>
                          <a:spcPct val="115000"/>
                        </a:lnSpc>
                        <a:spcBef>
                          <a:spcPts val="600"/>
                        </a:spcBef>
                        <a:spcAft>
                          <a:spcPts val="600"/>
                        </a:spcAft>
                      </a:pPr>
                      <a:r>
                        <a:rPr lang="ar-SA" sz="1800" b="1" kern="100" dirty="0">
                          <a:effectLst/>
                          <a:latin typeface="Sakkal Majalla" panose="02000000000000000000" pitchFamily="2" charset="-78"/>
                          <a:ea typeface="GE SS Two Light" panose="020A0503020102020204" pitchFamily="18" charset="-78"/>
                          <a:cs typeface="Sakkal Majalla" panose="02000000000000000000" pitchFamily="2" charset="-78"/>
                        </a:rPr>
                        <a:t>اليوم:</a:t>
                      </a:r>
                      <a:endParaRPr lang="en-US" sz="1800" b="1"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rtl="1">
                        <a:lnSpc>
                          <a:spcPct val="115000"/>
                        </a:lnSpc>
                        <a:spcAft>
                          <a:spcPts val="800"/>
                        </a:spcAft>
                      </a:pPr>
                      <a:r>
                        <a:rPr lang="en-US" sz="1800" b="1" kern="100" dirty="0">
                          <a:effectLst/>
                          <a:latin typeface="Sakkal Majalla" panose="02000000000000000000" pitchFamily="2" charset="-78"/>
                          <a:ea typeface="GE SS Two Light" panose="020A0503020102020204" pitchFamily="18" charset="-78"/>
                          <a:cs typeface="Sakkal Majalla" panose="02000000000000000000" pitchFamily="2" charset="-78"/>
                        </a:rPr>
                        <a:t> </a:t>
                      </a: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286999"/>
                  </a:ext>
                </a:extLst>
              </a:tr>
              <a:tr h="439168">
                <a:tc>
                  <a:txBody>
                    <a:bodyPr/>
                    <a:lstStyle/>
                    <a:p>
                      <a:pPr algn="r" rtl="1">
                        <a:lnSpc>
                          <a:spcPct val="115000"/>
                        </a:lnSpc>
                        <a:spcBef>
                          <a:spcPts val="600"/>
                        </a:spcBef>
                        <a:spcAft>
                          <a:spcPts val="600"/>
                        </a:spcAft>
                      </a:pPr>
                      <a:r>
                        <a:rPr lang="ar-SA" sz="1800" b="1" kern="100" dirty="0">
                          <a:effectLst/>
                          <a:latin typeface="Sakkal Majalla" panose="02000000000000000000" pitchFamily="2" charset="-78"/>
                          <a:ea typeface="GE SS Two Light" panose="020A0503020102020204" pitchFamily="18" charset="-78"/>
                          <a:cs typeface="Sakkal Majalla" panose="02000000000000000000" pitchFamily="2" charset="-78"/>
                        </a:rPr>
                        <a:t>التاريخ :</a:t>
                      </a:r>
                      <a:endParaRPr lang="en-US" sz="1800" b="1"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rtl="1">
                        <a:lnSpc>
                          <a:spcPct val="115000"/>
                        </a:lnSpc>
                        <a:spcAft>
                          <a:spcPts val="800"/>
                        </a:spcAft>
                      </a:pPr>
                      <a:r>
                        <a:rPr lang="en-US" sz="1800" b="1" kern="100" dirty="0">
                          <a:effectLst/>
                          <a:latin typeface="Sakkal Majalla" panose="02000000000000000000" pitchFamily="2" charset="-78"/>
                          <a:ea typeface="GE SS Two Light" panose="020A0503020102020204" pitchFamily="18" charset="-78"/>
                          <a:cs typeface="Sakkal Majalla" panose="02000000000000000000" pitchFamily="2" charset="-78"/>
                        </a:rPr>
                        <a:t> </a:t>
                      </a: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rtl="1">
                        <a:lnSpc>
                          <a:spcPct val="115000"/>
                        </a:lnSpc>
                        <a:spcAft>
                          <a:spcPts val="800"/>
                        </a:spcAft>
                      </a:pPr>
                      <a:r>
                        <a:rPr lang="ar-SA" sz="1800" b="1" kern="100" dirty="0">
                          <a:effectLst/>
                          <a:latin typeface="Sakkal Majalla" panose="02000000000000000000" pitchFamily="2" charset="-78"/>
                          <a:ea typeface="GE SS Two Light" panose="020A0503020102020204" pitchFamily="18" charset="-78"/>
                          <a:cs typeface="Sakkal Majalla" panose="02000000000000000000" pitchFamily="2" charset="-78"/>
                        </a:rPr>
                        <a:t>التاريخ :</a:t>
                      </a:r>
                      <a:endParaRPr lang="en-US" sz="1800" b="1"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rtl="1">
                        <a:lnSpc>
                          <a:spcPct val="115000"/>
                        </a:lnSpc>
                        <a:spcAft>
                          <a:spcPts val="800"/>
                        </a:spcAft>
                      </a:pPr>
                      <a:r>
                        <a:rPr lang="en-US" sz="1800" b="1" kern="100" dirty="0">
                          <a:effectLst/>
                          <a:latin typeface="Sakkal Majalla" panose="02000000000000000000" pitchFamily="2" charset="-78"/>
                          <a:ea typeface="GE SS Two Light" panose="020A0503020102020204" pitchFamily="18" charset="-78"/>
                          <a:cs typeface="Sakkal Majalla" panose="02000000000000000000" pitchFamily="2" charset="-78"/>
                        </a:rPr>
                        <a:t> </a:t>
                      </a: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6691709"/>
                  </a:ext>
                </a:extLst>
              </a:tr>
              <a:tr h="439168">
                <a:tc>
                  <a:txBody>
                    <a:bodyPr/>
                    <a:lstStyle/>
                    <a:p>
                      <a:pPr algn="r" rtl="1">
                        <a:lnSpc>
                          <a:spcPct val="115000"/>
                        </a:lnSpc>
                        <a:spcBef>
                          <a:spcPts val="600"/>
                        </a:spcBef>
                        <a:spcAft>
                          <a:spcPts val="600"/>
                        </a:spcAft>
                      </a:pPr>
                      <a:r>
                        <a:rPr lang="ar-SA" sz="1800" b="1" kern="100" dirty="0">
                          <a:effectLst/>
                          <a:latin typeface="Sakkal Majalla" panose="02000000000000000000" pitchFamily="2" charset="-78"/>
                          <a:ea typeface="GE SS Two Light" panose="020A0503020102020204" pitchFamily="18" charset="-78"/>
                          <a:cs typeface="Sakkal Majalla" panose="02000000000000000000" pitchFamily="2" charset="-78"/>
                        </a:rPr>
                        <a:t>التوقيع:</a:t>
                      </a:r>
                      <a:endParaRPr lang="en-US" sz="1800" b="1"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rtl="1">
                        <a:lnSpc>
                          <a:spcPct val="115000"/>
                        </a:lnSpc>
                        <a:spcAft>
                          <a:spcPts val="800"/>
                        </a:spcAft>
                      </a:pPr>
                      <a:endParaRPr lang="en-US" sz="1800" b="1"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rtl="1">
                        <a:lnSpc>
                          <a:spcPct val="115000"/>
                        </a:lnSpc>
                        <a:spcAft>
                          <a:spcPts val="800"/>
                        </a:spcAft>
                      </a:pPr>
                      <a:r>
                        <a:rPr lang="ar-SA" sz="1800" b="1" kern="100" dirty="0">
                          <a:effectLst/>
                          <a:latin typeface="Sakkal Majalla" panose="02000000000000000000" pitchFamily="2" charset="-78"/>
                          <a:ea typeface="GE SS Two Light" panose="020A0503020102020204" pitchFamily="18" charset="-78"/>
                          <a:cs typeface="Sakkal Majalla" panose="02000000000000000000" pitchFamily="2" charset="-78"/>
                        </a:rPr>
                        <a:t>التوقيع:</a:t>
                      </a:r>
                      <a:endParaRPr lang="en-US" sz="1800" b="1" kern="100" dirty="0">
                        <a:effectLst/>
                        <a:latin typeface="Sakkal Majalla" panose="02000000000000000000" pitchFamily="2" charset="-78"/>
                        <a:ea typeface="GE SS Two Light" panose="020A0503020102020204" pitchFamily="18" charset="-78"/>
                        <a:cs typeface="Sakkal Majalla" panose="02000000000000000000" pitchFamily="2" charset="-78"/>
                      </a:endParaRP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r" rtl="1">
                        <a:lnSpc>
                          <a:spcPct val="115000"/>
                        </a:lnSpc>
                        <a:spcAft>
                          <a:spcPts val="800"/>
                        </a:spcAft>
                      </a:pPr>
                      <a:r>
                        <a:rPr lang="en-US" sz="1800" b="1" kern="100" dirty="0">
                          <a:effectLst/>
                          <a:latin typeface="Sakkal Majalla" panose="02000000000000000000" pitchFamily="2" charset="-78"/>
                          <a:ea typeface="GE SS Two Light" panose="020A0503020102020204" pitchFamily="18" charset="-78"/>
                          <a:cs typeface="Sakkal Majalla" panose="02000000000000000000" pitchFamily="2" charset="-78"/>
                        </a:rPr>
                        <a:t> </a:t>
                      </a:r>
                    </a:p>
                  </a:txBody>
                  <a:tcPr marL="68580" marR="6858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8032796"/>
                  </a:ext>
                </a:extLst>
              </a:tr>
            </a:tbl>
          </a:graphicData>
        </a:graphic>
      </p:graphicFrame>
      <p:pic>
        <p:nvPicPr>
          <p:cNvPr id="7" name="صورة 6">
            <a:extLst>
              <a:ext uri="{FF2B5EF4-FFF2-40B4-BE49-F238E27FC236}">
                <a16:creationId xmlns:a16="http://schemas.microsoft.com/office/drawing/2014/main" id="{98A2703A-112B-224E-1C40-EF8B47FCD01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090698" y="8037941"/>
            <a:ext cx="3375104" cy="1889453"/>
          </a:xfrm>
          <a:prstGeom prst="rect">
            <a:avLst/>
          </a:prstGeom>
        </p:spPr>
      </p:pic>
      <p:pic>
        <p:nvPicPr>
          <p:cNvPr id="9" name="صورة 8">
            <a:extLst>
              <a:ext uri="{FF2B5EF4-FFF2-40B4-BE49-F238E27FC236}">
                <a16:creationId xmlns:a16="http://schemas.microsoft.com/office/drawing/2014/main" id="{19E94353-ED5D-C8BD-6316-DA2640A6A13E}"/>
              </a:ext>
            </a:extLst>
          </p:cNvPr>
          <p:cNvPicPr>
            <a:picLocks noChangeAspect="1"/>
          </p:cNvPicPr>
          <p:nvPr/>
        </p:nvPicPr>
        <p:blipFill>
          <a:blip r:embed="rId6" cstate="print">
            <a:extLst>
              <a:ext uri="{28A0092B-C50C-407E-A947-70E740481C1C}">
                <a14:useLocalDpi xmlns:a14="http://schemas.microsoft.com/office/drawing/2010/main" val="0"/>
              </a:ext>
            </a:extLst>
          </a:blip>
          <a:srcRect l="38618" t="19695" r="40865"/>
          <a:stretch/>
        </p:blipFill>
        <p:spPr>
          <a:xfrm>
            <a:off x="559221" y="251749"/>
            <a:ext cx="977431" cy="2141734"/>
          </a:xfrm>
          <a:prstGeom prst="rect">
            <a:avLst/>
          </a:prstGeom>
        </p:spPr>
      </p:pic>
    </p:spTree>
    <p:extLst>
      <p:ext uri="{BB962C8B-B14F-4D97-AF65-F5344CB8AC3E}">
        <p14:creationId xmlns:p14="http://schemas.microsoft.com/office/powerpoint/2010/main" val="23712693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4B41F-16F4-32F7-FC6D-BC68A23C759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0C710D7-91E8-882E-851C-795F489E48B6}"/>
              </a:ext>
            </a:extLst>
          </p:cNvPr>
          <p:cNvSpPr>
            <a:spLocks/>
          </p:cNvSpPr>
          <p:nvPr/>
        </p:nvSpPr>
        <p:spPr>
          <a:xfrm>
            <a:off x="0" y="0"/>
            <a:ext cx="7560000" cy="10692000"/>
          </a:xfrm>
          <a:custGeom>
            <a:avLst/>
            <a:gdLst/>
            <a:ahLst/>
            <a:cxnLst/>
            <a:rect l="l" t="t" r="r" b="b"/>
            <a:pathLst>
              <a:path w="7560000" h="10692000">
                <a:moveTo>
                  <a:pt x="0" y="0"/>
                </a:moveTo>
                <a:lnTo>
                  <a:pt x="7560000" y="0"/>
                </a:lnTo>
                <a:lnTo>
                  <a:pt x="7560000" y="10692000"/>
                </a:lnTo>
                <a:lnTo>
                  <a:pt x="0" y="10692000"/>
                </a:lnTo>
                <a:lnTo>
                  <a:pt x="0" y="0"/>
                </a:lnTo>
                <a:close/>
              </a:path>
            </a:pathLst>
          </a:custGeom>
          <a:blipFill>
            <a:blip r:embed="rId2"/>
            <a:stretch>
              <a:fillRect l="-781" t="-13832" r="-781" b="-13832"/>
            </a:stretch>
          </a:blipFill>
        </p:spPr>
        <p:txBody>
          <a:bodyPr/>
          <a:lstStyle/>
          <a:p>
            <a:endParaRPr lang="ar-SA" sz="2400" dirty="0">
              <a:latin typeface="Sakkal Majalla" panose="02000000000000000000" pitchFamily="2" charset="-78"/>
              <a:cs typeface="Sakkal Majalla" panose="02000000000000000000" pitchFamily="2" charset="-78"/>
            </a:endParaRPr>
          </a:p>
        </p:txBody>
      </p:sp>
      <p:sp>
        <p:nvSpPr>
          <p:cNvPr id="3" name="Freeform 3">
            <a:extLst>
              <a:ext uri="{FF2B5EF4-FFF2-40B4-BE49-F238E27FC236}">
                <a16:creationId xmlns:a16="http://schemas.microsoft.com/office/drawing/2014/main" id="{D40EA89E-EA86-AA34-0C1E-C429AC75FA2F}"/>
              </a:ext>
            </a:extLst>
          </p:cNvPr>
          <p:cNvSpPr>
            <a:spLocks/>
          </p:cNvSpPr>
          <p:nvPr/>
        </p:nvSpPr>
        <p:spPr>
          <a:xfrm>
            <a:off x="5346700" y="0"/>
            <a:ext cx="2209800" cy="10693400"/>
          </a:xfrm>
          <a:custGeom>
            <a:avLst/>
            <a:gdLst/>
            <a:ahLst/>
            <a:cxnLst/>
            <a:rect l="l" t="t" r="r" b="b"/>
            <a:pathLst>
              <a:path w="4909386" h="12027133">
                <a:moveTo>
                  <a:pt x="0" y="0"/>
                </a:moveTo>
                <a:lnTo>
                  <a:pt x="4909386" y="0"/>
                </a:lnTo>
                <a:lnTo>
                  <a:pt x="4909386" y="12027133"/>
                </a:lnTo>
                <a:lnTo>
                  <a:pt x="0" y="12027133"/>
                </a:lnTo>
                <a:lnTo>
                  <a:pt x="0" y="0"/>
                </a:lnTo>
                <a:close/>
              </a:path>
            </a:pathLst>
          </a:custGeom>
          <a:blipFill>
            <a:blip r:embed="rId3"/>
            <a:stretch>
              <a:fillRect l="-200000" t="-7720" r="-6148" b="-4752"/>
            </a:stretch>
          </a:blipFill>
          <a:ln w="9525" cap="sq">
            <a:solidFill>
              <a:srgbClr val="594053"/>
            </a:solidFill>
            <a:prstDash val="solid"/>
            <a:miter/>
          </a:ln>
        </p:spPr>
        <p:txBody>
          <a:bodyPr/>
          <a:lstStyle/>
          <a:p>
            <a:endParaRPr lang="ar-SA" sz="2400">
              <a:latin typeface="Sakkal Majalla" panose="02000000000000000000" pitchFamily="2" charset="-78"/>
              <a:cs typeface="Sakkal Majalla" panose="02000000000000000000" pitchFamily="2" charset="-78"/>
            </a:endParaRPr>
          </a:p>
        </p:txBody>
      </p:sp>
      <p:sp>
        <p:nvSpPr>
          <p:cNvPr id="14" name="مربع نص 13">
            <a:extLst>
              <a:ext uri="{FF2B5EF4-FFF2-40B4-BE49-F238E27FC236}">
                <a16:creationId xmlns:a16="http://schemas.microsoft.com/office/drawing/2014/main" id="{3052DFE3-832E-16BE-B4E0-17739EED0416}"/>
              </a:ext>
            </a:extLst>
          </p:cNvPr>
          <p:cNvSpPr txBox="1"/>
          <p:nvPr/>
        </p:nvSpPr>
        <p:spPr>
          <a:xfrm>
            <a:off x="398170" y="2049134"/>
            <a:ext cx="4752220" cy="1077218"/>
          </a:xfrm>
          <a:prstGeom prst="rect">
            <a:avLst/>
          </a:prstGeom>
          <a:noFill/>
        </p:spPr>
        <p:txBody>
          <a:bodyPr wrap="square" rtlCol="0">
            <a:spAutoFit/>
          </a:bodyPr>
          <a:lstStyle/>
          <a:p>
            <a:pPr algn="ctr"/>
            <a:r>
              <a:rPr lang="ar-SA" sz="3200" dirty="0">
                <a:solidFill>
                  <a:srgbClr val="996E79"/>
                </a:solidFill>
                <a:latin typeface="Sakkal Majalla" panose="02000000000000000000" pitchFamily="2" charset="-78"/>
                <a:ea typeface="GE SS Two Light" panose="020A0503020102020204" pitchFamily="18" charset="-78"/>
                <a:cs typeface="Sakkal Majalla" panose="02000000000000000000" pitchFamily="2" charset="-78"/>
              </a:rPr>
              <a:t>كل لحظة هنا هي درس تعلمته</a:t>
            </a:r>
          </a:p>
          <a:p>
            <a:pPr algn="ctr"/>
            <a:r>
              <a:rPr lang="ar-SA" sz="3200" dirty="0">
                <a:solidFill>
                  <a:srgbClr val="996E79"/>
                </a:solidFill>
                <a:latin typeface="Sakkal Majalla" panose="02000000000000000000" pitchFamily="2" charset="-78"/>
                <a:ea typeface="GE SS Two Light" panose="020A0503020102020204" pitchFamily="18" charset="-78"/>
                <a:cs typeface="Sakkal Majalla" panose="02000000000000000000" pitchFamily="2" charset="-78"/>
              </a:rPr>
              <a:t>شكراً لتقديركم لجهودي </a:t>
            </a:r>
            <a:endParaRPr lang="en-US" sz="3200" dirty="0">
              <a:solidFill>
                <a:srgbClr val="996E79"/>
              </a:solidFill>
              <a:latin typeface="Sakkal Majalla" panose="02000000000000000000" pitchFamily="2" charset="-78"/>
              <a:ea typeface="GE SS Two Light" panose="020A0503020102020204" pitchFamily="18" charset="-78"/>
              <a:cs typeface="Sakkal Majalla" panose="02000000000000000000" pitchFamily="2" charset="-78"/>
            </a:endParaRPr>
          </a:p>
        </p:txBody>
      </p:sp>
      <p:sp>
        <p:nvSpPr>
          <p:cNvPr id="15" name="مربع نص 14">
            <a:extLst>
              <a:ext uri="{FF2B5EF4-FFF2-40B4-BE49-F238E27FC236}">
                <a16:creationId xmlns:a16="http://schemas.microsoft.com/office/drawing/2014/main" id="{D5429974-655E-AD17-4CE5-531E95145A7B}"/>
              </a:ext>
            </a:extLst>
          </p:cNvPr>
          <p:cNvSpPr txBox="1"/>
          <p:nvPr/>
        </p:nvSpPr>
        <p:spPr>
          <a:xfrm>
            <a:off x="398170" y="4065569"/>
            <a:ext cx="4599280" cy="2677656"/>
          </a:xfrm>
          <a:prstGeom prst="rect">
            <a:avLst/>
          </a:prstGeom>
          <a:noFill/>
        </p:spPr>
        <p:txBody>
          <a:bodyPr wrap="square" rtlCol="0">
            <a:spAutoFit/>
          </a:bodyPr>
          <a:lstStyle/>
          <a:p>
            <a:pPr algn="ctr"/>
            <a:r>
              <a:rPr lang="ar-SA" sz="2800" dirty="0">
                <a:solidFill>
                  <a:srgbClr val="996E79"/>
                </a:solidFill>
                <a:latin typeface="Sakkal Majalla" panose="02000000000000000000" pitchFamily="2" charset="-78"/>
                <a:ea typeface="GE SS Two Light" panose="020A0503020102020204" pitchFamily="18" charset="-78"/>
                <a:cs typeface="Sakkal Majalla" panose="02000000000000000000" pitchFamily="2" charset="-78"/>
              </a:rPr>
              <a:t>في ختام هذا الملف أود التأكيد على أن الأداء</a:t>
            </a:r>
          </a:p>
          <a:p>
            <a:pPr algn="ctr"/>
            <a:r>
              <a:rPr lang="ar-SA" sz="2800" dirty="0">
                <a:solidFill>
                  <a:srgbClr val="996E79"/>
                </a:solidFill>
                <a:latin typeface="Sakkal Majalla" panose="02000000000000000000" pitchFamily="2" charset="-78"/>
                <a:ea typeface="GE SS Two Light" panose="020A0503020102020204" pitchFamily="18" charset="-78"/>
                <a:cs typeface="Sakkal Majalla" panose="02000000000000000000" pitchFamily="2" charset="-78"/>
              </a:rPr>
              <a:t>الوظيفي المتميز هو نتاج الاجتهاد والتطوير المستمر ، لقد حرصت من خلال هذا الملف على توثيق شواهد تعكس التزامي المهني وسعيي الدائم للارتقاء بمهاراتي وتحقيق الأهداف المرجوة.</a:t>
            </a:r>
          </a:p>
        </p:txBody>
      </p:sp>
      <p:sp>
        <p:nvSpPr>
          <p:cNvPr id="16" name="مربع نص 15">
            <a:extLst>
              <a:ext uri="{FF2B5EF4-FFF2-40B4-BE49-F238E27FC236}">
                <a16:creationId xmlns:a16="http://schemas.microsoft.com/office/drawing/2014/main" id="{2C512875-F02A-EA60-892F-B4BBDC0E218F}"/>
              </a:ext>
            </a:extLst>
          </p:cNvPr>
          <p:cNvSpPr txBox="1"/>
          <p:nvPr/>
        </p:nvSpPr>
        <p:spPr>
          <a:xfrm>
            <a:off x="125264" y="7632700"/>
            <a:ext cx="4752220" cy="523220"/>
          </a:xfrm>
          <a:prstGeom prst="rect">
            <a:avLst/>
          </a:prstGeom>
          <a:noFill/>
        </p:spPr>
        <p:txBody>
          <a:bodyPr wrap="square" rtlCol="0">
            <a:spAutoFit/>
          </a:bodyPr>
          <a:lstStyle>
            <a:defPPr>
              <a:defRPr lang="en-US"/>
            </a:defPPr>
            <a:lvl1pPr algn="ctr">
              <a:defRPr sz="2800">
                <a:solidFill>
                  <a:srgbClr val="996E79"/>
                </a:solidFill>
                <a:latin typeface="Sakkal Majalla" panose="02000000000000000000" pitchFamily="2" charset="-78"/>
                <a:ea typeface="GE SS Two Light" panose="020A0503020102020204" pitchFamily="18" charset="-78"/>
                <a:cs typeface="Sakkal Majalla" panose="02000000000000000000" pitchFamily="2" charset="-78"/>
              </a:defRPr>
            </a:lvl1pPr>
          </a:lstStyle>
          <a:p>
            <a:r>
              <a:rPr lang="ar-SA" dirty="0"/>
              <a:t>المعلمة/</a:t>
            </a:r>
          </a:p>
        </p:txBody>
      </p:sp>
      <p:sp>
        <p:nvSpPr>
          <p:cNvPr id="4" name="TextBox 2">
            <a:extLst>
              <a:ext uri="{FF2B5EF4-FFF2-40B4-BE49-F238E27FC236}">
                <a16:creationId xmlns:a16="http://schemas.microsoft.com/office/drawing/2014/main" id="{F05D224E-A5C3-030C-7CF9-E5F514338EEC}"/>
              </a:ext>
            </a:extLst>
          </p:cNvPr>
          <p:cNvSpPr txBox="1"/>
          <p:nvPr/>
        </p:nvSpPr>
        <p:spPr>
          <a:xfrm>
            <a:off x="1455254" y="8121046"/>
            <a:ext cx="2092240" cy="523220"/>
          </a:xfrm>
          <a:prstGeom prst="rect">
            <a:avLst/>
          </a:prstGeom>
          <a:noFill/>
        </p:spPr>
        <p:txBody>
          <a:bodyPr wrap="square" rtlCol="0">
            <a:spAutoFit/>
          </a:bodyPr>
          <a:lstStyle>
            <a:defPPr>
              <a:defRPr lang="en-US"/>
            </a:defPPr>
            <a:lvl1pPr algn="ctr">
              <a:defRPr sz="2800">
                <a:solidFill>
                  <a:srgbClr val="996E79"/>
                </a:solidFill>
                <a:latin typeface="Sakkal Majalla" panose="02000000000000000000" pitchFamily="2" charset="-78"/>
                <a:ea typeface="GE SS Two Light" panose="020A0503020102020204" pitchFamily="18" charset="-78"/>
                <a:cs typeface="Sakkal Majalla" panose="02000000000000000000" pitchFamily="2" charset="-78"/>
              </a:defRPr>
            </a:lvl1pPr>
          </a:lstStyle>
          <a:p>
            <a:r>
              <a:rPr lang="en-US" dirty="0"/>
              <a:t>خالد</a:t>
            </a:r>
          </a:p>
        </p:txBody>
      </p:sp>
    </p:spTree>
    <p:extLst>
      <p:ext uri="{BB962C8B-B14F-4D97-AF65-F5344CB8AC3E}">
        <p14:creationId xmlns:p14="http://schemas.microsoft.com/office/powerpoint/2010/main" val="41782998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 dockstate="right" visibility="0" width="438"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4BC001CA-459B-4311-9E1C-257827FDBDF3}">
  <we:reference id="wa104051163" version="1.2.0.3" store="ar-SA" storeType="OMEX"/>
  <we:alternateReferences>
    <we:reference id="WA104051163" version="1.2.0.3" store=""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D426D3DE-EEF2-46DA-BF20-0B21828E532F}">
  <we:reference id="wa200003220" version="1.0.0.0" store="ar-SA" storeType="OMEX"/>
  <we:alternateReferences>
    <we:reference id="WA200003220" version="1.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189</TotalTime>
  <Words>1947</Words>
  <Application>Microsoft Office PowerPoint</Application>
  <PresentationFormat>مخصص</PresentationFormat>
  <Paragraphs>290</Paragraphs>
  <Slides>26</Slides>
  <Notes>0</Notes>
  <HiddenSlides>0</HiddenSlides>
  <MMClips>0</MMClips>
  <ScaleCrop>false</ScaleCrop>
  <HeadingPairs>
    <vt:vector size="6" baseType="variant">
      <vt:variant>
        <vt:lpstr>الخطوط المستخدمة</vt:lpstr>
      </vt:variant>
      <vt:variant>
        <vt:i4>5</vt:i4>
      </vt:variant>
      <vt:variant>
        <vt:lpstr>نسق</vt:lpstr>
      </vt:variant>
      <vt:variant>
        <vt:i4>1</vt:i4>
      </vt:variant>
      <vt:variant>
        <vt:lpstr>عناوين الشرائح</vt:lpstr>
      </vt:variant>
      <vt:variant>
        <vt:i4>26</vt:i4>
      </vt:variant>
    </vt:vector>
  </HeadingPairs>
  <TitlesOfParts>
    <vt:vector size="32" baseType="lpstr">
      <vt:lpstr>Times New Roman</vt:lpstr>
      <vt:lpstr>Sakkal Majalla</vt:lpstr>
      <vt:lpstr>Arial</vt:lpstr>
      <vt:lpstr>Calibri</vt:lpstr>
      <vt:lpstr>GE SS Two Light</vt: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نسخة من تصميم بدون عنوان</dc:title>
  <dc:creator>Dell</dc:creator>
  <cp:lastModifiedBy>kk zh-</cp:lastModifiedBy>
  <cp:revision>11</cp:revision>
  <dcterms:created xsi:type="dcterms:W3CDTF">2006-08-16T00:00:00Z</dcterms:created>
  <dcterms:modified xsi:type="dcterms:W3CDTF">2025-11-26T14:45:15Z</dcterms:modified>
  <dc:identifier>DAGmab52QWo</dc:identifier>
</cp:coreProperties>
</file>